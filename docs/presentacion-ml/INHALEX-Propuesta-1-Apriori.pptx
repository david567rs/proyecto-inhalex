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9D666-6A28-AAC9-D168-A75C45DAB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8A020C-909E-44EF-00B9-45C877CBC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C0B2F-8887-B0A8-56F9-A3F06122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4117C-0E37-6651-BFB8-DE13D4D7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C2ED5-CEE7-6D7E-4A61-4F59CCC1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9869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667DA-79DA-FB20-BD8A-FF362E6B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0D0B9A-84DF-9A66-1026-822E98F89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23FA57-84F5-673B-A050-5F541F2C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470081-0B24-3944-E99E-DFA707E1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4D656-BEB6-3534-B5D1-9278B9A1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258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90729A-708C-09B2-836B-53AE06153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3B2BF5-7BC5-B34A-4B76-D94503CB9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0C4DF-6DF6-2FA2-8D0C-544C45AA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DBD63-3A62-AED0-773B-96DCD74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D958B9-A857-A714-5368-41E821C5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379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597A4-D304-2D8D-DECB-EBD12B61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13157-6D12-B39A-A19E-B15C1A9B0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7EE908-D5AE-7A4E-7731-3E2C2000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055DC4-30F5-3C00-D00D-BD2DF9B27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6C897B-9D65-0373-F188-15518179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4961E6-0126-7251-9311-E5755732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3007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0074A-6737-923F-66FF-C012E166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11005F-16EE-57F8-A54A-F574C4A51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0F8259-E830-26A4-47FD-98AA88CCA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B6AFDE-BFC6-DEBC-6C8D-1FBC9BB9B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8A9A23D-8D84-9276-FD38-3351E900C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0A1966-A4AE-93CB-11E2-37F8CF98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BABDD4-C84D-46F3-1E1E-DB2F4AFD5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FDC860-6BB2-00F6-0DBD-EDC41569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841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9408B-8E2B-07DD-7820-6625BC61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EB9EBC-7E29-DD90-68B6-4C6B338F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69D069-4108-0633-7236-DE747598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258A9D-137A-DA13-7E74-848A60069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34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A6DC1E-AB88-0855-6700-6CEAB8FE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295F4E-36E6-B3D2-4C93-E941C0B0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662376-C462-2F34-26D4-0C170E25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9228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0C06F-FCB4-5495-2020-B09038C4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D2EE4-3142-FC29-13C8-34C917DBB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CF26D4-1195-9F66-F06E-A9D345DF1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3D2755-0A91-715E-7762-67D055A2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89E6D9-4520-8FCA-65A0-3FB8F7F6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0A5F36-5778-A448-FA2D-14BF79EC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51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4ECFF-8261-B2ED-3BD9-9607EF72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845D98-1274-A6BF-A26A-2E0299D33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A6866B-C1FA-FB58-8721-88FAE0967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239CB1-5E8E-0045-DB0C-456262CB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B5F0CA-D948-8459-A946-CE97D0B7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DB8A54-EDA3-A9B2-5D88-AE3AFB083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6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3248B-48F5-C72A-3ED6-A68726AB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C84BAC-89A0-638A-3FAF-71796C869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BB10AA-00D5-7416-88FB-D0A99C43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3B2E9B-DBA3-8FFF-4B5F-83EB0BD1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E0FA5F-6736-DB5E-C939-8E6FF534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030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407A8D-77FD-5DFD-A89C-0A272E3FD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795F39-4EFE-09AA-0F56-443AEAFC9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607390-C9ED-D46E-18D3-B982EFD5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2440BF-7E5C-9B65-E666-883E7D5C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5C1FD1-E7A9-8931-E6D6-6E8EB717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308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80675D-4E25-E251-FF67-4D2E0916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138B30-FE8C-FC5F-2BDF-05EF15B34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E40BFE-6EDA-1AC0-5FCD-3C6A09E3F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C1590-B529-4DF5-9CA5-7DCD076BE851}" type="datetimeFigureOut">
              <a:rPr lang="es-MX" smtClean="0"/>
              <a:t>20/07/2026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13527F-2FE0-825F-E57C-2F2172DF1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F533D6-656C-3165-8A29-7EB1528657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D83F8-EFC6-4372-A179-8B3B2E99F27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2995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7962CC4-D52F-1299-1A19-5BAC18657D1D}"/>
              </a:ext>
            </a:extLst>
          </p:cNvPr>
          <p:cNvSpPr txBox="1"/>
          <p:nvPr/>
        </p:nvSpPr>
        <p:spPr>
          <a:xfrm>
            <a:off x="502920" y="201168"/>
            <a:ext cx="713232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950" b="1">
                <a:solidFill>
                  <a:srgbClr val="087A2B"/>
                </a:solidFill>
                <a:latin typeface="Aptos" panose="020B0004020202020204" pitchFamily="34" charset="0"/>
              </a:rPr>
              <a:t>SISTEMA DE RECOMENDACIÓN · REGLAS DE ASOCIACIÓN CON APRIORI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4B3261-E078-2C61-97F7-9A4FAC58BF07}"/>
              </a:ext>
            </a:extLst>
          </p:cNvPr>
          <p:cNvSpPr txBox="1"/>
          <p:nvPr/>
        </p:nvSpPr>
        <p:spPr>
          <a:xfrm>
            <a:off x="502920" y="438912"/>
            <a:ext cx="105613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2550" b="1">
                <a:solidFill>
                  <a:srgbClr val="142019"/>
                </a:solidFill>
                <a:latin typeface="Aptos" panose="020B0004020202020204" pitchFamily="34" charset="0"/>
              </a:rPr>
              <a:t>Propuesta 1 · Recomendación de aroma complementario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9501C5-4CDC-5DBB-9859-66CA432FD111}"/>
              </a:ext>
            </a:extLst>
          </p:cNvPr>
          <p:cNvSpPr/>
          <p:nvPr/>
        </p:nvSpPr>
        <p:spPr>
          <a:xfrm>
            <a:off x="502920" y="987552"/>
            <a:ext cx="11155680" cy="16459"/>
          </a:xfrm>
          <a:prstGeom prst="rect">
            <a:avLst/>
          </a:prstGeom>
          <a:solidFill>
            <a:srgbClr val="D9E3D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E734644-0A78-2EAC-0DE1-65949F9A9F56}"/>
              </a:ext>
            </a:extLst>
          </p:cNvPr>
          <p:cNvSpPr/>
          <p:nvPr/>
        </p:nvSpPr>
        <p:spPr>
          <a:xfrm>
            <a:off x="11283696" y="283464"/>
            <a:ext cx="356616" cy="356616"/>
          </a:xfrm>
          <a:prstGeom prst="ellipse">
            <a:avLst/>
          </a:prstGeom>
          <a:solidFill>
            <a:srgbClr val="087A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957164E-2F20-D0E5-9585-E9D0A5D7638B}"/>
              </a:ext>
            </a:extLst>
          </p:cNvPr>
          <p:cNvSpPr txBox="1"/>
          <p:nvPr/>
        </p:nvSpPr>
        <p:spPr>
          <a:xfrm>
            <a:off x="11311128" y="301752"/>
            <a:ext cx="329184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23A7A28-13AB-EF17-47CC-B9B81F351C42}"/>
              </a:ext>
            </a:extLst>
          </p:cNvPr>
          <p:cNvSpPr/>
          <p:nvPr/>
        </p:nvSpPr>
        <p:spPr>
          <a:xfrm>
            <a:off x="9162288" y="164592"/>
            <a:ext cx="1673352" cy="292608"/>
          </a:xfrm>
          <a:prstGeom prst="roundRect">
            <a:avLst/>
          </a:prstGeom>
          <a:solidFill>
            <a:srgbClr val="E8F3E8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72B667F-E639-9FE5-2D8C-95C5CA699F99}"/>
              </a:ext>
            </a:extLst>
          </p:cNvPr>
          <p:cNvSpPr txBox="1"/>
          <p:nvPr/>
        </p:nvSpPr>
        <p:spPr>
          <a:xfrm>
            <a:off x="9198864" y="164592"/>
            <a:ext cx="1600200" cy="923330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880" b="1">
                <a:solidFill>
                  <a:srgbClr val="145B33"/>
                </a:solidFill>
                <a:latin typeface="Aptos" panose="020B0004020202020204" pitchFamily="34" charset="0"/>
              </a:rPr>
              <a:t>1,674 canastas · sin 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B7C343-F601-D408-2089-6E9A97CB66C0}"/>
              </a:ext>
            </a:extLst>
          </p:cNvPr>
          <p:cNvSpPr txBox="1"/>
          <p:nvPr/>
        </p:nvSpPr>
        <p:spPr>
          <a:xfrm>
            <a:off x="530352" y="1115568"/>
            <a:ext cx="283464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1050" b="1">
                <a:solidFill>
                  <a:srgbClr val="234C7A"/>
                </a:solidFill>
                <a:latin typeface="Aptos" panose="020B0004020202020204" pitchFamily="34" charset="0"/>
              </a:rPr>
              <a:t>COLECCIÓN MONGODB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CAB1FB9-D8CB-1B3C-78E5-5D667CDB74B7}"/>
              </a:ext>
            </a:extLst>
          </p:cNvPr>
          <p:cNvSpPr/>
          <p:nvPr/>
        </p:nvSpPr>
        <p:spPr>
          <a:xfrm>
            <a:off x="530352" y="1417320"/>
            <a:ext cx="269748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4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806C8E2-1BFC-D9D8-84CD-5AF7984C2174}"/>
              </a:ext>
            </a:extLst>
          </p:cNvPr>
          <p:cNvSpPr/>
          <p:nvPr/>
        </p:nvSpPr>
        <p:spPr>
          <a:xfrm>
            <a:off x="530352" y="1417320"/>
            <a:ext cx="2697480" cy="310896"/>
          </a:xfrm>
          <a:prstGeom prst="roundRect">
            <a:avLst/>
          </a:prstGeom>
          <a:solidFill>
            <a:srgbClr val="234C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77E7A1-2775-E5D7-1AF1-8B100E4B7B52}"/>
              </a:ext>
            </a:extLst>
          </p:cNvPr>
          <p:cNvSpPr txBox="1"/>
          <p:nvPr/>
        </p:nvSpPr>
        <p:spPr>
          <a:xfrm>
            <a:off x="621792" y="1426464"/>
            <a:ext cx="25146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1150" b="1">
                <a:solidFill>
                  <a:srgbClr val="FFFFFF"/>
                </a:solidFill>
                <a:latin typeface="Aptos" panose="020B0004020202020204" pitchFamily="34" charset="0"/>
              </a:rPr>
              <a:t>pedidos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D6E751E-4357-1141-AD96-D3B312F94D12}"/>
              </a:ext>
            </a:extLst>
          </p:cNvPr>
          <p:cNvSpPr txBox="1"/>
          <p:nvPr/>
        </p:nvSpPr>
        <p:spPr>
          <a:xfrm>
            <a:off x="676656" y="1828800"/>
            <a:ext cx="2404872" cy="1200329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950">
                <a:solidFill>
                  <a:srgbClr val="142019"/>
                </a:solidFill>
                <a:latin typeface="Aptos" panose="020B0004020202020204" pitchFamily="34" charset="0"/>
              </a:rPr>
              <a:t>• reference
• status
• items[].productName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A5B0FEC-2F37-0D6F-CA38-44C7F12B018C}"/>
              </a:ext>
            </a:extLst>
          </p:cNvPr>
          <p:cNvSpPr/>
          <p:nvPr/>
        </p:nvSpPr>
        <p:spPr>
          <a:xfrm>
            <a:off x="530352" y="3063240"/>
            <a:ext cx="2697480" cy="1389888"/>
          </a:xfrm>
          <a:prstGeom prst="roundRect">
            <a:avLst/>
          </a:prstGeom>
          <a:solidFill>
            <a:srgbClr val="E9F0F8"/>
          </a:solidFill>
          <a:ln w="11430">
            <a:solidFill>
              <a:srgbClr val="234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1A226FA-95ED-B22C-7BD8-5F4BFCE7BBD2}"/>
              </a:ext>
            </a:extLst>
          </p:cNvPr>
          <p:cNvSpPr txBox="1"/>
          <p:nvPr/>
        </p:nvSpPr>
        <p:spPr>
          <a:xfrm>
            <a:off x="713232" y="3191256"/>
            <a:ext cx="233172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920" b="1">
                <a:solidFill>
                  <a:srgbClr val="234C7A"/>
                </a:solidFill>
                <a:latin typeface="Aptos" panose="020B0004020202020204" pitchFamily="34" charset="0"/>
              </a:rPr>
              <a:t>TRAZABILIDAD DIRECTA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362EFE3-8D7E-0294-4EDE-1F13C4119611}"/>
              </a:ext>
            </a:extLst>
          </p:cNvPr>
          <p:cNvSpPr txBox="1"/>
          <p:nvPr/>
        </p:nvSpPr>
        <p:spPr>
          <a:xfrm>
            <a:off x="713232" y="3493008"/>
            <a:ext cx="2331720" cy="1477328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n-US" sz="920">
                <a:solidFill>
                  <a:srgbClr val="142019"/>
                </a:solidFill>
                <a:latin typeface="Aptos" panose="020B0004020202020204" pitchFamily="34" charset="0"/>
              </a:rPr>
              <a:t>reference  →  TID
items[].productName  →  Items
status = completed  →  filtro</a:t>
            </a:r>
            <a:endParaRPr lang="es-MX" sz="920">
              <a:solidFill>
                <a:srgbClr val="142019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4F08AF0-545D-86F9-DF72-FB78B5D935CA}"/>
              </a:ext>
            </a:extLst>
          </p:cNvPr>
          <p:cNvSpPr/>
          <p:nvPr/>
        </p:nvSpPr>
        <p:spPr>
          <a:xfrm>
            <a:off x="658368" y="4709160"/>
            <a:ext cx="2450592" cy="329184"/>
          </a:xfrm>
          <a:prstGeom prst="roundRect">
            <a:avLst/>
          </a:prstGeom>
          <a:solidFill>
            <a:srgbClr val="E8F3E8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84A62B4-BB54-E48D-1273-601CD8179C1B}"/>
              </a:ext>
            </a:extLst>
          </p:cNvPr>
          <p:cNvSpPr txBox="1"/>
          <p:nvPr/>
        </p:nvSpPr>
        <p:spPr>
          <a:xfrm>
            <a:off x="694944" y="4709160"/>
            <a:ext cx="237744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880" b="1">
                <a:solidFill>
                  <a:srgbClr val="145B33"/>
                </a:solidFill>
                <a:latin typeface="Aptos" panose="020B0004020202020204" pitchFamily="34" charset="0"/>
              </a:rPr>
              <a:t>1 colección · sin datos personales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83F873B9-C4A8-73FF-C79C-13C46915F69D}"/>
              </a:ext>
            </a:extLst>
          </p:cNvPr>
          <p:cNvSpPr/>
          <p:nvPr/>
        </p:nvSpPr>
        <p:spPr>
          <a:xfrm>
            <a:off x="3401568" y="2487168"/>
            <a:ext cx="987552" cy="1389888"/>
          </a:xfrm>
          <a:prstGeom prst="rightArrow">
            <a:avLst/>
          </a:prstGeom>
          <a:solidFill>
            <a:srgbClr val="087A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C779D1E-28F8-42DD-3AC5-B88790015AE1}"/>
              </a:ext>
            </a:extLst>
          </p:cNvPr>
          <p:cNvSpPr txBox="1"/>
          <p:nvPr/>
        </p:nvSpPr>
        <p:spPr>
          <a:xfrm>
            <a:off x="3438144" y="2770632"/>
            <a:ext cx="832104" cy="3416320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760" b="1">
                <a:solidFill>
                  <a:srgbClr val="FFFFFF"/>
                </a:solidFill>
                <a:latin typeface="Aptos" panose="020B0004020202020204" pitchFamily="34" charset="0"/>
              </a:rPr>
              <a:t>FILTRAR completed
EXTRAER ITEMS[]
AGRUPAR POR TID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5A8519C-E4AC-21AE-EE3F-4E8AB5643A60}"/>
              </a:ext>
            </a:extLst>
          </p:cNvPr>
          <p:cNvSpPr txBox="1"/>
          <p:nvPr/>
        </p:nvSpPr>
        <p:spPr>
          <a:xfrm>
            <a:off x="3200400" y="4041648"/>
            <a:ext cx="1417320" cy="923330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810">
                <a:solidFill>
                  <a:srgbClr val="5F6F65"/>
                </a:solidFill>
                <a:latin typeface="Aptos" panose="020B0004020202020204" pitchFamily="34" charset="0"/>
              </a:rPr>
              <a:t>Items = lista construida en Jupyter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C7C9265-C89B-0454-FC91-4B0A1B5B428D}"/>
              </a:ext>
            </a:extLst>
          </p:cNvPr>
          <p:cNvSpPr/>
          <p:nvPr/>
        </p:nvSpPr>
        <p:spPr>
          <a:xfrm>
            <a:off x="4553712" y="1243584"/>
            <a:ext cx="7114032" cy="5093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3DA"/>
            </a:solidFill>
          </a:ln>
          <a:effectLst>
            <a:outerShdw blurRad="101600" dist="28398" dir="3806086" rotWithShape="0">
              <a:scrgbClr r="0" g="0" b="0">
                <a:alpha val="18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8182B34-C070-4B91-1646-BCFE8D1A71A5}"/>
              </a:ext>
            </a:extLst>
          </p:cNvPr>
          <p:cNvSpPr txBox="1"/>
          <p:nvPr/>
        </p:nvSpPr>
        <p:spPr>
          <a:xfrm>
            <a:off x="4773168" y="1399032"/>
            <a:ext cx="662940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1500" b="1">
                <a:solidFill>
                  <a:srgbClr val="145B33"/>
                </a:solidFill>
                <a:latin typeface="Aptos" panose="020B0004020202020204" pitchFamily="34" charset="0"/>
              </a:rPr>
              <a:t>Dataset transaccional · una fila por pedido o canasta</a:t>
            </a:r>
          </a:p>
        </p:txBody>
      </p:sp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C32BF3DA-F6AE-7C5A-6D4B-3464E73AD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926644"/>
              </p:ext>
            </p:extLst>
          </p:nvPr>
        </p:nvGraphicFramePr>
        <p:xfrm>
          <a:off x="4773168" y="1792224"/>
          <a:ext cx="6629400" cy="194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4005473049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710512765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TID</a:t>
                      </a:r>
                    </a:p>
                  </a:txBody>
                  <a:tcPr marL="45720" marR="45720" marT="18288" marB="18288" anchor="ctr">
                    <a:solidFill>
                      <a:srgbClr val="145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Items</a:t>
                      </a:r>
                    </a:p>
                  </a:txBody>
                  <a:tcPr marL="45720" marR="45720" marT="18288" marB="18288" anchor="ctr">
                    <a:solidFill>
                      <a:srgbClr val="145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9821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SYN-ORD-000001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Toronjil, Jengibre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47873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SYN-ORD-000002</a:t>
                      </a:r>
                    </a:p>
                  </a:txBody>
                  <a:tcPr marL="45720" marR="45720" marT="18288" marB="18288" anchor="ctr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Vaporub, Eucalipto</a:t>
                      </a:r>
                    </a:p>
                  </a:txBody>
                  <a:tcPr marL="45720" marR="45720" marT="18288" marB="18288" anchor="ctr"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85447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SYN-ORD-000003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Vaporub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12477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SYN-ORD-000004</a:t>
                      </a:r>
                    </a:p>
                  </a:txBody>
                  <a:tcPr marL="45720" marR="45720" marT="18288" marB="18288" anchor="ctr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Lavanda</a:t>
                      </a:r>
                    </a:p>
                  </a:txBody>
                  <a:tcPr marL="45720" marR="45720" marT="18288" marB="18288" anchor="ctr">
                    <a:solidFill>
                      <a:srgbClr val="F8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84218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SYN-ORD-000005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10">
                          <a:solidFill>
                            <a:srgbClr val="142019"/>
                          </a:solidFill>
                          <a:latin typeface="Aptos" panose="020B0004020202020204" pitchFamily="34" charset="0"/>
                        </a:rPr>
                        <a:t>Toronjil, Lavanda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502624"/>
                  </a:ext>
                </a:extLst>
              </a:tr>
            </a:tbl>
          </a:graphicData>
        </a:graphic>
      </p:graphicFrame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7BA16CA2-D3B7-34AC-EDC7-7A901B9F4B2D}"/>
              </a:ext>
            </a:extLst>
          </p:cNvPr>
          <p:cNvSpPr/>
          <p:nvPr/>
        </p:nvSpPr>
        <p:spPr>
          <a:xfrm>
            <a:off x="4773168" y="3895344"/>
            <a:ext cx="1353312" cy="310896"/>
          </a:xfrm>
          <a:prstGeom prst="roundRect">
            <a:avLst/>
          </a:prstGeom>
          <a:solidFill>
            <a:srgbClr val="E9F0F8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92C7C97-176F-7993-36DA-5AAFAB313B24}"/>
              </a:ext>
            </a:extLst>
          </p:cNvPr>
          <p:cNvSpPr txBox="1"/>
          <p:nvPr/>
        </p:nvSpPr>
        <p:spPr>
          <a:xfrm>
            <a:off x="4809744" y="3895344"/>
            <a:ext cx="128016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900" b="1">
                <a:solidFill>
                  <a:srgbClr val="234C7A"/>
                </a:solidFill>
                <a:latin typeface="Aptos" panose="020B0004020202020204" pitchFamily="34" charset="0"/>
              </a:rPr>
              <a:t>1,674 canastas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9D383DF3-F7C3-564C-9941-53D2542DD8FB}"/>
              </a:ext>
            </a:extLst>
          </p:cNvPr>
          <p:cNvSpPr/>
          <p:nvPr/>
        </p:nvSpPr>
        <p:spPr>
          <a:xfrm>
            <a:off x="6254496" y="3895344"/>
            <a:ext cx="1207008" cy="310896"/>
          </a:xfrm>
          <a:prstGeom prst="roundRect">
            <a:avLst/>
          </a:prstGeom>
          <a:solidFill>
            <a:srgbClr val="E9F0F8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06D506F-42F7-B5E9-516A-5613142031EE}"/>
              </a:ext>
            </a:extLst>
          </p:cNvPr>
          <p:cNvSpPr txBox="1"/>
          <p:nvPr/>
        </p:nvSpPr>
        <p:spPr>
          <a:xfrm>
            <a:off x="6291072" y="3895344"/>
            <a:ext cx="1133856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900" b="1">
                <a:solidFill>
                  <a:srgbClr val="234C7A"/>
                </a:solidFill>
                <a:latin typeface="Aptos" panose="020B0004020202020204" pitchFamily="34" charset="0"/>
              </a:rPr>
              <a:t>3,003 ítems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0BC6FE30-B02F-BC79-291F-9914504423E6}"/>
              </a:ext>
            </a:extLst>
          </p:cNvPr>
          <p:cNvSpPr/>
          <p:nvPr/>
        </p:nvSpPr>
        <p:spPr>
          <a:xfrm>
            <a:off x="7589520" y="3895344"/>
            <a:ext cx="1170432" cy="310896"/>
          </a:xfrm>
          <a:prstGeom prst="roundRect">
            <a:avLst/>
          </a:prstGeom>
          <a:solidFill>
            <a:srgbClr val="E9F0F8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9DC2471-BB4D-A0E2-8B06-63175B92EC7A}"/>
              </a:ext>
            </a:extLst>
          </p:cNvPr>
          <p:cNvSpPr txBox="1"/>
          <p:nvPr/>
        </p:nvSpPr>
        <p:spPr>
          <a:xfrm>
            <a:off x="7626096" y="3895344"/>
            <a:ext cx="1097280" cy="923330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900" b="1">
                <a:solidFill>
                  <a:srgbClr val="234C7A"/>
                </a:solidFill>
                <a:latin typeface="Aptos" panose="020B0004020202020204" pitchFamily="34" charset="0"/>
              </a:rPr>
              <a:t>16 productos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34B6193-48C4-4FB7-6713-7B282B881AB9}"/>
              </a:ext>
            </a:extLst>
          </p:cNvPr>
          <p:cNvSpPr/>
          <p:nvPr/>
        </p:nvSpPr>
        <p:spPr>
          <a:xfrm>
            <a:off x="8887968" y="3895344"/>
            <a:ext cx="2176272" cy="310896"/>
          </a:xfrm>
          <a:prstGeom prst="roundRect">
            <a:avLst/>
          </a:prstGeom>
          <a:solidFill>
            <a:srgbClr val="FFF4DC"/>
          </a:solidFill>
          <a:ln w="8890">
            <a:solidFill>
              <a:srgbClr val="D9E3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47C3D31-8676-CE24-B6BE-7924FDEA2939}"/>
              </a:ext>
            </a:extLst>
          </p:cNvPr>
          <p:cNvSpPr txBox="1"/>
          <p:nvPr/>
        </p:nvSpPr>
        <p:spPr>
          <a:xfrm>
            <a:off x="8924544" y="3895344"/>
            <a:ext cx="210312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840" b="1">
                <a:solidFill>
                  <a:srgbClr val="E7A227"/>
                </a:solidFill>
                <a:latin typeface="Aptos" panose="020B0004020202020204" pitchFamily="34" charset="0"/>
              </a:rPr>
              <a:t>SYN = sintético · ORD = pedido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F4EB581-4F7B-AAC1-03BC-9A1C8D3CFA09}"/>
              </a:ext>
            </a:extLst>
          </p:cNvPr>
          <p:cNvSpPr/>
          <p:nvPr/>
        </p:nvSpPr>
        <p:spPr>
          <a:xfrm>
            <a:off x="4773168" y="4407408"/>
            <a:ext cx="6629400" cy="1143000"/>
          </a:xfrm>
          <a:prstGeom prst="roundRect">
            <a:avLst/>
          </a:prstGeom>
          <a:solidFill>
            <a:srgbClr val="E8F3E8"/>
          </a:solidFill>
          <a:ln w="13970">
            <a:solidFill>
              <a:srgbClr val="087A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8329495-33EF-E56D-6620-C509A62574B1}"/>
              </a:ext>
            </a:extLst>
          </p:cNvPr>
          <p:cNvSpPr txBox="1"/>
          <p:nvPr/>
        </p:nvSpPr>
        <p:spPr>
          <a:xfrm>
            <a:off x="5010912" y="4517136"/>
            <a:ext cx="306324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910" b="1">
                <a:solidFill>
                  <a:srgbClr val="087A2B"/>
                </a:solidFill>
                <a:latin typeface="Aptos" panose="020B0004020202020204" pitchFamily="34" charset="0"/>
              </a:rPr>
              <a:t>APRIORI · APRENDIZAJE NO SUPERVISADO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58D77EF-2742-3B8E-0771-1C149AD7DCD2}"/>
              </a:ext>
            </a:extLst>
          </p:cNvPr>
          <p:cNvSpPr txBox="1"/>
          <p:nvPr/>
        </p:nvSpPr>
        <p:spPr>
          <a:xfrm>
            <a:off x="7671816" y="4517136"/>
            <a:ext cx="3438144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r"/>
            <a:r>
              <a:rPr lang="es-MX" sz="910" b="1">
                <a:solidFill>
                  <a:srgbClr val="145B33"/>
                </a:solidFill>
                <a:latin typeface="Aptos" panose="020B0004020202020204" pitchFamily="34" charset="0"/>
              </a:rPr>
              <a:t>X: productos presentes en la canasta   ·   Y: no aplica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7E63ECC-39CD-FEB5-76CB-B04E845CB29A}"/>
              </a:ext>
            </a:extLst>
          </p:cNvPr>
          <p:cNvSpPr txBox="1"/>
          <p:nvPr/>
        </p:nvSpPr>
        <p:spPr>
          <a:xfrm>
            <a:off x="5010912" y="4864608"/>
            <a:ext cx="2331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1550" b="1">
                <a:solidFill>
                  <a:srgbClr val="142019"/>
                </a:solidFill>
                <a:latin typeface="Aptos" panose="020B0004020202020204" pitchFamily="34" charset="0"/>
              </a:rPr>
              <a:t>Vaporub  →  Eucalipto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51F1A2F-6F3A-B578-D6C1-0B76D4D11225}"/>
              </a:ext>
            </a:extLst>
          </p:cNvPr>
          <p:cNvSpPr txBox="1"/>
          <p:nvPr/>
        </p:nvSpPr>
        <p:spPr>
          <a:xfrm>
            <a:off x="7379208" y="4882896"/>
            <a:ext cx="3730752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r"/>
            <a:r>
              <a:rPr lang="it-IT" sz="940">
                <a:solidFill>
                  <a:srgbClr val="142019"/>
                </a:solidFill>
                <a:latin typeface="Aptos" panose="020B0004020202020204" pitchFamily="34" charset="0"/>
              </a:rPr>
              <a:t>Soporte: 3.52 %  ·  Confianza: 26.94 %  ·  Lift: 1.88</a:t>
            </a:r>
            <a:endParaRPr lang="es-MX" sz="940">
              <a:solidFill>
                <a:srgbClr val="142019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AE7D796F-B2CF-A792-1055-29C28A6F2460}"/>
              </a:ext>
            </a:extLst>
          </p:cNvPr>
          <p:cNvSpPr/>
          <p:nvPr/>
        </p:nvSpPr>
        <p:spPr>
          <a:xfrm>
            <a:off x="4773168" y="5678424"/>
            <a:ext cx="6629400" cy="365760"/>
          </a:xfrm>
          <a:prstGeom prst="roundRect">
            <a:avLst/>
          </a:prstGeom>
          <a:solidFill>
            <a:srgbClr val="FFF4DC"/>
          </a:solidFill>
          <a:ln w="10160">
            <a:solidFill>
              <a:srgbClr val="E7A2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0A56DB2-8D98-CDB6-845D-4F21361BE345}"/>
              </a:ext>
            </a:extLst>
          </p:cNvPr>
          <p:cNvSpPr txBox="1"/>
          <p:nvPr/>
        </p:nvSpPr>
        <p:spPr>
          <a:xfrm>
            <a:off x="4956048" y="5715000"/>
            <a:ext cx="626364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950" b="1">
                <a:solidFill>
                  <a:srgbClr val="142019"/>
                </a:solidFill>
                <a:latin typeface="Aptos" panose="020B0004020202020204" pitchFamily="34" charset="0"/>
              </a:rPr>
              <a:t>Aplicación: si la bolsa contiene Vaporub, recomendar Eucalipto como Top-1.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8742C92-2545-FB53-C421-D74999B7F0FF}"/>
              </a:ext>
            </a:extLst>
          </p:cNvPr>
          <p:cNvSpPr txBox="1"/>
          <p:nvPr/>
        </p:nvSpPr>
        <p:spPr>
          <a:xfrm>
            <a:off x="4791456" y="6071616"/>
            <a:ext cx="6583680" cy="646331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pPr algn="ctr"/>
            <a:r>
              <a:rPr lang="es-MX" sz="770">
                <a:solidFill>
                  <a:srgbClr val="D9685F"/>
                </a:solidFill>
                <a:latin typeface="Aptos" panose="020B0004020202020204" pitchFamily="34" charset="0"/>
              </a:rPr>
              <a:t>Resultados calculados sobre datos sintéticos compatibles con la estructura operacional de INHALEX.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B75C86C-69EE-7138-E6B8-1225BC1EE419}"/>
              </a:ext>
            </a:extLst>
          </p:cNvPr>
          <p:cNvSpPr txBox="1"/>
          <p:nvPr/>
        </p:nvSpPr>
        <p:spPr>
          <a:xfrm>
            <a:off x="530352" y="6547104"/>
            <a:ext cx="8046720" cy="369332"/>
          </a:xfrm>
          <a:prstGeom prst="rect">
            <a:avLst/>
          </a:prstGeom>
          <a:noFill/>
        </p:spPr>
        <p:txBody>
          <a:bodyPr vert="horz" wrap="square" lIns="36576" tIns="36576" rIns="36576" bIns="36576" rtlCol="0" anchor="t">
            <a:noAutofit/>
          </a:bodyPr>
          <a:lstStyle/>
          <a:p>
            <a:r>
              <a:rPr lang="es-MX" sz="800">
                <a:solidFill>
                  <a:srgbClr val="5F6F65"/>
                </a:solidFill>
                <a:latin typeface="Aptos" panose="020B0004020202020204" pitchFamily="34" charset="0"/>
              </a:rPr>
              <a:t>INHALEX · Propuesta de aprendizaje automático</a:t>
            </a:r>
          </a:p>
        </p:txBody>
      </p:sp>
    </p:spTree>
    <p:extLst>
      <p:ext uri="{BB962C8B-B14F-4D97-AF65-F5344CB8AC3E}">
        <p14:creationId xmlns:p14="http://schemas.microsoft.com/office/powerpoint/2010/main" val="1759506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Personalizado</PresentationFormat>
  <Paragraphs>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Cristhian David Resendez Sierra</dc:creator>
  <cp:lastModifiedBy>Cristhian David Resendez Sierra</cp:lastModifiedBy>
  <cp:revision>1</cp:revision>
  <dcterms:created xsi:type="dcterms:W3CDTF">2026-07-20T12:09:23Z</dcterms:created>
  <dcterms:modified xsi:type="dcterms:W3CDTF">2026-07-20T12:09:23Z</dcterms:modified>
</cp:coreProperties>
</file>