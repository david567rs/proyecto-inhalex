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127"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53E3EA-EC6B-4045-9812-5151C37F4B4E}" type="datetimeFigureOut">
              <a:rPr lang="es-MX" smtClean="0"/>
              <a:t>17/07/2026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ABEF6B-EAC1-4FA9-B71A-E26F9B5601FC}" type="slidenum">
              <a:rPr lang="es-MX" smtClean="0"/>
              <a:t>‹Nº›</a:t>
            </a:fld>
            <a:endParaRPr lang="es-MX"/>
          </a:p>
        </p:txBody>
      </p:sp>
    </p:spTree>
    <p:extLst>
      <p:ext uri="{BB962C8B-B14F-4D97-AF65-F5344CB8AC3E}">
        <p14:creationId xmlns:p14="http://schemas.microsoft.com/office/powerpoint/2010/main" val="1555640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Nuestro proyecto se llama INHALEX. Es una tienda y sistema web especializado en productos de aromaterapia. El cliente puede explorar aromas según necesidades como relajación, insomnio o vías respiratorias, guardar favoritos, administrar su bolsa, realizar pedidos, publicar reseñas y confirmar la recepción. También existe un panel administrativo para productos, inventario, pedidos, ventas e incidencias, además de una skill de Alexa. A partir de los datos que ya genera el sistema proponemos tres aplicaciones: recomendaciones personalizadas, predicción de demanda y segmentación de clientes.</a:t>
            </a:r>
          </a:p>
        </p:txBody>
      </p:sp>
      <p:sp>
        <p:nvSpPr>
          <p:cNvPr id="4" name="Marcador de número de diapositiva 3"/>
          <p:cNvSpPr>
            <a:spLocks noGrp="1"/>
          </p:cNvSpPr>
          <p:nvPr>
            <p:ph type="sldNum" sz="quarter" idx="5"/>
          </p:nvPr>
        </p:nvSpPr>
        <p:spPr/>
        <p:txBody>
          <a:bodyPr/>
          <a:lstStyle/>
          <a:p>
            <a:fld id="{99ABEF6B-EAC1-4FA9-B71A-E26F9B5601FC}" type="slidenum">
              <a:rPr lang="es-MX" smtClean="0"/>
              <a:t>1</a:t>
            </a:fld>
            <a:endParaRPr lang="es-MX"/>
          </a:p>
        </p:txBody>
      </p:sp>
    </p:spTree>
    <p:extLst>
      <p:ext uri="{BB962C8B-B14F-4D97-AF65-F5344CB8AC3E}">
        <p14:creationId xmlns:p14="http://schemas.microsoft.com/office/powerpoint/2010/main" val="2476932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Esta propuesta corresponde a un sistema de recomendación. De pedidos obtenemos compras y canastas; de usuarios, favoritos y bolsa; de reseñas, la calificación; y de productos, categoría, aromas y beneficios. Como MongoDB almacena arreglos embebidos, primero desanidamos los artículos. Para reglas de asociación filtramos event_type igual a purchase: la tabla muestra una fila por producto y el mismo order_id agrupa Toronjil con Jengibre dentro de una canasta. No existe una Y clásica: la salida es un Top-N o una regla como “quien compra Lavanda también suele comprar Manzanilla”. El CSV académico completo es sintético y reproducible. En producción, compras, favoritos y reseñas saldrían de las colecciones actuales; vistas y clics requerirían una nueva colección histórica de interacciones.</a:t>
            </a:r>
          </a:p>
        </p:txBody>
      </p:sp>
      <p:sp>
        <p:nvSpPr>
          <p:cNvPr id="4" name="Marcador de número de diapositiva 3"/>
          <p:cNvSpPr>
            <a:spLocks noGrp="1"/>
          </p:cNvSpPr>
          <p:nvPr>
            <p:ph type="sldNum" sz="quarter" idx="5"/>
          </p:nvPr>
        </p:nvSpPr>
        <p:spPr/>
        <p:txBody>
          <a:bodyPr/>
          <a:lstStyle/>
          <a:p>
            <a:fld id="{99ABEF6B-EAC1-4FA9-B71A-E26F9B5601FC}" type="slidenum">
              <a:rPr lang="es-MX" smtClean="0"/>
              <a:t>2</a:t>
            </a:fld>
            <a:endParaRPr lang="es-MX"/>
          </a:p>
        </p:txBody>
      </p:sp>
    </p:spTree>
    <p:extLst>
      <p:ext uri="{BB962C8B-B14F-4D97-AF65-F5344CB8AC3E}">
        <p14:creationId xmlns:p14="http://schemas.microsoft.com/office/powerpoint/2010/main" val="1317178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La recomendación aparecería en el catálogo como una sección llamada “Aromas para ti”. Cada tarjeta explicaría por qué se muestra: porque el usuario guardó productos relajantes o porque otras personas compraron Lavanda junto con Manzanilla. Esta explicación evita que el resultado parezca aleatorio. Al abrir o agregar un producto, la acción retroalimenta el modelo. Para usuarios nuevos se usarían productos populares por categoría. La misma recomendación también podría consultarse mediante Alexa.</a:t>
            </a:r>
          </a:p>
        </p:txBody>
      </p:sp>
      <p:sp>
        <p:nvSpPr>
          <p:cNvPr id="4" name="Marcador de número de diapositiva 3"/>
          <p:cNvSpPr>
            <a:spLocks noGrp="1"/>
          </p:cNvSpPr>
          <p:nvPr>
            <p:ph type="sldNum" sz="quarter" idx="5"/>
          </p:nvPr>
        </p:nvSpPr>
        <p:spPr/>
        <p:txBody>
          <a:bodyPr/>
          <a:lstStyle/>
          <a:p>
            <a:fld id="{99ABEF6B-EAC1-4FA9-B71A-E26F9B5601FC}" type="slidenum">
              <a:rPr lang="es-MX" smtClean="0"/>
              <a:t>3</a:t>
            </a:fld>
            <a:endParaRPr lang="es-MX"/>
          </a:p>
        </p:txBody>
      </p:sp>
    </p:spTree>
    <p:extLst>
      <p:ext uri="{BB962C8B-B14F-4D97-AF65-F5344CB8AC3E}">
        <p14:creationId xmlns:p14="http://schemas.microsoft.com/office/powerpoint/2010/main" val="3456065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La segunda propuesta es una regresión de demanda. La unidad de análisis es un producto en un día. De pedidos extraemos las cantidades solicitadas, incluso si después existe cancelación, porque demanda no es lo mismo que venta satisfecha. Productos aporta categoría, precio y existencias; los movimientos permiten reconstruir inventario; y las reseñas aportan reputación acumulada. Agrupamos por producto y fecha, completamos días sin pedidos y calculamos rezagos y promedios móviles usando solo el pasado. La variable Y es el total solicitado durante la siguiente semana. La evaluación debe ser cronológica y puede usar MAE y RMSE.</a:t>
            </a:r>
          </a:p>
        </p:txBody>
      </p:sp>
      <p:sp>
        <p:nvSpPr>
          <p:cNvPr id="4" name="Marcador de número de diapositiva 3"/>
          <p:cNvSpPr>
            <a:spLocks noGrp="1"/>
          </p:cNvSpPr>
          <p:nvPr>
            <p:ph type="sldNum" sz="quarter" idx="5"/>
          </p:nvPr>
        </p:nvSpPr>
        <p:spPr/>
        <p:txBody>
          <a:bodyPr/>
          <a:lstStyle/>
          <a:p>
            <a:fld id="{99ABEF6B-EAC1-4FA9-B71A-E26F9B5601FC}" type="slidenum">
              <a:rPr lang="es-MX" smtClean="0"/>
              <a:t>4</a:t>
            </a:fld>
            <a:endParaRPr lang="es-MX"/>
          </a:p>
        </p:txBody>
      </p:sp>
    </p:spTree>
    <p:extLst>
      <p:ext uri="{BB962C8B-B14F-4D97-AF65-F5344CB8AC3E}">
        <p14:creationId xmlns:p14="http://schemas.microsoft.com/office/powerpoint/2010/main" val="3285768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El pronóstico se integraría en el módulo administrativo de ventas e inventario. Para cada producto mostraríamos demanda esperada, existencias actuales y una sugerencia de reabasto. La gráfica separa el histórico de la línea pronosticada y puede incluir una banda de incertidumbre. Si la demanda supera el stock más un margen de seguridad, se genera una alerta. El administrador conserva la decisión final. Por ejemplo, para Lavanda se esperan 18 unidades, hay 7 disponibles y se sugiere reabastecer al menos 11 más un margen de seguridad.</a:t>
            </a:r>
          </a:p>
        </p:txBody>
      </p:sp>
      <p:sp>
        <p:nvSpPr>
          <p:cNvPr id="4" name="Marcador de número de diapositiva 3"/>
          <p:cNvSpPr>
            <a:spLocks noGrp="1"/>
          </p:cNvSpPr>
          <p:nvPr>
            <p:ph type="sldNum" sz="quarter" idx="5"/>
          </p:nvPr>
        </p:nvSpPr>
        <p:spPr/>
        <p:txBody>
          <a:bodyPr/>
          <a:lstStyle/>
          <a:p>
            <a:fld id="{99ABEF6B-EAC1-4FA9-B71A-E26F9B5601FC}" type="slidenum">
              <a:rPr lang="es-MX" smtClean="0"/>
              <a:t>5</a:t>
            </a:fld>
            <a:endParaRPr lang="es-MX"/>
          </a:p>
        </p:txBody>
      </p:sp>
    </p:spTree>
    <p:extLst>
      <p:ext uri="{BB962C8B-B14F-4D97-AF65-F5344CB8AC3E}">
        <p14:creationId xmlns:p14="http://schemas.microsoft.com/office/powerpoint/2010/main" val="9196740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La tercera propuesta es clustering; por eso no existe una variable Y ni clases conocidas. Construimos una fotografía por cliente. De pedidos calculamos recencia, frecuencia, monto, unidades y diversidad; de usuarios, favoritos y antigüedad; de reseñas, actividad y calificación; y de productos, afinidad por línea. No usamos nombre, correo, teléfono ni dirección. Aplicamos log1p, imputación y escalado antes de K-Means. El número de grupos se compara con silhouette y estabilidad; los nombres comerciales se asignan después de interpretar los centroides. Los cuatro perfiles son hipótesis, no etiquetas verdaderas.</a:t>
            </a:r>
          </a:p>
        </p:txBody>
      </p:sp>
      <p:sp>
        <p:nvSpPr>
          <p:cNvPr id="4" name="Marcador de número de diapositiva 3"/>
          <p:cNvSpPr>
            <a:spLocks noGrp="1"/>
          </p:cNvSpPr>
          <p:nvPr>
            <p:ph type="sldNum" sz="quarter" idx="5"/>
          </p:nvPr>
        </p:nvSpPr>
        <p:spPr/>
        <p:txBody>
          <a:bodyPr/>
          <a:lstStyle/>
          <a:p>
            <a:fld id="{99ABEF6B-EAC1-4FA9-B71A-E26F9B5601FC}" type="slidenum">
              <a:rPr lang="es-MX" smtClean="0"/>
              <a:t>6</a:t>
            </a:fld>
            <a:endParaRPr lang="es-MX"/>
          </a:p>
        </p:txBody>
      </p:sp>
    </p:spTree>
    <p:extLst>
      <p:ext uri="{BB962C8B-B14F-4D97-AF65-F5344CB8AC3E}">
        <p14:creationId xmlns:p14="http://schemas.microsoft.com/office/powerpoint/2010/main" val="19852580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Los segmentos aparecerían únicamente en el panel administrativo, dentro de usuarios y promociones. El administrador vería el tamaño y características de cada grupo, podría filtrar por línea preferida y preparar una acción apropiada: bienvenida para nuevos, acceso anticipado para leales o reactivación para clientes en riesgo. La segmentación se recalcularía periódicamente porque una persona puede cambiar de grupo. Usamos únicamente comportamiento dentro del sistema y no datos sensibles; el propósito es evitar promociones genéricas, no excluir clientes.</a:t>
            </a:r>
          </a:p>
        </p:txBody>
      </p:sp>
      <p:sp>
        <p:nvSpPr>
          <p:cNvPr id="4" name="Marcador de número de diapositiva 3"/>
          <p:cNvSpPr>
            <a:spLocks noGrp="1"/>
          </p:cNvSpPr>
          <p:nvPr>
            <p:ph type="sldNum" sz="quarter" idx="5"/>
          </p:nvPr>
        </p:nvSpPr>
        <p:spPr/>
        <p:txBody>
          <a:bodyPr/>
          <a:lstStyle/>
          <a:p>
            <a:fld id="{99ABEF6B-EAC1-4FA9-B71A-E26F9B5601FC}" type="slidenum">
              <a:rPr lang="es-MX" smtClean="0"/>
              <a:t>7</a:t>
            </a:fld>
            <a:endParaRPr lang="es-MX"/>
          </a:p>
        </p:txBody>
      </p:sp>
    </p:spTree>
    <p:extLst>
      <p:ext uri="{BB962C8B-B14F-4D97-AF65-F5344CB8AC3E}">
        <p14:creationId xmlns:p14="http://schemas.microsoft.com/office/powerpoint/2010/main" val="529247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54D7FC-D429-A7D6-EF2B-8CD1226EB59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54F2AA64-9B6C-A28E-94DA-3581BC609B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B385602D-E009-2499-E749-34824F18F26C}"/>
              </a:ext>
            </a:extLst>
          </p:cNvPr>
          <p:cNvSpPr>
            <a:spLocks noGrp="1"/>
          </p:cNvSpPr>
          <p:nvPr>
            <p:ph type="dt" sz="half" idx="10"/>
          </p:nvPr>
        </p:nvSpPr>
        <p:spPr/>
        <p:txBody>
          <a:bodyPr/>
          <a:lstStyle/>
          <a:p>
            <a:fld id="{0969C2BC-9052-4F17-9044-DB3FB3FC82AB}" type="datetimeFigureOut">
              <a:rPr lang="es-MX" smtClean="0"/>
              <a:t>17/07/2026</a:t>
            </a:fld>
            <a:endParaRPr lang="es-MX"/>
          </a:p>
        </p:txBody>
      </p:sp>
      <p:sp>
        <p:nvSpPr>
          <p:cNvPr id="5" name="Marcador de pie de página 4">
            <a:extLst>
              <a:ext uri="{FF2B5EF4-FFF2-40B4-BE49-F238E27FC236}">
                <a16:creationId xmlns:a16="http://schemas.microsoft.com/office/drawing/2014/main" id="{2B8F6DB3-1348-C8C8-30FE-664914DE884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C699B4C-7FD3-0B6A-73A1-C482930A83D0}"/>
              </a:ext>
            </a:extLst>
          </p:cNvPr>
          <p:cNvSpPr>
            <a:spLocks noGrp="1"/>
          </p:cNvSpPr>
          <p:nvPr>
            <p:ph type="sldNum" sz="quarter" idx="12"/>
          </p:nvPr>
        </p:nvSpPr>
        <p:spPr/>
        <p:txBody>
          <a:bodyPr/>
          <a:lstStyle/>
          <a:p>
            <a:fld id="{97277A04-DB9F-4C06-900E-5F7A74EAFE06}" type="slidenum">
              <a:rPr lang="es-MX" smtClean="0"/>
              <a:t>‹Nº›</a:t>
            </a:fld>
            <a:endParaRPr lang="es-MX"/>
          </a:p>
        </p:txBody>
      </p:sp>
    </p:spTree>
    <p:extLst>
      <p:ext uri="{BB962C8B-B14F-4D97-AF65-F5344CB8AC3E}">
        <p14:creationId xmlns:p14="http://schemas.microsoft.com/office/powerpoint/2010/main" val="4004218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E81DA1-BF42-DA30-BAB5-8D87795ECC9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23303BB-6854-AE3E-3031-227D24A8A90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F084529-FD1B-555A-C40D-B34E68EEBB6B}"/>
              </a:ext>
            </a:extLst>
          </p:cNvPr>
          <p:cNvSpPr>
            <a:spLocks noGrp="1"/>
          </p:cNvSpPr>
          <p:nvPr>
            <p:ph type="dt" sz="half" idx="10"/>
          </p:nvPr>
        </p:nvSpPr>
        <p:spPr/>
        <p:txBody>
          <a:bodyPr/>
          <a:lstStyle/>
          <a:p>
            <a:fld id="{0969C2BC-9052-4F17-9044-DB3FB3FC82AB}" type="datetimeFigureOut">
              <a:rPr lang="es-MX" smtClean="0"/>
              <a:t>17/07/2026</a:t>
            </a:fld>
            <a:endParaRPr lang="es-MX"/>
          </a:p>
        </p:txBody>
      </p:sp>
      <p:sp>
        <p:nvSpPr>
          <p:cNvPr id="5" name="Marcador de pie de página 4">
            <a:extLst>
              <a:ext uri="{FF2B5EF4-FFF2-40B4-BE49-F238E27FC236}">
                <a16:creationId xmlns:a16="http://schemas.microsoft.com/office/drawing/2014/main" id="{DA1A0D9A-90AB-1861-4FEF-65068C99B4A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AC44F17-12B5-BE26-4890-3C3342A201C0}"/>
              </a:ext>
            </a:extLst>
          </p:cNvPr>
          <p:cNvSpPr>
            <a:spLocks noGrp="1"/>
          </p:cNvSpPr>
          <p:nvPr>
            <p:ph type="sldNum" sz="quarter" idx="12"/>
          </p:nvPr>
        </p:nvSpPr>
        <p:spPr/>
        <p:txBody>
          <a:bodyPr/>
          <a:lstStyle/>
          <a:p>
            <a:fld id="{97277A04-DB9F-4C06-900E-5F7A74EAFE06}" type="slidenum">
              <a:rPr lang="es-MX" smtClean="0"/>
              <a:t>‹Nº›</a:t>
            </a:fld>
            <a:endParaRPr lang="es-MX"/>
          </a:p>
        </p:txBody>
      </p:sp>
    </p:spTree>
    <p:extLst>
      <p:ext uri="{BB962C8B-B14F-4D97-AF65-F5344CB8AC3E}">
        <p14:creationId xmlns:p14="http://schemas.microsoft.com/office/powerpoint/2010/main" val="2470105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7A4C60-62A4-AF97-EBCB-1316B5156B1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EE024DEC-8E88-A9FB-94B2-BC905E4B43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55A5B9C-523D-885E-B1E2-3F4C65978752}"/>
              </a:ext>
            </a:extLst>
          </p:cNvPr>
          <p:cNvSpPr>
            <a:spLocks noGrp="1"/>
          </p:cNvSpPr>
          <p:nvPr>
            <p:ph type="dt" sz="half" idx="10"/>
          </p:nvPr>
        </p:nvSpPr>
        <p:spPr/>
        <p:txBody>
          <a:bodyPr/>
          <a:lstStyle/>
          <a:p>
            <a:fld id="{0969C2BC-9052-4F17-9044-DB3FB3FC82AB}" type="datetimeFigureOut">
              <a:rPr lang="es-MX" smtClean="0"/>
              <a:t>17/07/2026</a:t>
            </a:fld>
            <a:endParaRPr lang="es-MX"/>
          </a:p>
        </p:txBody>
      </p:sp>
      <p:sp>
        <p:nvSpPr>
          <p:cNvPr id="5" name="Marcador de pie de página 4">
            <a:extLst>
              <a:ext uri="{FF2B5EF4-FFF2-40B4-BE49-F238E27FC236}">
                <a16:creationId xmlns:a16="http://schemas.microsoft.com/office/drawing/2014/main" id="{90348175-1BBF-F4D6-3ADC-66A02F49A5B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28915B5-BEA7-4E2D-9CB5-9253B0D357B7}"/>
              </a:ext>
            </a:extLst>
          </p:cNvPr>
          <p:cNvSpPr>
            <a:spLocks noGrp="1"/>
          </p:cNvSpPr>
          <p:nvPr>
            <p:ph type="sldNum" sz="quarter" idx="12"/>
          </p:nvPr>
        </p:nvSpPr>
        <p:spPr/>
        <p:txBody>
          <a:bodyPr/>
          <a:lstStyle/>
          <a:p>
            <a:fld id="{97277A04-DB9F-4C06-900E-5F7A74EAFE06}" type="slidenum">
              <a:rPr lang="es-MX" smtClean="0"/>
              <a:t>‹Nº›</a:t>
            </a:fld>
            <a:endParaRPr lang="es-MX"/>
          </a:p>
        </p:txBody>
      </p:sp>
    </p:spTree>
    <p:extLst>
      <p:ext uri="{BB962C8B-B14F-4D97-AF65-F5344CB8AC3E}">
        <p14:creationId xmlns:p14="http://schemas.microsoft.com/office/powerpoint/2010/main" val="4101073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3BDC86-D258-2973-FA93-C7663E15F4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A6D6C2FA-3CE9-008F-964D-F196D37B809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9AF4ACBC-1251-49BB-DF2C-A0F1B1FCC0D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6B891CAB-CCE7-8008-BD57-43EE09FE452B}"/>
              </a:ext>
            </a:extLst>
          </p:cNvPr>
          <p:cNvSpPr>
            <a:spLocks noGrp="1"/>
          </p:cNvSpPr>
          <p:nvPr>
            <p:ph type="dt" sz="half" idx="10"/>
          </p:nvPr>
        </p:nvSpPr>
        <p:spPr/>
        <p:txBody>
          <a:bodyPr/>
          <a:lstStyle/>
          <a:p>
            <a:fld id="{0969C2BC-9052-4F17-9044-DB3FB3FC82AB}" type="datetimeFigureOut">
              <a:rPr lang="es-MX" smtClean="0"/>
              <a:t>17/07/2026</a:t>
            </a:fld>
            <a:endParaRPr lang="es-MX"/>
          </a:p>
        </p:txBody>
      </p:sp>
      <p:sp>
        <p:nvSpPr>
          <p:cNvPr id="6" name="Marcador de pie de página 5">
            <a:extLst>
              <a:ext uri="{FF2B5EF4-FFF2-40B4-BE49-F238E27FC236}">
                <a16:creationId xmlns:a16="http://schemas.microsoft.com/office/drawing/2014/main" id="{E6592EAC-4FD3-A006-7241-811949291344}"/>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7D25D55-0D01-A7C2-16E3-9C392C8EFCA4}"/>
              </a:ext>
            </a:extLst>
          </p:cNvPr>
          <p:cNvSpPr>
            <a:spLocks noGrp="1"/>
          </p:cNvSpPr>
          <p:nvPr>
            <p:ph type="sldNum" sz="quarter" idx="12"/>
          </p:nvPr>
        </p:nvSpPr>
        <p:spPr/>
        <p:txBody>
          <a:bodyPr/>
          <a:lstStyle/>
          <a:p>
            <a:fld id="{97277A04-DB9F-4C06-900E-5F7A74EAFE06}" type="slidenum">
              <a:rPr lang="es-MX" smtClean="0"/>
              <a:t>‹Nº›</a:t>
            </a:fld>
            <a:endParaRPr lang="es-MX"/>
          </a:p>
        </p:txBody>
      </p:sp>
    </p:spTree>
    <p:extLst>
      <p:ext uri="{BB962C8B-B14F-4D97-AF65-F5344CB8AC3E}">
        <p14:creationId xmlns:p14="http://schemas.microsoft.com/office/powerpoint/2010/main" val="3934996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94389B-0BB2-6F01-E8FD-A07A23EF5A8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C682F8-9901-F5CF-6A7D-A033B22F08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4F74E75-03F9-F1AE-D74A-61D0E84EAD4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7E162783-3EB9-38C5-FDC1-CE55534C63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5A71308-9C9C-A0F5-AE56-353DAE80F76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FD3D0ABA-2E60-783C-5BA8-A98123B840B7}"/>
              </a:ext>
            </a:extLst>
          </p:cNvPr>
          <p:cNvSpPr>
            <a:spLocks noGrp="1"/>
          </p:cNvSpPr>
          <p:nvPr>
            <p:ph type="dt" sz="half" idx="10"/>
          </p:nvPr>
        </p:nvSpPr>
        <p:spPr/>
        <p:txBody>
          <a:bodyPr/>
          <a:lstStyle/>
          <a:p>
            <a:fld id="{0969C2BC-9052-4F17-9044-DB3FB3FC82AB}" type="datetimeFigureOut">
              <a:rPr lang="es-MX" smtClean="0"/>
              <a:t>17/07/2026</a:t>
            </a:fld>
            <a:endParaRPr lang="es-MX"/>
          </a:p>
        </p:txBody>
      </p:sp>
      <p:sp>
        <p:nvSpPr>
          <p:cNvPr id="8" name="Marcador de pie de página 7">
            <a:extLst>
              <a:ext uri="{FF2B5EF4-FFF2-40B4-BE49-F238E27FC236}">
                <a16:creationId xmlns:a16="http://schemas.microsoft.com/office/drawing/2014/main" id="{E8E1BE74-ED18-9FD9-AE8C-596ACE10DA41}"/>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8DB11ED8-E9F2-2132-084C-04B9EDE9B6DB}"/>
              </a:ext>
            </a:extLst>
          </p:cNvPr>
          <p:cNvSpPr>
            <a:spLocks noGrp="1"/>
          </p:cNvSpPr>
          <p:nvPr>
            <p:ph type="sldNum" sz="quarter" idx="12"/>
          </p:nvPr>
        </p:nvSpPr>
        <p:spPr/>
        <p:txBody>
          <a:bodyPr/>
          <a:lstStyle/>
          <a:p>
            <a:fld id="{97277A04-DB9F-4C06-900E-5F7A74EAFE06}" type="slidenum">
              <a:rPr lang="es-MX" smtClean="0"/>
              <a:t>‹Nº›</a:t>
            </a:fld>
            <a:endParaRPr lang="es-MX"/>
          </a:p>
        </p:txBody>
      </p:sp>
    </p:spTree>
    <p:extLst>
      <p:ext uri="{BB962C8B-B14F-4D97-AF65-F5344CB8AC3E}">
        <p14:creationId xmlns:p14="http://schemas.microsoft.com/office/powerpoint/2010/main" val="4111504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8B4AE5-5BDB-003C-DA44-6E7C1D5F636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123A9A4C-6765-9C77-842A-C24F705694F9}"/>
              </a:ext>
            </a:extLst>
          </p:cNvPr>
          <p:cNvSpPr>
            <a:spLocks noGrp="1"/>
          </p:cNvSpPr>
          <p:nvPr>
            <p:ph type="dt" sz="half" idx="10"/>
          </p:nvPr>
        </p:nvSpPr>
        <p:spPr/>
        <p:txBody>
          <a:bodyPr/>
          <a:lstStyle/>
          <a:p>
            <a:fld id="{0969C2BC-9052-4F17-9044-DB3FB3FC82AB}" type="datetimeFigureOut">
              <a:rPr lang="es-MX" smtClean="0"/>
              <a:t>17/07/2026</a:t>
            </a:fld>
            <a:endParaRPr lang="es-MX"/>
          </a:p>
        </p:txBody>
      </p:sp>
      <p:sp>
        <p:nvSpPr>
          <p:cNvPr id="4" name="Marcador de pie de página 3">
            <a:extLst>
              <a:ext uri="{FF2B5EF4-FFF2-40B4-BE49-F238E27FC236}">
                <a16:creationId xmlns:a16="http://schemas.microsoft.com/office/drawing/2014/main" id="{A3D8FEDB-67A6-B9A5-BC9F-E74B18562DAF}"/>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77158874-CFCF-A996-B423-FF2419D12C46}"/>
              </a:ext>
            </a:extLst>
          </p:cNvPr>
          <p:cNvSpPr>
            <a:spLocks noGrp="1"/>
          </p:cNvSpPr>
          <p:nvPr>
            <p:ph type="sldNum" sz="quarter" idx="12"/>
          </p:nvPr>
        </p:nvSpPr>
        <p:spPr/>
        <p:txBody>
          <a:bodyPr/>
          <a:lstStyle/>
          <a:p>
            <a:fld id="{97277A04-DB9F-4C06-900E-5F7A74EAFE06}" type="slidenum">
              <a:rPr lang="es-MX" smtClean="0"/>
              <a:t>‹Nº›</a:t>
            </a:fld>
            <a:endParaRPr lang="es-MX"/>
          </a:p>
        </p:txBody>
      </p:sp>
    </p:spTree>
    <p:extLst>
      <p:ext uri="{BB962C8B-B14F-4D97-AF65-F5344CB8AC3E}">
        <p14:creationId xmlns:p14="http://schemas.microsoft.com/office/powerpoint/2010/main" val="741062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1B59862-5E42-6C61-BC80-7A9AF4BF6F98}"/>
              </a:ext>
            </a:extLst>
          </p:cNvPr>
          <p:cNvSpPr>
            <a:spLocks noGrp="1"/>
          </p:cNvSpPr>
          <p:nvPr>
            <p:ph type="dt" sz="half" idx="10"/>
          </p:nvPr>
        </p:nvSpPr>
        <p:spPr/>
        <p:txBody>
          <a:bodyPr/>
          <a:lstStyle/>
          <a:p>
            <a:fld id="{0969C2BC-9052-4F17-9044-DB3FB3FC82AB}" type="datetimeFigureOut">
              <a:rPr lang="es-MX" smtClean="0"/>
              <a:t>17/07/2026</a:t>
            </a:fld>
            <a:endParaRPr lang="es-MX"/>
          </a:p>
        </p:txBody>
      </p:sp>
      <p:sp>
        <p:nvSpPr>
          <p:cNvPr id="3" name="Marcador de pie de página 2">
            <a:extLst>
              <a:ext uri="{FF2B5EF4-FFF2-40B4-BE49-F238E27FC236}">
                <a16:creationId xmlns:a16="http://schemas.microsoft.com/office/drawing/2014/main" id="{FD54BFE2-1C60-5A23-62BA-AC08422884B7}"/>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24FA8C15-EDFD-6E3D-258A-51F21FAF9D62}"/>
              </a:ext>
            </a:extLst>
          </p:cNvPr>
          <p:cNvSpPr>
            <a:spLocks noGrp="1"/>
          </p:cNvSpPr>
          <p:nvPr>
            <p:ph type="sldNum" sz="quarter" idx="12"/>
          </p:nvPr>
        </p:nvSpPr>
        <p:spPr/>
        <p:txBody>
          <a:bodyPr/>
          <a:lstStyle/>
          <a:p>
            <a:fld id="{97277A04-DB9F-4C06-900E-5F7A74EAFE06}" type="slidenum">
              <a:rPr lang="es-MX" smtClean="0"/>
              <a:t>‹Nº›</a:t>
            </a:fld>
            <a:endParaRPr lang="es-MX"/>
          </a:p>
        </p:txBody>
      </p:sp>
    </p:spTree>
    <p:extLst>
      <p:ext uri="{BB962C8B-B14F-4D97-AF65-F5344CB8AC3E}">
        <p14:creationId xmlns:p14="http://schemas.microsoft.com/office/powerpoint/2010/main" val="4168991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D6A137-FD1B-25BC-9748-B3E9FEC0482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25F9A811-E4CF-363A-B84D-B3884791FE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DEA6BBEB-CE4E-8C55-0EE8-96F3B241E3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DAAF562-BB84-5C60-09B7-CE7EB8872A08}"/>
              </a:ext>
            </a:extLst>
          </p:cNvPr>
          <p:cNvSpPr>
            <a:spLocks noGrp="1"/>
          </p:cNvSpPr>
          <p:nvPr>
            <p:ph type="dt" sz="half" idx="10"/>
          </p:nvPr>
        </p:nvSpPr>
        <p:spPr/>
        <p:txBody>
          <a:bodyPr/>
          <a:lstStyle/>
          <a:p>
            <a:fld id="{0969C2BC-9052-4F17-9044-DB3FB3FC82AB}" type="datetimeFigureOut">
              <a:rPr lang="es-MX" smtClean="0"/>
              <a:t>17/07/2026</a:t>
            </a:fld>
            <a:endParaRPr lang="es-MX"/>
          </a:p>
        </p:txBody>
      </p:sp>
      <p:sp>
        <p:nvSpPr>
          <p:cNvPr id="6" name="Marcador de pie de página 5">
            <a:extLst>
              <a:ext uri="{FF2B5EF4-FFF2-40B4-BE49-F238E27FC236}">
                <a16:creationId xmlns:a16="http://schemas.microsoft.com/office/drawing/2014/main" id="{A0BE5E98-2568-B3F2-F814-FD0E1F37EED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65048735-7802-B6E3-EBAB-65FE5DD79183}"/>
              </a:ext>
            </a:extLst>
          </p:cNvPr>
          <p:cNvSpPr>
            <a:spLocks noGrp="1"/>
          </p:cNvSpPr>
          <p:nvPr>
            <p:ph type="sldNum" sz="quarter" idx="12"/>
          </p:nvPr>
        </p:nvSpPr>
        <p:spPr/>
        <p:txBody>
          <a:bodyPr/>
          <a:lstStyle/>
          <a:p>
            <a:fld id="{97277A04-DB9F-4C06-900E-5F7A74EAFE06}" type="slidenum">
              <a:rPr lang="es-MX" smtClean="0"/>
              <a:t>‹Nº›</a:t>
            </a:fld>
            <a:endParaRPr lang="es-MX"/>
          </a:p>
        </p:txBody>
      </p:sp>
    </p:spTree>
    <p:extLst>
      <p:ext uri="{BB962C8B-B14F-4D97-AF65-F5344CB8AC3E}">
        <p14:creationId xmlns:p14="http://schemas.microsoft.com/office/powerpoint/2010/main" val="950844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2E07B4-B006-913E-C362-2002DC9A175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9442596A-9802-A8C3-88E3-8A07DBCB85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A913DC51-386B-2307-F25A-2F4873B256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11443A3-5BB4-B0AD-D28A-486F559B7E1A}"/>
              </a:ext>
            </a:extLst>
          </p:cNvPr>
          <p:cNvSpPr>
            <a:spLocks noGrp="1"/>
          </p:cNvSpPr>
          <p:nvPr>
            <p:ph type="dt" sz="half" idx="10"/>
          </p:nvPr>
        </p:nvSpPr>
        <p:spPr/>
        <p:txBody>
          <a:bodyPr/>
          <a:lstStyle/>
          <a:p>
            <a:fld id="{0969C2BC-9052-4F17-9044-DB3FB3FC82AB}" type="datetimeFigureOut">
              <a:rPr lang="es-MX" smtClean="0"/>
              <a:t>17/07/2026</a:t>
            </a:fld>
            <a:endParaRPr lang="es-MX"/>
          </a:p>
        </p:txBody>
      </p:sp>
      <p:sp>
        <p:nvSpPr>
          <p:cNvPr id="6" name="Marcador de pie de página 5">
            <a:extLst>
              <a:ext uri="{FF2B5EF4-FFF2-40B4-BE49-F238E27FC236}">
                <a16:creationId xmlns:a16="http://schemas.microsoft.com/office/drawing/2014/main" id="{140D540A-957D-1ED9-30C3-B1E23CFFBAE4}"/>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2278A7B3-C2F0-7E2A-7DE1-5E2DCEA2CBAA}"/>
              </a:ext>
            </a:extLst>
          </p:cNvPr>
          <p:cNvSpPr>
            <a:spLocks noGrp="1"/>
          </p:cNvSpPr>
          <p:nvPr>
            <p:ph type="sldNum" sz="quarter" idx="12"/>
          </p:nvPr>
        </p:nvSpPr>
        <p:spPr/>
        <p:txBody>
          <a:bodyPr/>
          <a:lstStyle/>
          <a:p>
            <a:fld id="{97277A04-DB9F-4C06-900E-5F7A74EAFE06}" type="slidenum">
              <a:rPr lang="es-MX" smtClean="0"/>
              <a:t>‹Nº›</a:t>
            </a:fld>
            <a:endParaRPr lang="es-MX"/>
          </a:p>
        </p:txBody>
      </p:sp>
    </p:spTree>
    <p:extLst>
      <p:ext uri="{BB962C8B-B14F-4D97-AF65-F5344CB8AC3E}">
        <p14:creationId xmlns:p14="http://schemas.microsoft.com/office/powerpoint/2010/main" val="96936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6A644D-DB78-0FA1-45F1-55D61831C39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F1E88930-FD57-83BC-B23A-D33FA5C6DED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26AE269-6A25-07AA-FE12-C81B87DFF56C}"/>
              </a:ext>
            </a:extLst>
          </p:cNvPr>
          <p:cNvSpPr>
            <a:spLocks noGrp="1"/>
          </p:cNvSpPr>
          <p:nvPr>
            <p:ph type="dt" sz="half" idx="10"/>
          </p:nvPr>
        </p:nvSpPr>
        <p:spPr/>
        <p:txBody>
          <a:bodyPr/>
          <a:lstStyle/>
          <a:p>
            <a:fld id="{0969C2BC-9052-4F17-9044-DB3FB3FC82AB}" type="datetimeFigureOut">
              <a:rPr lang="es-MX" smtClean="0"/>
              <a:t>17/07/2026</a:t>
            </a:fld>
            <a:endParaRPr lang="es-MX"/>
          </a:p>
        </p:txBody>
      </p:sp>
      <p:sp>
        <p:nvSpPr>
          <p:cNvPr id="5" name="Marcador de pie de página 4">
            <a:extLst>
              <a:ext uri="{FF2B5EF4-FFF2-40B4-BE49-F238E27FC236}">
                <a16:creationId xmlns:a16="http://schemas.microsoft.com/office/drawing/2014/main" id="{754E1424-9A87-7A15-6CE7-C238EF560B6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8CC37A4-B89E-05D5-E957-97AF187295E2}"/>
              </a:ext>
            </a:extLst>
          </p:cNvPr>
          <p:cNvSpPr>
            <a:spLocks noGrp="1"/>
          </p:cNvSpPr>
          <p:nvPr>
            <p:ph type="sldNum" sz="quarter" idx="12"/>
          </p:nvPr>
        </p:nvSpPr>
        <p:spPr/>
        <p:txBody>
          <a:bodyPr/>
          <a:lstStyle/>
          <a:p>
            <a:fld id="{97277A04-DB9F-4C06-900E-5F7A74EAFE06}" type="slidenum">
              <a:rPr lang="es-MX" smtClean="0"/>
              <a:t>‹Nº›</a:t>
            </a:fld>
            <a:endParaRPr lang="es-MX"/>
          </a:p>
        </p:txBody>
      </p:sp>
    </p:spTree>
    <p:extLst>
      <p:ext uri="{BB962C8B-B14F-4D97-AF65-F5344CB8AC3E}">
        <p14:creationId xmlns:p14="http://schemas.microsoft.com/office/powerpoint/2010/main" val="314649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4B39692-DE7F-B959-2318-A13C2F0FBC4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04BC76FB-5B3B-F8D2-83BB-CC4646DCCD2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3F66BD8-A0FC-E752-8865-E3A46A31CF38}"/>
              </a:ext>
            </a:extLst>
          </p:cNvPr>
          <p:cNvSpPr>
            <a:spLocks noGrp="1"/>
          </p:cNvSpPr>
          <p:nvPr>
            <p:ph type="dt" sz="half" idx="10"/>
          </p:nvPr>
        </p:nvSpPr>
        <p:spPr/>
        <p:txBody>
          <a:bodyPr/>
          <a:lstStyle/>
          <a:p>
            <a:fld id="{0969C2BC-9052-4F17-9044-DB3FB3FC82AB}" type="datetimeFigureOut">
              <a:rPr lang="es-MX" smtClean="0"/>
              <a:t>17/07/2026</a:t>
            </a:fld>
            <a:endParaRPr lang="es-MX"/>
          </a:p>
        </p:txBody>
      </p:sp>
      <p:sp>
        <p:nvSpPr>
          <p:cNvPr id="5" name="Marcador de pie de página 4">
            <a:extLst>
              <a:ext uri="{FF2B5EF4-FFF2-40B4-BE49-F238E27FC236}">
                <a16:creationId xmlns:a16="http://schemas.microsoft.com/office/drawing/2014/main" id="{FE4DF199-5F01-49DA-BB93-F11AB3F6FD1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E039CD6-22F8-6D0F-B94C-24CA665104DB}"/>
              </a:ext>
            </a:extLst>
          </p:cNvPr>
          <p:cNvSpPr>
            <a:spLocks noGrp="1"/>
          </p:cNvSpPr>
          <p:nvPr>
            <p:ph type="sldNum" sz="quarter" idx="12"/>
          </p:nvPr>
        </p:nvSpPr>
        <p:spPr/>
        <p:txBody>
          <a:bodyPr/>
          <a:lstStyle/>
          <a:p>
            <a:fld id="{97277A04-DB9F-4C06-900E-5F7A74EAFE06}" type="slidenum">
              <a:rPr lang="es-MX" smtClean="0"/>
              <a:t>‹Nº›</a:t>
            </a:fld>
            <a:endParaRPr lang="es-MX"/>
          </a:p>
        </p:txBody>
      </p:sp>
    </p:spTree>
    <p:extLst>
      <p:ext uri="{BB962C8B-B14F-4D97-AF65-F5344CB8AC3E}">
        <p14:creationId xmlns:p14="http://schemas.microsoft.com/office/powerpoint/2010/main" val="2180845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4AB2383-A2AF-5B52-CE1E-F7CD0062CC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F2F7563-62F6-2CA0-3799-EEEDD548CA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7B901F6-BF65-FC77-34F9-F6A34DE6CD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69C2BC-9052-4F17-9044-DB3FB3FC82AB}" type="datetimeFigureOut">
              <a:rPr lang="es-MX" smtClean="0"/>
              <a:t>17/07/2026</a:t>
            </a:fld>
            <a:endParaRPr lang="es-MX"/>
          </a:p>
        </p:txBody>
      </p:sp>
      <p:sp>
        <p:nvSpPr>
          <p:cNvPr id="5" name="Marcador de pie de página 4">
            <a:extLst>
              <a:ext uri="{FF2B5EF4-FFF2-40B4-BE49-F238E27FC236}">
                <a16:creationId xmlns:a16="http://schemas.microsoft.com/office/drawing/2014/main" id="{7AEB51B6-2084-5E57-37E0-9C5B22A501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96EF7434-F4C1-8C4A-A641-9C6F1C1037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277A04-DB9F-4C06-900E-5F7A74EAFE06}" type="slidenum">
              <a:rPr lang="es-MX" smtClean="0"/>
              <a:t>‹Nº›</a:t>
            </a:fld>
            <a:endParaRPr lang="es-MX"/>
          </a:p>
        </p:txBody>
      </p:sp>
    </p:spTree>
    <p:extLst>
      <p:ext uri="{BB962C8B-B14F-4D97-AF65-F5344CB8AC3E}">
        <p14:creationId xmlns:p14="http://schemas.microsoft.com/office/powerpoint/2010/main" val="3782378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98B9967-FBE9-8806-3D72-E013F14447C2}"/>
              </a:ext>
            </a:extLst>
          </p:cNvPr>
          <p:cNvSpPr/>
          <p:nvPr/>
        </p:nvSpPr>
        <p:spPr>
          <a:xfrm>
            <a:off x="0" y="0"/>
            <a:ext cx="118872" cy="6858000"/>
          </a:xfrm>
          <a:prstGeom prst="rect">
            <a:avLst/>
          </a:prstGeom>
          <a:solidFill>
            <a:srgbClr val="087A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4" name="Imagen 3">
            <a:extLst>
              <a:ext uri="{FF2B5EF4-FFF2-40B4-BE49-F238E27FC236}">
                <a16:creationId xmlns:a16="http://schemas.microsoft.com/office/drawing/2014/main" id="{12E45B17-9721-FB52-D788-89B113695FB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0352" y="228600"/>
            <a:ext cx="2377440" cy="1170432"/>
          </a:xfrm>
          <a:prstGeom prst="rect">
            <a:avLst/>
          </a:prstGeom>
        </p:spPr>
      </p:pic>
      <p:sp>
        <p:nvSpPr>
          <p:cNvPr id="5" name="CuadroTexto 4">
            <a:extLst>
              <a:ext uri="{FF2B5EF4-FFF2-40B4-BE49-F238E27FC236}">
                <a16:creationId xmlns:a16="http://schemas.microsoft.com/office/drawing/2014/main" id="{92A89C97-72A7-7DC6-1BBD-3D9A5778DC03}"/>
              </a:ext>
            </a:extLst>
          </p:cNvPr>
          <p:cNvSpPr txBox="1"/>
          <p:nvPr/>
        </p:nvSpPr>
        <p:spPr>
          <a:xfrm>
            <a:off x="621792" y="1298448"/>
            <a:ext cx="3840480" cy="646331"/>
          </a:xfrm>
          <a:prstGeom prst="rect">
            <a:avLst/>
          </a:prstGeom>
          <a:noFill/>
        </p:spPr>
        <p:txBody>
          <a:bodyPr vert="horz" wrap="square" lIns="36576" tIns="36576" rIns="36576" bIns="36576" rtlCol="0" anchor="t">
            <a:noAutofit/>
          </a:bodyPr>
          <a:lstStyle/>
          <a:p>
            <a:r>
              <a:rPr lang="es-MX" sz="1050" b="1">
                <a:solidFill>
                  <a:srgbClr val="087A2B"/>
                </a:solidFill>
                <a:latin typeface="Aptos" panose="020B0004020202020204" pitchFamily="34" charset="0"/>
              </a:rPr>
              <a:t>AROMATERAPIA INTELIGENTE CON DATOS</a:t>
            </a:r>
          </a:p>
        </p:txBody>
      </p:sp>
      <p:sp>
        <p:nvSpPr>
          <p:cNvPr id="6" name="CuadroTexto 5">
            <a:extLst>
              <a:ext uri="{FF2B5EF4-FFF2-40B4-BE49-F238E27FC236}">
                <a16:creationId xmlns:a16="http://schemas.microsoft.com/office/drawing/2014/main" id="{9D78127C-7065-8656-F0F4-BF8318AAE7B1}"/>
              </a:ext>
            </a:extLst>
          </p:cNvPr>
          <p:cNvSpPr txBox="1"/>
          <p:nvPr/>
        </p:nvSpPr>
        <p:spPr>
          <a:xfrm>
            <a:off x="585216" y="1627632"/>
            <a:ext cx="3977640" cy="646331"/>
          </a:xfrm>
          <a:prstGeom prst="rect">
            <a:avLst/>
          </a:prstGeom>
          <a:noFill/>
        </p:spPr>
        <p:txBody>
          <a:bodyPr vert="horz" wrap="square" lIns="36576" tIns="36576" rIns="36576" bIns="36576" rtlCol="0" anchor="t">
            <a:noAutofit/>
          </a:bodyPr>
          <a:lstStyle/>
          <a:p>
            <a:r>
              <a:rPr lang="es-MX" sz="2700" b="1">
                <a:solidFill>
                  <a:srgbClr val="142019"/>
                </a:solidFill>
                <a:latin typeface="Aptos" panose="020B0004020202020204" pitchFamily="34" charset="0"/>
              </a:rPr>
              <a:t>Tres propuestas de aprendizaje automático</a:t>
            </a:r>
          </a:p>
        </p:txBody>
      </p:sp>
      <p:sp>
        <p:nvSpPr>
          <p:cNvPr id="7" name="CuadroTexto 6">
            <a:extLst>
              <a:ext uri="{FF2B5EF4-FFF2-40B4-BE49-F238E27FC236}">
                <a16:creationId xmlns:a16="http://schemas.microsoft.com/office/drawing/2014/main" id="{B64F781E-EA0D-1146-515D-72A95D48D690}"/>
              </a:ext>
            </a:extLst>
          </p:cNvPr>
          <p:cNvSpPr txBox="1"/>
          <p:nvPr/>
        </p:nvSpPr>
        <p:spPr>
          <a:xfrm>
            <a:off x="621792" y="2999232"/>
            <a:ext cx="3840480" cy="2031325"/>
          </a:xfrm>
          <a:prstGeom prst="rect">
            <a:avLst/>
          </a:prstGeom>
          <a:noFill/>
        </p:spPr>
        <p:txBody>
          <a:bodyPr vert="horz" wrap="square" lIns="36576" tIns="36576" rIns="36576" bIns="36576" rtlCol="0" anchor="t">
            <a:noAutofit/>
          </a:bodyPr>
          <a:lstStyle/>
          <a:p>
            <a:r>
              <a:rPr lang="es-MX" sz="1420">
                <a:solidFill>
                  <a:srgbClr val="5F6F65"/>
                </a:solidFill>
                <a:latin typeface="Aptos" panose="020B0004020202020204" pitchFamily="34" charset="0"/>
              </a:rPr>
              <a:t>INHALEX es una tienda de aromaterapia donde el cliente explora productos por beneficio, guarda favoritos, compra, publica reseñas y confirma entregas. También integra un panel administrativo y una skill de Alexa.</a:t>
            </a:r>
          </a:p>
        </p:txBody>
      </p:sp>
      <p:sp>
        <p:nvSpPr>
          <p:cNvPr id="8" name="Rectángulo: esquinas redondeadas 7">
            <a:extLst>
              <a:ext uri="{FF2B5EF4-FFF2-40B4-BE49-F238E27FC236}">
                <a16:creationId xmlns:a16="http://schemas.microsoft.com/office/drawing/2014/main" id="{A6A57152-8873-6BEA-25CD-4C4006E3C7DE}"/>
              </a:ext>
            </a:extLst>
          </p:cNvPr>
          <p:cNvSpPr/>
          <p:nvPr/>
        </p:nvSpPr>
        <p:spPr>
          <a:xfrm>
            <a:off x="621792" y="4379976"/>
            <a:ext cx="914400" cy="320040"/>
          </a:xfrm>
          <a:prstGeom prst="roundRect">
            <a:avLst/>
          </a:prstGeom>
          <a:solidFill>
            <a:srgbClr val="E8F3E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CuadroTexto 8">
            <a:extLst>
              <a:ext uri="{FF2B5EF4-FFF2-40B4-BE49-F238E27FC236}">
                <a16:creationId xmlns:a16="http://schemas.microsoft.com/office/drawing/2014/main" id="{8E560845-FB57-4D4B-896B-0C0B0497BAEC}"/>
              </a:ext>
            </a:extLst>
          </p:cNvPr>
          <p:cNvSpPr txBox="1"/>
          <p:nvPr/>
        </p:nvSpPr>
        <p:spPr>
          <a:xfrm>
            <a:off x="658368" y="4379976"/>
            <a:ext cx="841248" cy="646331"/>
          </a:xfrm>
          <a:prstGeom prst="rect">
            <a:avLst/>
          </a:prstGeom>
          <a:noFill/>
        </p:spPr>
        <p:txBody>
          <a:bodyPr vert="horz" wrap="square" lIns="36576" tIns="36576" rIns="36576" bIns="36576" rtlCol="0" anchor="t">
            <a:noAutofit/>
          </a:bodyPr>
          <a:lstStyle/>
          <a:p>
            <a:pPr algn="ctr"/>
            <a:r>
              <a:rPr lang="es-MX" sz="900" b="1">
                <a:solidFill>
                  <a:srgbClr val="145B33"/>
                </a:solidFill>
                <a:latin typeface="Aptos" panose="020B0004020202020204" pitchFamily="34" charset="0"/>
              </a:rPr>
              <a:t>Next.js</a:t>
            </a:r>
          </a:p>
        </p:txBody>
      </p:sp>
      <p:sp>
        <p:nvSpPr>
          <p:cNvPr id="10" name="Rectángulo: esquinas redondeadas 9">
            <a:extLst>
              <a:ext uri="{FF2B5EF4-FFF2-40B4-BE49-F238E27FC236}">
                <a16:creationId xmlns:a16="http://schemas.microsoft.com/office/drawing/2014/main" id="{DFFC929B-8BDD-EAD2-1874-265D4B601FF7}"/>
              </a:ext>
            </a:extLst>
          </p:cNvPr>
          <p:cNvSpPr/>
          <p:nvPr/>
        </p:nvSpPr>
        <p:spPr>
          <a:xfrm>
            <a:off x="1627632" y="4379976"/>
            <a:ext cx="841248" cy="320040"/>
          </a:xfrm>
          <a:prstGeom prst="roundRect">
            <a:avLst/>
          </a:prstGeom>
          <a:solidFill>
            <a:srgbClr val="E8F3E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7A36B16C-8863-D6F7-D7BD-6FB319C73509}"/>
              </a:ext>
            </a:extLst>
          </p:cNvPr>
          <p:cNvSpPr txBox="1"/>
          <p:nvPr/>
        </p:nvSpPr>
        <p:spPr>
          <a:xfrm>
            <a:off x="1664208" y="4379976"/>
            <a:ext cx="768096" cy="646331"/>
          </a:xfrm>
          <a:prstGeom prst="rect">
            <a:avLst/>
          </a:prstGeom>
          <a:noFill/>
        </p:spPr>
        <p:txBody>
          <a:bodyPr vert="horz" wrap="square" lIns="36576" tIns="36576" rIns="36576" bIns="36576" rtlCol="0" anchor="t">
            <a:noAutofit/>
          </a:bodyPr>
          <a:lstStyle/>
          <a:p>
            <a:pPr algn="ctr"/>
            <a:r>
              <a:rPr lang="es-MX" sz="900" b="1">
                <a:solidFill>
                  <a:srgbClr val="145B33"/>
                </a:solidFill>
                <a:latin typeface="Aptos" panose="020B0004020202020204" pitchFamily="34" charset="0"/>
              </a:rPr>
              <a:t>NestJS</a:t>
            </a:r>
          </a:p>
        </p:txBody>
      </p:sp>
      <p:sp>
        <p:nvSpPr>
          <p:cNvPr id="12" name="Rectángulo: esquinas redondeadas 11">
            <a:extLst>
              <a:ext uri="{FF2B5EF4-FFF2-40B4-BE49-F238E27FC236}">
                <a16:creationId xmlns:a16="http://schemas.microsoft.com/office/drawing/2014/main" id="{6B52E2BD-343B-4C7E-B172-9EE647057DED}"/>
              </a:ext>
            </a:extLst>
          </p:cNvPr>
          <p:cNvSpPr/>
          <p:nvPr/>
        </p:nvSpPr>
        <p:spPr>
          <a:xfrm>
            <a:off x="2560320" y="4379976"/>
            <a:ext cx="960120" cy="320040"/>
          </a:xfrm>
          <a:prstGeom prst="roundRect">
            <a:avLst/>
          </a:prstGeom>
          <a:solidFill>
            <a:srgbClr val="E8F3E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CuadroTexto 12">
            <a:extLst>
              <a:ext uri="{FF2B5EF4-FFF2-40B4-BE49-F238E27FC236}">
                <a16:creationId xmlns:a16="http://schemas.microsoft.com/office/drawing/2014/main" id="{4AAD6CE0-FA4C-4402-7CF0-1105BF361388}"/>
              </a:ext>
            </a:extLst>
          </p:cNvPr>
          <p:cNvSpPr txBox="1"/>
          <p:nvPr/>
        </p:nvSpPr>
        <p:spPr>
          <a:xfrm>
            <a:off x="2596896" y="4379976"/>
            <a:ext cx="886968" cy="646331"/>
          </a:xfrm>
          <a:prstGeom prst="rect">
            <a:avLst/>
          </a:prstGeom>
          <a:noFill/>
        </p:spPr>
        <p:txBody>
          <a:bodyPr vert="horz" wrap="square" lIns="36576" tIns="36576" rIns="36576" bIns="36576" rtlCol="0" anchor="t">
            <a:noAutofit/>
          </a:bodyPr>
          <a:lstStyle/>
          <a:p>
            <a:pPr algn="ctr"/>
            <a:r>
              <a:rPr lang="es-MX" sz="900" b="1">
                <a:solidFill>
                  <a:srgbClr val="145B33"/>
                </a:solidFill>
                <a:latin typeface="Aptos" panose="020B0004020202020204" pitchFamily="34" charset="0"/>
              </a:rPr>
              <a:t>MongoDB</a:t>
            </a:r>
          </a:p>
        </p:txBody>
      </p:sp>
      <p:sp>
        <p:nvSpPr>
          <p:cNvPr id="14" name="Rectángulo: esquinas redondeadas 13">
            <a:extLst>
              <a:ext uri="{FF2B5EF4-FFF2-40B4-BE49-F238E27FC236}">
                <a16:creationId xmlns:a16="http://schemas.microsoft.com/office/drawing/2014/main" id="{54148824-55C7-4992-EA71-7756A4032957}"/>
              </a:ext>
            </a:extLst>
          </p:cNvPr>
          <p:cNvSpPr/>
          <p:nvPr/>
        </p:nvSpPr>
        <p:spPr>
          <a:xfrm>
            <a:off x="3611880" y="4379976"/>
            <a:ext cx="749808" cy="320040"/>
          </a:xfrm>
          <a:prstGeom prst="roundRect">
            <a:avLst/>
          </a:prstGeom>
          <a:solidFill>
            <a:srgbClr val="E8F3E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CuadroTexto 14">
            <a:extLst>
              <a:ext uri="{FF2B5EF4-FFF2-40B4-BE49-F238E27FC236}">
                <a16:creationId xmlns:a16="http://schemas.microsoft.com/office/drawing/2014/main" id="{EA82B745-E5D3-7299-DFC3-D42F536A9837}"/>
              </a:ext>
            </a:extLst>
          </p:cNvPr>
          <p:cNvSpPr txBox="1"/>
          <p:nvPr/>
        </p:nvSpPr>
        <p:spPr>
          <a:xfrm>
            <a:off x="3648456" y="4379976"/>
            <a:ext cx="676656" cy="646331"/>
          </a:xfrm>
          <a:prstGeom prst="rect">
            <a:avLst/>
          </a:prstGeom>
          <a:noFill/>
        </p:spPr>
        <p:txBody>
          <a:bodyPr vert="horz" wrap="square" lIns="36576" tIns="36576" rIns="36576" bIns="36576" rtlCol="0" anchor="t">
            <a:noAutofit/>
          </a:bodyPr>
          <a:lstStyle/>
          <a:p>
            <a:pPr algn="ctr"/>
            <a:r>
              <a:rPr lang="es-MX" sz="900" b="1">
                <a:solidFill>
                  <a:srgbClr val="145B33"/>
                </a:solidFill>
                <a:latin typeface="Aptos" panose="020B0004020202020204" pitchFamily="34" charset="0"/>
              </a:rPr>
              <a:t>Alexa</a:t>
            </a:r>
          </a:p>
        </p:txBody>
      </p:sp>
      <p:sp>
        <p:nvSpPr>
          <p:cNvPr id="16" name="Rectángulo: esquinas redondeadas 15">
            <a:extLst>
              <a:ext uri="{FF2B5EF4-FFF2-40B4-BE49-F238E27FC236}">
                <a16:creationId xmlns:a16="http://schemas.microsoft.com/office/drawing/2014/main" id="{6AE9D1BB-49A4-F05A-B5E9-1B69551A1F49}"/>
              </a:ext>
            </a:extLst>
          </p:cNvPr>
          <p:cNvSpPr/>
          <p:nvPr/>
        </p:nvSpPr>
        <p:spPr>
          <a:xfrm>
            <a:off x="4709160" y="502920"/>
            <a:ext cx="6995160" cy="4498848"/>
          </a:xfrm>
          <a:prstGeom prst="roundRect">
            <a:avLst/>
          </a:prstGeom>
          <a:solidFill>
            <a:srgbClr val="FFFFFF"/>
          </a:solidFill>
          <a:ln w="12700">
            <a:solidFill>
              <a:srgbClr val="D9E3DA"/>
            </a:solidFill>
          </a:ln>
          <a:effectLst>
            <a:outerShdw blurRad="101600" dist="28398" dir="3806086" rotWithShape="0">
              <a:scrgbClr r="0" g="0" b="0">
                <a:alpha val="18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8" name="Imagen 17">
            <a:extLst>
              <a:ext uri="{FF2B5EF4-FFF2-40B4-BE49-F238E27FC236}">
                <a16:creationId xmlns:a16="http://schemas.microsoft.com/office/drawing/2014/main" id="{A0D20A31-B6F2-9915-A3E6-36DFB4ED3C76}"/>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818888" y="612648"/>
            <a:ext cx="6775704" cy="4233672"/>
          </a:xfrm>
          <a:prstGeom prst="rect">
            <a:avLst/>
          </a:prstGeom>
        </p:spPr>
      </p:pic>
      <p:sp>
        <p:nvSpPr>
          <p:cNvPr id="19" name="Rectángulo: esquinas redondeadas 18">
            <a:extLst>
              <a:ext uri="{FF2B5EF4-FFF2-40B4-BE49-F238E27FC236}">
                <a16:creationId xmlns:a16="http://schemas.microsoft.com/office/drawing/2014/main" id="{C38066C1-02D6-CF4E-75D3-16631F0DA7E7}"/>
              </a:ext>
            </a:extLst>
          </p:cNvPr>
          <p:cNvSpPr/>
          <p:nvPr/>
        </p:nvSpPr>
        <p:spPr>
          <a:xfrm>
            <a:off x="5102352" y="768096"/>
            <a:ext cx="1755648" cy="283464"/>
          </a:xfrm>
          <a:prstGeom prst="roundRect">
            <a:avLst/>
          </a:prstGeom>
          <a:solidFill>
            <a:srgbClr val="E8F3E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CuadroTexto 19">
            <a:extLst>
              <a:ext uri="{FF2B5EF4-FFF2-40B4-BE49-F238E27FC236}">
                <a16:creationId xmlns:a16="http://schemas.microsoft.com/office/drawing/2014/main" id="{D619BEDF-091E-D33C-B04D-20E5CCC88AA0}"/>
              </a:ext>
            </a:extLst>
          </p:cNvPr>
          <p:cNvSpPr txBox="1"/>
          <p:nvPr/>
        </p:nvSpPr>
        <p:spPr>
          <a:xfrm>
            <a:off x="5138928" y="768096"/>
            <a:ext cx="1682496" cy="923330"/>
          </a:xfrm>
          <a:prstGeom prst="rect">
            <a:avLst/>
          </a:prstGeom>
          <a:noFill/>
        </p:spPr>
        <p:txBody>
          <a:bodyPr vert="horz" wrap="square" lIns="36576" tIns="36576" rIns="36576" bIns="36576" rtlCol="0" anchor="t">
            <a:noAutofit/>
          </a:bodyPr>
          <a:lstStyle/>
          <a:p>
            <a:pPr algn="ctr"/>
            <a:r>
              <a:rPr lang="es-MX" sz="830" b="1">
                <a:solidFill>
                  <a:srgbClr val="145B33"/>
                </a:solidFill>
                <a:latin typeface="Aptos" panose="020B0004020202020204" pitchFamily="34" charset="0"/>
              </a:rPr>
              <a:t>CAPTURA REAL DEL SISTEMA</a:t>
            </a:r>
          </a:p>
        </p:txBody>
      </p:sp>
      <p:sp>
        <p:nvSpPr>
          <p:cNvPr id="21" name="Rectángulo: esquinas redondeadas 20">
            <a:extLst>
              <a:ext uri="{FF2B5EF4-FFF2-40B4-BE49-F238E27FC236}">
                <a16:creationId xmlns:a16="http://schemas.microsoft.com/office/drawing/2014/main" id="{56077C63-3799-06BA-45F4-14A2AD3A30DD}"/>
              </a:ext>
            </a:extLst>
          </p:cNvPr>
          <p:cNvSpPr/>
          <p:nvPr/>
        </p:nvSpPr>
        <p:spPr>
          <a:xfrm>
            <a:off x="4709160" y="5257800"/>
            <a:ext cx="6995160" cy="786384"/>
          </a:xfrm>
          <a:prstGeom prst="roundRect">
            <a:avLst/>
          </a:prstGeom>
          <a:solidFill>
            <a:srgbClr val="145B33"/>
          </a:solidFill>
          <a:ln w="12700">
            <a:solidFill>
              <a:srgbClr val="145B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CuadroTexto 21">
            <a:extLst>
              <a:ext uri="{FF2B5EF4-FFF2-40B4-BE49-F238E27FC236}">
                <a16:creationId xmlns:a16="http://schemas.microsoft.com/office/drawing/2014/main" id="{A882CD6E-BFAE-0FDA-8E36-FCC98F214143}"/>
              </a:ext>
            </a:extLst>
          </p:cNvPr>
          <p:cNvSpPr txBox="1"/>
          <p:nvPr/>
        </p:nvSpPr>
        <p:spPr>
          <a:xfrm>
            <a:off x="5010912" y="5376672"/>
            <a:ext cx="6400800" cy="646331"/>
          </a:xfrm>
          <a:prstGeom prst="rect">
            <a:avLst/>
          </a:prstGeom>
          <a:noFill/>
        </p:spPr>
        <p:txBody>
          <a:bodyPr vert="horz" wrap="square" lIns="36576" tIns="36576" rIns="36576" bIns="36576" rtlCol="0" anchor="t">
            <a:noAutofit/>
          </a:bodyPr>
          <a:lstStyle/>
          <a:p>
            <a:pPr algn="ctr"/>
            <a:r>
              <a:rPr lang="es-MX" sz="1700" b="1">
                <a:solidFill>
                  <a:srgbClr val="FFFFFF"/>
                </a:solidFill>
                <a:latin typeface="Aptos" panose="020B0004020202020204" pitchFamily="34" charset="0"/>
              </a:rPr>
              <a:t>Del sistema transaccional a decisiones personalizadas, predictivas y accionables.</a:t>
            </a:r>
          </a:p>
        </p:txBody>
      </p:sp>
      <p:sp>
        <p:nvSpPr>
          <p:cNvPr id="23" name="CuadroTexto 22">
            <a:extLst>
              <a:ext uri="{FF2B5EF4-FFF2-40B4-BE49-F238E27FC236}">
                <a16:creationId xmlns:a16="http://schemas.microsoft.com/office/drawing/2014/main" id="{43D569EF-2B74-245D-8BBD-0D7C3FCFBB22}"/>
              </a:ext>
            </a:extLst>
          </p:cNvPr>
          <p:cNvSpPr txBox="1"/>
          <p:nvPr/>
        </p:nvSpPr>
        <p:spPr>
          <a:xfrm>
            <a:off x="621792" y="5166360"/>
            <a:ext cx="3886200" cy="646331"/>
          </a:xfrm>
          <a:prstGeom prst="rect">
            <a:avLst/>
          </a:prstGeom>
          <a:noFill/>
        </p:spPr>
        <p:txBody>
          <a:bodyPr vert="horz" wrap="square" lIns="36576" tIns="36576" rIns="36576" bIns="36576" rtlCol="0" anchor="t">
            <a:noAutofit/>
          </a:bodyPr>
          <a:lstStyle/>
          <a:p>
            <a:r>
              <a:rPr lang="es-MX" sz="1050">
                <a:solidFill>
                  <a:srgbClr val="5F6F65"/>
                </a:solidFill>
                <a:latin typeface="Aptos" panose="020B0004020202020204" pitchFamily="34" charset="0"/>
              </a:rPr>
              <a:t>Integrantes: ______________________________</a:t>
            </a:r>
          </a:p>
        </p:txBody>
      </p:sp>
      <p:sp>
        <p:nvSpPr>
          <p:cNvPr id="24" name="CuadroTexto 23">
            <a:extLst>
              <a:ext uri="{FF2B5EF4-FFF2-40B4-BE49-F238E27FC236}">
                <a16:creationId xmlns:a16="http://schemas.microsoft.com/office/drawing/2014/main" id="{983A820B-8E1D-44B1-BD8B-9BB7FCF78071}"/>
              </a:ext>
            </a:extLst>
          </p:cNvPr>
          <p:cNvSpPr txBox="1"/>
          <p:nvPr/>
        </p:nvSpPr>
        <p:spPr>
          <a:xfrm>
            <a:off x="530352" y="6547104"/>
            <a:ext cx="8046720" cy="369332"/>
          </a:xfrm>
          <a:prstGeom prst="rect">
            <a:avLst/>
          </a:prstGeom>
          <a:noFill/>
        </p:spPr>
        <p:txBody>
          <a:bodyPr vert="horz" wrap="square" lIns="36576" tIns="36576" rIns="36576" bIns="36576" rtlCol="0" anchor="t">
            <a:noAutofit/>
          </a:bodyPr>
          <a:lstStyle/>
          <a:p>
            <a:r>
              <a:rPr lang="es-MX" sz="800">
                <a:solidFill>
                  <a:srgbClr val="5F6F65"/>
                </a:solidFill>
                <a:latin typeface="Aptos" panose="020B0004020202020204" pitchFamily="34" charset="0"/>
              </a:rPr>
              <a:t>INHALEX · Propuestas de aprendizaje automático</a:t>
            </a:r>
          </a:p>
        </p:txBody>
      </p:sp>
    </p:spTree>
    <p:extLst>
      <p:ext uri="{BB962C8B-B14F-4D97-AF65-F5344CB8AC3E}">
        <p14:creationId xmlns:p14="http://schemas.microsoft.com/office/powerpoint/2010/main" val="7146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57B3304-B780-975B-C852-1AF1E23CB0A0}"/>
              </a:ext>
            </a:extLst>
          </p:cNvPr>
          <p:cNvSpPr txBox="1"/>
          <p:nvPr/>
        </p:nvSpPr>
        <p:spPr>
          <a:xfrm>
            <a:off x="502920" y="201168"/>
            <a:ext cx="5303520" cy="646331"/>
          </a:xfrm>
          <a:prstGeom prst="rect">
            <a:avLst/>
          </a:prstGeom>
          <a:noFill/>
        </p:spPr>
        <p:txBody>
          <a:bodyPr vert="horz" wrap="square" lIns="36576" tIns="36576" rIns="36576" bIns="36576" rtlCol="0" anchor="t">
            <a:noAutofit/>
          </a:bodyPr>
          <a:lstStyle/>
          <a:p>
            <a:r>
              <a:rPr lang="es-MX" sz="950" b="1">
                <a:solidFill>
                  <a:srgbClr val="087A2B"/>
                </a:solidFill>
                <a:latin typeface="Aptos" panose="020B0004020202020204" pitchFamily="34" charset="0"/>
              </a:rPr>
              <a:t>SISTEMA DE RECOMENDACIÓN · DATASET TRANSACCIONAL</a:t>
            </a:r>
          </a:p>
        </p:txBody>
      </p:sp>
      <p:sp>
        <p:nvSpPr>
          <p:cNvPr id="3" name="CuadroTexto 2">
            <a:extLst>
              <a:ext uri="{FF2B5EF4-FFF2-40B4-BE49-F238E27FC236}">
                <a16:creationId xmlns:a16="http://schemas.microsoft.com/office/drawing/2014/main" id="{208118B3-426E-105D-55BB-25DDB9108078}"/>
              </a:ext>
            </a:extLst>
          </p:cNvPr>
          <p:cNvSpPr txBox="1"/>
          <p:nvPr/>
        </p:nvSpPr>
        <p:spPr>
          <a:xfrm>
            <a:off x="502920" y="438912"/>
            <a:ext cx="9784080" cy="369332"/>
          </a:xfrm>
          <a:prstGeom prst="rect">
            <a:avLst/>
          </a:prstGeom>
          <a:noFill/>
        </p:spPr>
        <p:txBody>
          <a:bodyPr vert="horz" wrap="square" lIns="36576" tIns="36576" rIns="36576" bIns="36576" rtlCol="0" anchor="t">
            <a:noAutofit/>
          </a:bodyPr>
          <a:lstStyle/>
          <a:p>
            <a:r>
              <a:rPr lang="es-MX" sz="2700" b="1">
                <a:solidFill>
                  <a:srgbClr val="142019"/>
                </a:solidFill>
                <a:latin typeface="Aptos" panose="020B0004020202020204" pitchFamily="34" charset="0"/>
              </a:rPr>
              <a:t>Propuesta 1 · Recomendación personalizada de aromas</a:t>
            </a:r>
          </a:p>
        </p:txBody>
      </p:sp>
      <p:sp>
        <p:nvSpPr>
          <p:cNvPr id="4" name="Rectángulo 3">
            <a:extLst>
              <a:ext uri="{FF2B5EF4-FFF2-40B4-BE49-F238E27FC236}">
                <a16:creationId xmlns:a16="http://schemas.microsoft.com/office/drawing/2014/main" id="{2D5865F3-F52C-C0E4-4466-5D7403EFE72F}"/>
              </a:ext>
            </a:extLst>
          </p:cNvPr>
          <p:cNvSpPr/>
          <p:nvPr/>
        </p:nvSpPr>
        <p:spPr>
          <a:xfrm>
            <a:off x="502920" y="987552"/>
            <a:ext cx="11155680" cy="16459"/>
          </a:xfrm>
          <a:prstGeom prst="rect">
            <a:avLst/>
          </a:prstGeom>
          <a:solidFill>
            <a:srgbClr val="D9E3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Elipse 4">
            <a:extLst>
              <a:ext uri="{FF2B5EF4-FFF2-40B4-BE49-F238E27FC236}">
                <a16:creationId xmlns:a16="http://schemas.microsoft.com/office/drawing/2014/main" id="{C1B38840-6F67-BDD6-EEF0-1716350C5A9B}"/>
              </a:ext>
            </a:extLst>
          </p:cNvPr>
          <p:cNvSpPr/>
          <p:nvPr/>
        </p:nvSpPr>
        <p:spPr>
          <a:xfrm>
            <a:off x="11283696" y="283464"/>
            <a:ext cx="356616" cy="356616"/>
          </a:xfrm>
          <a:prstGeom prst="ellipse">
            <a:avLst/>
          </a:prstGeom>
          <a:solidFill>
            <a:srgbClr val="087A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CEA0C93C-98E3-D7DF-C646-DDA711C57FDF}"/>
              </a:ext>
            </a:extLst>
          </p:cNvPr>
          <p:cNvSpPr txBox="1"/>
          <p:nvPr/>
        </p:nvSpPr>
        <p:spPr>
          <a:xfrm>
            <a:off x="11311128" y="301752"/>
            <a:ext cx="329184" cy="369332"/>
          </a:xfrm>
          <a:prstGeom prst="rect">
            <a:avLst/>
          </a:prstGeom>
          <a:noFill/>
        </p:spPr>
        <p:txBody>
          <a:bodyPr vert="horz" wrap="square" lIns="36576" tIns="36576" rIns="36576" bIns="36576" rtlCol="0" anchor="t">
            <a:noAutofit/>
          </a:bodyPr>
          <a:lstStyle/>
          <a:p>
            <a:pPr algn="ctr"/>
            <a:r>
              <a:rPr lang="es-MX" sz="1100" b="1">
                <a:solidFill>
                  <a:srgbClr val="FFFFFF"/>
                </a:solidFill>
                <a:latin typeface="Aptos" panose="020B0004020202020204" pitchFamily="34" charset="0"/>
              </a:rPr>
              <a:t>2</a:t>
            </a:r>
          </a:p>
        </p:txBody>
      </p:sp>
      <p:sp>
        <p:nvSpPr>
          <p:cNvPr id="7" name="Rectángulo: esquinas redondeadas 6">
            <a:extLst>
              <a:ext uri="{FF2B5EF4-FFF2-40B4-BE49-F238E27FC236}">
                <a16:creationId xmlns:a16="http://schemas.microsoft.com/office/drawing/2014/main" id="{91D200C6-D227-609D-B60F-6ADD9457C31B}"/>
              </a:ext>
            </a:extLst>
          </p:cNvPr>
          <p:cNvSpPr/>
          <p:nvPr/>
        </p:nvSpPr>
        <p:spPr>
          <a:xfrm>
            <a:off x="9189720" y="475488"/>
            <a:ext cx="1600200" cy="292608"/>
          </a:xfrm>
          <a:prstGeom prst="roundRect">
            <a:avLst/>
          </a:prstGeom>
          <a:solidFill>
            <a:srgbClr val="E8F3E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CuadroTexto 7">
            <a:extLst>
              <a:ext uri="{FF2B5EF4-FFF2-40B4-BE49-F238E27FC236}">
                <a16:creationId xmlns:a16="http://schemas.microsoft.com/office/drawing/2014/main" id="{455220CE-0B1D-577D-E47C-3C977C2E5788}"/>
              </a:ext>
            </a:extLst>
          </p:cNvPr>
          <p:cNvSpPr txBox="1"/>
          <p:nvPr/>
        </p:nvSpPr>
        <p:spPr>
          <a:xfrm>
            <a:off x="9226296" y="475488"/>
            <a:ext cx="1527048" cy="646331"/>
          </a:xfrm>
          <a:prstGeom prst="rect">
            <a:avLst/>
          </a:prstGeom>
          <a:noFill/>
        </p:spPr>
        <p:txBody>
          <a:bodyPr vert="horz" wrap="square" lIns="36576" tIns="36576" rIns="36576" bIns="36576" rtlCol="0" anchor="t">
            <a:noAutofit/>
          </a:bodyPr>
          <a:lstStyle/>
          <a:p>
            <a:pPr algn="ctr"/>
            <a:r>
              <a:rPr lang="es-MX" sz="880" b="1">
                <a:solidFill>
                  <a:srgbClr val="145B33"/>
                </a:solidFill>
                <a:latin typeface="Aptos" panose="020B0004020202020204" pitchFamily="34" charset="0"/>
              </a:rPr>
              <a:t>22,274 interacciones</a:t>
            </a:r>
          </a:p>
        </p:txBody>
      </p:sp>
      <p:sp>
        <p:nvSpPr>
          <p:cNvPr id="9" name="CuadroTexto 8">
            <a:extLst>
              <a:ext uri="{FF2B5EF4-FFF2-40B4-BE49-F238E27FC236}">
                <a16:creationId xmlns:a16="http://schemas.microsoft.com/office/drawing/2014/main" id="{B109594D-D5C3-6335-4304-71E4FE56D302}"/>
              </a:ext>
            </a:extLst>
          </p:cNvPr>
          <p:cNvSpPr txBox="1"/>
          <p:nvPr/>
        </p:nvSpPr>
        <p:spPr>
          <a:xfrm>
            <a:off x="530352" y="1115568"/>
            <a:ext cx="2834640" cy="646331"/>
          </a:xfrm>
          <a:prstGeom prst="rect">
            <a:avLst/>
          </a:prstGeom>
          <a:noFill/>
        </p:spPr>
        <p:txBody>
          <a:bodyPr vert="horz" wrap="square" lIns="36576" tIns="36576" rIns="36576" bIns="36576" rtlCol="0" anchor="t">
            <a:noAutofit/>
          </a:bodyPr>
          <a:lstStyle/>
          <a:p>
            <a:pPr algn="ctr"/>
            <a:r>
              <a:rPr lang="es-MX" sz="1050" b="1">
                <a:solidFill>
                  <a:srgbClr val="234C7A"/>
                </a:solidFill>
                <a:latin typeface="Aptos" panose="020B0004020202020204" pitchFamily="34" charset="0"/>
              </a:rPr>
              <a:t>COLECCIONES MONGODB</a:t>
            </a:r>
          </a:p>
        </p:txBody>
      </p:sp>
      <p:sp>
        <p:nvSpPr>
          <p:cNvPr id="10" name="Rectángulo: esquinas redondeadas 9">
            <a:extLst>
              <a:ext uri="{FF2B5EF4-FFF2-40B4-BE49-F238E27FC236}">
                <a16:creationId xmlns:a16="http://schemas.microsoft.com/office/drawing/2014/main" id="{73FA2F1E-8E79-45DA-F24F-BD42248ED629}"/>
              </a:ext>
            </a:extLst>
          </p:cNvPr>
          <p:cNvSpPr/>
          <p:nvPr/>
        </p:nvSpPr>
        <p:spPr>
          <a:xfrm>
            <a:off x="530352" y="1417320"/>
            <a:ext cx="2697480" cy="960120"/>
          </a:xfrm>
          <a:prstGeom prst="roundRect">
            <a:avLst/>
          </a:prstGeom>
          <a:solidFill>
            <a:srgbClr val="FFFFFF"/>
          </a:solidFill>
          <a:ln w="13970">
            <a:solidFill>
              <a:srgbClr val="234C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esquinas redondeadas 10">
            <a:extLst>
              <a:ext uri="{FF2B5EF4-FFF2-40B4-BE49-F238E27FC236}">
                <a16:creationId xmlns:a16="http://schemas.microsoft.com/office/drawing/2014/main" id="{B0050DB5-0A2F-6130-7BC7-D38D154421F0}"/>
              </a:ext>
            </a:extLst>
          </p:cNvPr>
          <p:cNvSpPr/>
          <p:nvPr/>
        </p:nvSpPr>
        <p:spPr>
          <a:xfrm>
            <a:off x="530352" y="1417320"/>
            <a:ext cx="2697480" cy="292608"/>
          </a:xfrm>
          <a:prstGeom prst="roundRect">
            <a:avLst/>
          </a:prstGeom>
          <a:solidFill>
            <a:srgbClr val="234C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CuadroTexto 11">
            <a:extLst>
              <a:ext uri="{FF2B5EF4-FFF2-40B4-BE49-F238E27FC236}">
                <a16:creationId xmlns:a16="http://schemas.microsoft.com/office/drawing/2014/main" id="{055A0F88-524A-A727-D02B-63FAC7D62473}"/>
              </a:ext>
            </a:extLst>
          </p:cNvPr>
          <p:cNvSpPr txBox="1"/>
          <p:nvPr/>
        </p:nvSpPr>
        <p:spPr>
          <a:xfrm>
            <a:off x="621792" y="1426464"/>
            <a:ext cx="2514600" cy="369332"/>
          </a:xfrm>
          <a:prstGeom prst="rect">
            <a:avLst/>
          </a:prstGeom>
          <a:noFill/>
        </p:spPr>
        <p:txBody>
          <a:bodyPr vert="horz" wrap="square" lIns="36576" tIns="36576" rIns="36576" bIns="36576" rtlCol="0" anchor="t">
            <a:noAutofit/>
          </a:bodyPr>
          <a:lstStyle/>
          <a:p>
            <a:pPr algn="ctr"/>
            <a:r>
              <a:rPr lang="es-MX" sz="1150" b="1">
                <a:solidFill>
                  <a:srgbClr val="FFFFFF"/>
                </a:solidFill>
                <a:latin typeface="Aptos" panose="020B0004020202020204" pitchFamily="34" charset="0"/>
              </a:rPr>
              <a:t>usuarios</a:t>
            </a:r>
          </a:p>
        </p:txBody>
      </p:sp>
      <p:sp>
        <p:nvSpPr>
          <p:cNvPr id="13" name="CuadroTexto 12">
            <a:extLst>
              <a:ext uri="{FF2B5EF4-FFF2-40B4-BE49-F238E27FC236}">
                <a16:creationId xmlns:a16="http://schemas.microsoft.com/office/drawing/2014/main" id="{9934E8E2-7ED6-68C2-EF96-9F7F34C18ACA}"/>
              </a:ext>
            </a:extLst>
          </p:cNvPr>
          <p:cNvSpPr txBox="1"/>
          <p:nvPr/>
        </p:nvSpPr>
        <p:spPr>
          <a:xfrm>
            <a:off x="640080" y="1755648"/>
            <a:ext cx="2478024" cy="646331"/>
          </a:xfrm>
          <a:prstGeom prst="rect">
            <a:avLst/>
          </a:prstGeom>
          <a:noFill/>
        </p:spPr>
        <p:txBody>
          <a:bodyPr vert="horz" wrap="square" lIns="36576" tIns="36576" rIns="36576" bIns="36576" rtlCol="0" anchor="t">
            <a:noAutofit/>
          </a:bodyPr>
          <a:lstStyle/>
          <a:p>
            <a:r>
              <a:rPr lang="es-MX" sz="930">
                <a:solidFill>
                  <a:srgbClr val="142019"/>
                </a:solidFill>
                <a:latin typeface="Aptos" panose="020B0004020202020204" pitchFamily="34" charset="0"/>
              </a:rPr>
              <a:t>• favoriteProductIds[]
• cartItems[].productId</a:t>
            </a:r>
          </a:p>
        </p:txBody>
      </p:sp>
      <p:sp>
        <p:nvSpPr>
          <p:cNvPr id="14" name="Rectángulo: esquinas redondeadas 13">
            <a:extLst>
              <a:ext uri="{FF2B5EF4-FFF2-40B4-BE49-F238E27FC236}">
                <a16:creationId xmlns:a16="http://schemas.microsoft.com/office/drawing/2014/main" id="{CF24E9A3-EE3B-8E9A-8FDE-ED5E9A4976AC}"/>
              </a:ext>
            </a:extLst>
          </p:cNvPr>
          <p:cNvSpPr/>
          <p:nvPr/>
        </p:nvSpPr>
        <p:spPr>
          <a:xfrm>
            <a:off x="530352" y="2487168"/>
            <a:ext cx="2697480" cy="1078992"/>
          </a:xfrm>
          <a:prstGeom prst="roundRect">
            <a:avLst/>
          </a:prstGeom>
          <a:solidFill>
            <a:srgbClr val="FFFFFF"/>
          </a:solidFill>
          <a:ln w="13970">
            <a:solidFill>
              <a:srgbClr val="234C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Rectángulo: esquinas redondeadas 14">
            <a:extLst>
              <a:ext uri="{FF2B5EF4-FFF2-40B4-BE49-F238E27FC236}">
                <a16:creationId xmlns:a16="http://schemas.microsoft.com/office/drawing/2014/main" id="{44AE5E68-1CC3-2300-2C71-83721EE8E993}"/>
              </a:ext>
            </a:extLst>
          </p:cNvPr>
          <p:cNvSpPr/>
          <p:nvPr/>
        </p:nvSpPr>
        <p:spPr>
          <a:xfrm>
            <a:off x="530352" y="2487168"/>
            <a:ext cx="2697480" cy="292608"/>
          </a:xfrm>
          <a:prstGeom prst="roundRect">
            <a:avLst/>
          </a:prstGeom>
          <a:solidFill>
            <a:srgbClr val="234C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CuadroTexto 15">
            <a:extLst>
              <a:ext uri="{FF2B5EF4-FFF2-40B4-BE49-F238E27FC236}">
                <a16:creationId xmlns:a16="http://schemas.microsoft.com/office/drawing/2014/main" id="{BACB6EED-6F23-D2A6-8C50-B48656586C48}"/>
              </a:ext>
            </a:extLst>
          </p:cNvPr>
          <p:cNvSpPr txBox="1"/>
          <p:nvPr/>
        </p:nvSpPr>
        <p:spPr>
          <a:xfrm>
            <a:off x="621792" y="2496312"/>
            <a:ext cx="2514600" cy="369332"/>
          </a:xfrm>
          <a:prstGeom prst="rect">
            <a:avLst/>
          </a:prstGeom>
          <a:noFill/>
        </p:spPr>
        <p:txBody>
          <a:bodyPr vert="horz" wrap="square" lIns="36576" tIns="36576" rIns="36576" bIns="36576" rtlCol="0" anchor="t">
            <a:noAutofit/>
          </a:bodyPr>
          <a:lstStyle/>
          <a:p>
            <a:pPr algn="ctr"/>
            <a:r>
              <a:rPr lang="es-MX" sz="1150" b="1">
                <a:solidFill>
                  <a:srgbClr val="FFFFFF"/>
                </a:solidFill>
                <a:latin typeface="Aptos" panose="020B0004020202020204" pitchFamily="34" charset="0"/>
              </a:rPr>
              <a:t>pedidos</a:t>
            </a:r>
          </a:p>
        </p:txBody>
      </p:sp>
      <p:sp>
        <p:nvSpPr>
          <p:cNvPr id="17" name="CuadroTexto 16">
            <a:extLst>
              <a:ext uri="{FF2B5EF4-FFF2-40B4-BE49-F238E27FC236}">
                <a16:creationId xmlns:a16="http://schemas.microsoft.com/office/drawing/2014/main" id="{74F51295-D7B6-487A-4FF9-2E4CEBEBA955}"/>
              </a:ext>
            </a:extLst>
          </p:cNvPr>
          <p:cNvSpPr txBox="1"/>
          <p:nvPr/>
        </p:nvSpPr>
        <p:spPr>
          <a:xfrm>
            <a:off x="640080" y="2825496"/>
            <a:ext cx="2478024" cy="1200329"/>
          </a:xfrm>
          <a:prstGeom prst="rect">
            <a:avLst/>
          </a:prstGeom>
          <a:noFill/>
        </p:spPr>
        <p:txBody>
          <a:bodyPr vert="horz" wrap="square" lIns="36576" tIns="36576" rIns="36576" bIns="36576" rtlCol="0" anchor="t">
            <a:noAutofit/>
          </a:bodyPr>
          <a:lstStyle/>
          <a:p>
            <a:r>
              <a:rPr lang="en-US" sz="930">
                <a:solidFill>
                  <a:srgbClr val="142019"/>
                </a:solidFill>
                <a:latin typeface="Aptos" panose="020B0004020202020204" pitchFamily="34" charset="0"/>
              </a:rPr>
              <a:t>• customerUserId
• items[].productId / quantity
• createdAt / status</a:t>
            </a:r>
            <a:endParaRPr lang="es-MX" sz="930">
              <a:solidFill>
                <a:srgbClr val="142019"/>
              </a:solidFill>
              <a:latin typeface="Aptos" panose="020B0004020202020204" pitchFamily="34" charset="0"/>
            </a:endParaRPr>
          </a:p>
        </p:txBody>
      </p:sp>
      <p:sp>
        <p:nvSpPr>
          <p:cNvPr id="18" name="Rectángulo: esquinas redondeadas 17">
            <a:extLst>
              <a:ext uri="{FF2B5EF4-FFF2-40B4-BE49-F238E27FC236}">
                <a16:creationId xmlns:a16="http://schemas.microsoft.com/office/drawing/2014/main" id="{DCE1BB30-7BFA-7883-7955-D41686376A7F}"/>
              </a:ext>
            </a:extLst>
          </p:cNvPr>
          <p:cNvSpPr/>
          <p:nvPr/>
        </p:nvSpPr>
        <p:spPr>
          <a:xfrm>
            <a:off x="530352" y="3675888"/>
            <a:ext cx="2697480" cy="960120"/>
          </a:xfrm>
          <a:prstGeom prst="roundRect">
            <a:avLst/>
          </a:prstGeom>
          <a:solidFill>
            <a:srgbClr val="FFFFFF"/>
          </a:solidFill>
          <a:ln w="13970">
            <a:solidFill>
              <a:srgbClr val="234C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Rectángulo: esquinas redondeadas 18">
            <a:extLst>
              <a:ext uri="{FF2B5EF4-FFF2-40B4-BE49-F238E27FC236}">
                <a16:creationId xmlns:a16="http://schemas.microsoft.com/office/drawing/2014/main" id="{76500A67-B478-1C07-6C27-E453E388C539}"/>
              </a:ext>
            </a:extLst>
          </p:cNvPr>
          <p:cNvSpPr/>
          <p:nvPr/>
        </p:nvSpPr>
        <p:spPr>
          <a:xfrm>
            <a:off x="530352" y="3675888"/>
            <a:ext cx="2697480" cy="292608"/>
          </a:xfrm>
          <a:prstGeom prst="roundRect">
            <a:avLst/>
          </a:prstGeom>
          <a:solidFill>
            <a:srgbClr val="234C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CuadroTexto 19">
            <a:extLst>
              <a:ext uri="{FF2B5EF4-FFF2-40B4-BE49-F238E27FC236}">
                <a16:creationId xmlns:a16="http://schemas.microsoft.com/office/drawing/2014/main" id="{2BD65892-ECB8-D2EF-5BFE-84B046CD7AB6}"/>
              </a:ext>
            </a:extLst>
          </p:cNvPr>
          <p:cNvSpPr txBox="1"/>
          <p:nvPr/>
        </p:nvSpPr>
        <p:spPr>
          <a:xfrm>
            <a:off x="621792" y="3685032"/>
            <a:ext cx="2514600" cy="369332"/>
          </a:xfrm>
          <a:prstGeom prst="rect">
            <a:avLst/>
          </a:prstGeom>
          <a:noFill/>
        </p:spPr>
        <p:txBody>
          <a:bodyPr vert="horz" wrap="square" lIns="36576" tIns="36576" rIns="36576" bIns="36576" rtlCol="0" anchor="t">
            <a:noAutofit/>
          </a:bodyPr>
          <a:lstStyle/>
          <a:p>
            <a:pPr algn="ctr"/>
            <a:r>
              <a:rPr lang="es-MX" sz="1150" b="1">
                <a:solidFill>
                  <a:srgbClr val="FFFFFF"/>
                </a:solidFill>
                <a:latin typeface="Aptos" panose="020B0004020202020204" pitchFamily="34" charset="0"/>
              </a:rPr>
              <a:t>reseñas_producto</a:t>
            </a:r>
          </a:p>
        </p:txBody>
      </p:sp>
      <p:sp>
        <p:nvSpPr>
          <p:cNvPr id="21" name="CuadroTexto 20">
            <a:extLst>
              <a:ext uri="{FF2B5EF4-FFF2-40B4-BE49-F238E27FC236}">
                <a16:creationId xmlns:a16="http://schemas.microsoft.com/office/drawing/2014/main" id="{794B6A3E-01C2-357D-DE06-E036B29DDCCB}"/>
              </a:ext>
            </a:extLst>
          </p:cNvPr>
          <p:cNvSpPr txBox="1"/>
          <p:nvPr/>
        </p:nvSpPr>
        <p:spPr>
          <a:xfrm>
            <a:off x="640080" y="4014216"/>
            <a:ext cx="2478024" cy="646331"/>
          </a:xfrm>
          <a:prstGeom prst="rect">
            <a:avLst/>
          </a:prstGeom>
          <a:noFill/>
        </p:spPr>
        <p:txBody>
          <a:bodyPr vert="horz" wrap="square" lIns="36576" tIns="36576" rIns="36576" bIns="36576" rtlCol="0" anchor="t">
            <a:noAutofit/>
          </a:bodyPr>
          <a:lstStyle/>
          <a:p>
            <a:r>
              <a:rPr lang="es-MX" sz="930">
                <a:solidFill>
                  <a:srgbClr val="142019"/>
                </a:solidFill>
                <a:latin typeface="Aptos" panose="020B0004020202020204" pitchFamily="34" charset="0"/>
              </a:rPr>
              <a:t>• userId / productId
• rating / createdAt</a:t>
            </a:r>
          </a:p>
        </p:txBody>
      </p:sp>
      <p:sp>
        <p:nvSpPr>
          <p:cNvPr id="22" name="Rectángulo: esquinas redondeadas 21">
            <a:extLst>
              <a:ext uri="{FF2B5EF4-FFF2-40B4-BE49-F238E27FC236}">
                <a16:creationId xmlns:a16="http://schemas.microsoft.com/office/drawing/2014/main" id="{DA1D8C86-2283-634D-D982-985B2B8A49E8}"/>
              </a:ext>
            </a:extLst>
          </p:cNvPr>
          <p:cNvSpPr/>
          <p:nvPr/>
        </p:nvSpPr>
        <p:spPr>
          <a:xfrm>
            <a:off x="530352" y="4745736"/>
            <a:ext cx="2697480" cy="960120"/>
          </a:xfrm>
          <a:prstGeom prst="roundRect">
            <a:avLst/>
          </a:prstGeom>
          <a:solidFill>
            <a:srgbClr val="FFFFFF"/>
          </a:solidFill>
          <a:ln w="13970">
            <a:solidFill>
              <a:srgbClr val="234C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Rectángulo: esquinas redondeadas 22">
            <a:extLst>
              <a:ext uri="{FF2B5EF4-FFF2-40B4-BE49-F238E27FC236}">
                <a16:creationId xmlns:a16="http://schemas.microsoft.com/office/drawing/2014/main" id="{0851CC18-8DA8-40E5-BCB6-0749EBCA5CCD}"/>
              </a:ext>
            </a:extLst>
          </p:cNvPr>
          <p:cNvSpPr/>
          <p:nvPr/>
        </p:nvSpPr>
        <p:spPr>
          <a:xfrm>
            <a:off x="530352" y="4745736"/>
            <a:ext cx="2697480" cy="292608"/>
          </a:xfrm>
          <a:prstGeom prst="roundRect">
            <a:avLst/>
          </a:prstGeom>
          <a:solidFill>
            <a:srgbClr val="234C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4" name="CuadroTexto 23">
            <a:extLst>
              <a:ext uri="{FF2B5EF4-FFF2-40B4-BE49-F238E27FC236}">
                <a16:creationId xmlns:a16="http://schemas.microsoft.com/office/drawing/2014/main" id="{A6FB0E48-22BF-85B9-048C-E18936A0C595}"/>
              </a:ext>
            </a:extLst>
          </p:cNvPr>
          <p:cNvSpPr txBox="1"/>
          <p:nvPr/>
        </p:nvSpPr>
        <p:spPr>
          <a:xfrm>
            <a:off x="621792" y="4754880"/>
            <a:ext cx="2514600" cy="369332"/>
          </a:xfrm>
          <a:prstGeom prst="rect">
            <a:avLst/>
          </a:prstGeom>
          <a:noFill/>
        </p:spPr>
        <p:txBody>
          <a:bodyPr vert="horz" wrap="square" lIns="36576" tIns="36576" rIns="36576" bIns="36576" rtlCol="0" anchor="t">
            <a:noAutofit/>
          </a:bodyPr>
          <a:lstStyle/>
          <a:p>
            <a:pPr algn="ctr"/>
            <a:r>
              <a:rPr lang="es-MX" sz="1150" b="1">
                <a:solidFill>
                  <a:srgbClr val="FFFFFF"/>
                </a:solidFill>
                <a:latin typeface="Aptos" panose="020B0004020202020204" pitchFamily="34" charset="0"/>
              </a:rPr>
              <a:t>productos</a:t>
            </a:r>
          </a:p>
        </p:txBody>
      </p:sp>
      <p:sp>
        <p:nvSpPr>
          <p:cNvPr id="25" name="CuadroTexto 24">
            <a:extLst>
              <a:ext uri="{FF2B5EF4-FFF2-40B4-BE49-F238E27FC236}">
                <a16:creationId xmlns:a16="http://schemas.microsoft.com/office/drawing/2014/main" id="{F524D4DD-7507-DFF5-60EA-1FC4EE79049B}"/>
              </a:ext>
            </a:extLst>
          </p:cNvPr>
          <p:cNvSpPr txBox="1"/>
          <p:nvPr/>
        </p:nvSpPr>
        <p:spPr>
          <a:xfrm>
            <a:off x="640080" y="5084064"/>
            <a:ext cx="2478024" cy="646331"/>
          </a:xfrm>
          <a:prstGeom prst="rect">
            <a:avLst/>
          </a:prstGeom>
          <a:noFill/>
        </p:spPr>
        <p:txBody>
          <a:bodyPr vert="horz" wrap="square" lIns="36576" tIns="36576" rIns="36576" bIns="36576" rtlCol="0" anchor="t">
            <a:noAutofit/>
          </a:bodyPr>
          <a:lstStyle/>
          <a:p>
            <a:r>
              <a:rPr lang="es-MX" sz="930">
                <a:solidFill>
                  <a:srgbClr val="142019"/>
                </a:solidFill>
                <a:latin typeface="Aptos" panose="020B0004020202020204" pitchFamily="34" charset="0"/>
              </a:rPr>
              <a:t>• category
• aromas[] / benefits[]</a:t>
            </a:r>
          </a:p>
        </p:txBody>
      </p:sp>
      <p:sp>
        <p:nvSpPr>
          <p:cNvPr id="26" name="Flecha: a la derecha 25">
            <a:extLst>
              <a:ext uri="{FF2B5EF4-FFF2-40B4-BE49-F238E27FC236}">
                <a16:creationId xmlns:a16="http://schemas.microsoft.com/office/drawing/2014/main" id="{7F785693-FE5F-345A-68B9-C636232246B9}"/>
              </a:ext>
            </a:extLst>
          </p:cNvPr>
          <p:cNvSpPr/>
          <p:nvPr/>
        </p:nvSpPr>
        <p:spPr>
          <a:xfrm>
            <a:off x="3401568" y="2761488"/>
            <a:ext cx="987552" cy="1170432"/>
          </a:xfrm>
          <a:prstGeom prst="rightArrow">
            <a:avLst/>
          </a:prstGeom>
          <a:solidFill>
            <a:srgbClr val="087A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CuadroTexto 26">
            <a:extLst>
              <a:ext uri="{FF2B5EF4-FFF2-40B4-BE49-F238E27FC236}">
                <a16:creationId xmlns:a16="http://schemas.microsoft.com/office/drawing/2014/main" id="{ACAB2271-1728-1E8C-7AF2-60CB79842C4A}"/>
              </a:ext>
            </a:extLst>
          </p:cNvPr>
          <p:cNvSpPr txBox="1"/>
          <p:nvPr/>
        </p:nvSpPr>
        <p:spPr>
          <a:xfrm>
            <a:off x="3438144" y="3026664"/>
            <a:ext cx="832104" cy="2031325"/>
          </a:xfrm>
          <a:prstGeom prst="rect">
            <a:avLst/>
          </a:prstGeom>
          <a:noFill/>
        </p:spPr>
        <p:txBody>
          <a:bodyPr vert="horz" wrap="square" lIns="36576" tIns="36576" rIns="36576" bIns="36576" rtlCol="0" anchor="t">
            <a:noAutofit/>
          </a:bodyPr>
          <a:lstStyle/>
          <a:p>
            <a:pPr algn="ctr"/>
            <a:r>
              <a:rPr lang="es-MX" sz="770" b="1">
                <a:solidFill>
                  <a:srgbClr val="FFFFFF"/>
                </a:solidFill>
                <a:latin typeface="Aptos" panose="020B0004020202020204" pitchFamily="34" charset="0"/>
              </a:rPr>
              <a:t>DESANIDAR
UNIR POR ID
PONDERAR</a:t>
            </a:r>
          </a:p>
        </p:txBody>
      </p:sp>
      <p:sp>
        <p:nvSpPr>
          <p:cNvPr id="28" name="CuadroTexto 27">
            <a:extLst>
              <a:ext uri="{FF2B5EF4-FFF2-40B4-BE49-F238E27FC236}">
                <a16:creationId xmlns:a16="http://schemas.microsoft.com/office/drawing/2014/main" id="{15B48CA9-6519-4C2D-7894-F6D1CA36C9DC}"/>
              </a:ext>
            </a:extLst>
          </p:cNvPr>
          <p:cNvSpPr txBox="1"/>
          <p:nvPr/>
        </p:nvSpPr>
        <p:spPr>
          <a:xfrm>
            <a:off x="3246120" y="4059936"/>
            <a:ext cx="1325880" cy="1200329"/>
          </a:xfrm>
          <a:prstGeom prst="rect">
            <a:avLst/>
          </a:prstGeom>
          <a:noFill/>
        </p:spPr>
        <p:txBody>
          <a:bodyPr vert="horz" wrap="square" lIns="36576" tIns="36576" rIns="36576" bIns="36576" rtlCol="0" anchor="t">
            <a:noAutofit/>
          </a:bodyPr>
          <a:lstStyle/>
          <a:p>
            <a:pPr algn="ctr"/>
            <a:r>
              <a:rPr lang="es-MX" sz="820">
                <a:solidFill>
                  <a:srgbClr val="5F6F65"/>
                </a:solidFill>
                <a:latin typeface="Aptos" panose="020B0004020202020204" pitchFamily="34" charset="0"/>
              </a:rPr>
              <a:t>Relaciones lógicas por identificador</a:t>
            </a:r>
          </a:p>
        </p:txBody>
      </p:sp>
      <p:sp>
        <p:nvSpPr>
          <p:cNvPr id="29" name="Rectángulo: esquinas redondeadas 28">
            <a:extLst>
              <a:ext uri="{FF2B5EF4-FFF2-40B4-BE49-F238E27FC236}">
                <a16:creationId xmlns:a16="http://schemas.microsoft.com/office/drawing/2014/main" id="{3CFB39EF-2A8B-6AD2-47BC-F261E1FCD31C}"/>
              </a:ext>
            </a:extLst>
          </p:cNvPr>
          <p:cNvSpPr/>
          <p:nvPr/>
        </p:nvSpPr>
        <p:spPr>
          <a:xfrm>
            <a:off x="4553712" y="1243584"/>
            <a:ext cx="7114032" cy="4983480"/>
          </a:xfrm>
          <a:prstGeom prst="roundRect">
            <a:avLst/>
          </a:prstGeom>
          <a:solidFill>
            <a:srgbClr val="FFFFFF"/>
          </a:solidFill>
          <a:ln w="12700">
            <a:solidFill>
              <a:srgbClr val="D9E3DA"/>
            </a:solidFill>
          </a:ln>
          <a:effectLst>
            <a:outerShdw blurRad="101600" dist="28398" dir="3806086" rotWithShape="0">
              <a:scrgbClr r="0" g="0" b="0">
                <a:alpha val="18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0" name="CuadroTexto 29">
            <a:extLst>
              <a:ext uri="{FF2B5EF4-FFF2-40B4-BE49-F238E27FC236}">
                <a16:creationId xmlns:a16="http://schemas.microsoft.com/office/drawing/2014/main" id="{BE9727CC-7D51-7ED8-D8EF-0E9D73738ACC}"/>
              </a:ext>
            </a:extLst>
          </p:cNvPr>
          <p:cNvSpPr txBox="1"/>
          <p:nvPr/>
        </p:nvSpPr>
        <p:spPr>
          <a:xfrm>
            <a:off x="4773168" y="1399032"/>
            <a:ext cx="6629400" cy="646331"/>
          </a:xfrm>
          <a:prstGeom prst="rect">
            <a:avLst/>
          </a:prstGeom>
          <a:noFill/>
        </p:spPr>
        <p:txBody>
          <a:bodyPr vert="horz" wrap="square" lIns="36576" tIns="36576" rIns="36576" bIns="36576" rtlCol="0" anchor="t">
            <a:noAutofit/>
          </a:bodyPr>
          <a:lstStyle/>
          <a:p>
            <a:r>
              <a:rPr lang="es-MX" sz="1500" b="1">
                <a:solidFill>
                  <a:srgbClr val="145B33"/>
                </a:solidFill>
                <a:latin typeface="Aptos" panose="020B0004020202020204" pitchFamily="34" charset="0"/>
              </a:rPr>
              <a:t>Dataset transaccional · una fila por producto dentro de una compra</a:t>
            </a:r>
          </a:p>
        </p:txBody>
      </p:sp>
      <p:graphicFrame>
        <p:nvGraphicFramePr>
          <p:cNvPr id="31" name="Tabla 30">
            <a:extLst>
              <a:ext uri="{FF2B5EF4-FFF2-40B4-BE49-F238E27FC236}">
                <a16:creationId xmlns:a16="http://schemas.microsoft.com/office/drawing/2014/main" id="{4320F19C-6CDA-3EF2-4929-9A1E56D33B49}"/>
              </a:ext>
            </a:extLst>
          </p:cNvPr>
          <p:cNvGraphicFramePr>
            <a:graphicFrameLocks noGrp="1"/>
          </p:cNvGraphicFramePr>
          <p:nvPr>
            <p:extLst>
              <p:ext uri="{D42A27DB-BD31-4B8C-83A1-F6EECF244321}">
                <p14:modId xmlns:p14="http://schemas.microsoft.com/office/powerpoint/2010/main" val="1062787282"/>
              </p:ext>
            </p:extLst>
          </p:nvPr>
        </p:nvGraphicFramePr>
        <p:xfrm>
          <a:off x="4773168" y="1810512"/>
          <a:ext cx="6135624" cy="1161288"/>
        </p:xfrm>
        <a:graphic>
          <a:graphicData uri="http://schemas.openxmlformats.org/drawingml/2006/table">
            <a:tbl>
              <a:tblPr firstRow="1" bandRow="1">
                <a:tableStyleId>{5C22544A-7EE6-4342-B048-85BDC9FD1C3A}</a:tableStyleId>
              </a:tblPr>
              <a:tblGrid>
                <a:gridCol w="1298448">
                  <a:extLst>
                    <a:ext uri="{9D8B030D-6E8A-4147-A177-3AD203B41FA5}">
                      <a16:colId xmlns:a16="http://schemas.microsoft.com/office/drawing/2014/main" val="776104935"/>
                    </a:ext>
                  </a:extLst>
                </a:gridCol>
                <a:gridCol w="1417320">
                  <a:extLst>
                    <a:ext uri="{9D8B030D-6E8A-4147-A177-3AD203B41FA5}">
                      <a16:colId xmlns:a16="http://schemas.microsoft.com/office/drawing/2014/main" val="940329862"/>
                    </a:ext>
                  </a:extLst>
                </a:gridCol>
                <a:gridCol w="1078992">
                  <a:extLst>
                    <a:ext uri="{9D8B030D-6E8A-4147-A177-3AD203B41FA5}">
                      <a16:colId xmlns:a16="http://schemas.microsoft.com/office/drawing/2014/main" val="3336660655"/>
                    </a:ext>
                  </a:extLst>
                </a:gridCol>
                <a:gridCol w="987552">
                  <a:extLst>
                    <a:ext uri="{9D8B030D-6E8A-4147-A177-3AD203B41FA5}">
                      <a16:colId xmlns:a16="http://schemas.microsoft.com/office/drawing/2014/main" val="605160476"/>
                    </a:ext>
                  </a:extLst>
                </a:gridCol>
                <a:gridCol w="731520">
                  <a:extLst>
                    <a:ext uri="{9D8B030D-6E8A-4147-A177-3AD203B41FA5}">
                      <a16:colId xmlns:a16="http://schemas.microsoft.com/office/drawing/2014/main" val="4079394500"/>
                    </a:ext>
                  </a:extLst>
                </a:gridCol>
                <a:gridCol w="621792">
                  <a:extLst>
                    <a:ext uri="{9D8B030D-6E8A-4147-A177-3AD203B41FA5}">
                      <a16:colId xmlns:a16="http://schemas.microsoft.com/office/drawing/2014/main" val="1884245"/>
                    </a:ext>
                  </a:extLst>
                </a:gridCol>
              </a:tblGrid>
              <a:tr h="387096">
                <a:tc>
                  <a:txBody>
                    <a:bodyPr/>
                    <a:lstStyle/>
                    <a:p>
                      <a:pPr algn="ctr"/>
                      <a:r>
                        <a:rPr lang="es-MX" sz="840" b="1">
                          <a:solidFill>
                            <a:srgbClr val="FFFFFF"/>
                          </a:solidFill>
                          <a:latin typeface="Aptos" panose="020B0004020202020204" pitchFamily="34" charset="0"/>
                        </a:rPr>
                        <a:t>cliente</a:t>
                      </a:r>
                    </a:p>
                  </a:txBody>
                  <a:tcPr marL="36576" marR="36576" marT="18288" marB="18288" anchor="ctr">
                    <a:solidFill>
                      <a:srgbClr val="145B33"/>
                    </a:solidFill>
                  </a:tcPr>
                </a:tc>
                <a:tc>
                  <a:txBody>
                    <a:bodyPr/>
                    <a:lstStyle/>
                    <a:p>
                      <a:pPr algn="ctr"/>
                      <a:r>
                        <a:rPr lang="es-MX" sz="840" b="1">
                          <a:solidFill>
                            <a:srgbClr val="FFFFFF"/>
                          </a:solidFill>
                          <a:latin typeface="Aptos" panose="020B0004020202020204" pitchFamily="34" charset="0"/>
                        </a:rPr>
                        <a:t>pedido</a:t>
                      </a:r>
                    </a:p>
                  </a:txBody>
                  <a:tcPr marL="36576" marR="36576" marT="18288" marB="18288" anchor="ctr">
                    <a:solidFill>
                      <a:srgbClr val="145B33"/>
                    </a:solidFill>
                  </a:tcPr>
                </a:tc>
                <a:tc>
                  <a:txBody>
                    <a:bodyPr/>
                    <a:lstStyle/>
                    <a:p>
                      <a:pPr algn="ctr"/>
                      <a:r>
                        <a:rPr lang="es-MX" sz="840" b="1">
                          <a:solidFill>
                            <a:srgbClr val="FFFFFF"/>
                          </a:solidFill>
                          <a:latin typeface="Aptos" panose="020B0004020202020204" pitchFamily="34" charset="0"/>
                        </a:rPr>
                        <a:t>producto</a:t>
                      </a:r>
                    </a:p>
                  </a:txBody>
                  <a:tcPr marL="36576" marR="36576" marT="18288" marB="18288" anchor="ctr">
                    <a:solidFill>
                      <a:srgbClr val="145B33"/>
                    </a:solidFill>
                  </a:tcPr>
                </a:tc>
                <a:tc>
                  <a:txBody>
                    <a:bodyPr/>
                    <a:lstStyle/>
                    <a:p>
                      <a:pPr algn="ctr"/>
                      <a:r>
                        <a:rPr lang="es-MX" sz="840" b="1">
                          <a:solidFill>
                            <a:srgbClr val="FFFFFF"/>
                          </a:solidFill>
                          <a:latin typeface="Aptos" panose="020B0004020202020204" pitchFamily="34" charset="0"/>
                        </a:rPr>
                        <a:t>evento</a:t>
                      </a:r>
                    </a:p>
                  </a:txBody>
                  <a:tcPr marL="36576" marR="36576" marT="18288" marB="18288" anchor="ctr">
                    <a:solidFill>
                      <a:srgbClr val="145B33"/>
                    </a:solidFill>
                  </a:tcPr>
                </a:tc>
                <a:tc>
                  <a:txBody>
                    <a:bodyPr/>
                    <a:lstStyle/>
                    <a:p>
                      <a:pPr algn="ctr"/>
                      <a:r>
                        <a:rPr lang="es-MX" sz="840" b="1">
                          <a:solidFill>
                            <a:srgbClr val="FFFFFF"/>
                          </a:solidFill>
                          <a:latin typeface="Aptos" panose="020B0004020202020204" pitchFamily="34" charset="0"/>
                        </a:rPr>
                        <a:t>fuerza</a:t>
                      </a:r>
                    </a:p>
                  </a:txBody>
                  <a:tcPr marL="36576" marR="36576" marT="18288" marB="18288" anchor="ctr">
                    <a:solidFill>
                      <a:srgbClr val="145B33"/>
                    </a:solidFill>
                  </a:tcPr>
                </a:tc>
                <a:tc>
                  <a:txBody>
                    <a:bodyPr/>
                    <a:lstStyle/>
                    <a:p>
                      <a:pPr algn="ctr"/>
                      <a:r>
                        <a:rPr lang="es-MX" sz="840" b="1">
                          <a:solidFill>
                            <a:srgbClr val="FFFFFF"/>
                          </a:solidFill>
                          <a:latin typeface="Aptos" panose="020B0004020202020204" pitchFamily="34" charset="0"/>
                        </a:rPr>
                        <a:t>cant.</a:t>
                      </a:r>
                    </a:p>
                  </a:txBody>
                  <a:tcPr marL="36576" marR="36576" marT="18288" marB="18288" anchor="ctr">
                    <a:solidFill>
                      <a:srgbClr val="145B33"/>
                    </a:solidFill>
                  </a:tcPr>
                </a:tc>
                <a:extLst>
                  <a:ext uri="{0D108BD9-81ED-4DB2-BD59-A6C34878D82A}">
                    <a16:rowId xmlns:a16="http://schemas.microsoft.com/office/drawing/2014/main" val="277393917"/>
                  </a:ext>
                </a:extLst>
              </a:tr>
              <a:tr h="387096">
                <a:tc>
                  <a:txBody>
                    <a:bodyPr/>
                    <a:lstStyle/>
                    <a:p>
                      <a:pPr algn="ctr"/>
                      <a:r>
                        <a:rPr lang="es-MX" sz="840">
                          <a:solidFill>
                            <a:srgbClr val="142019"/>
                          </a:solidFill>
                          <a:latin typeface="Aptos" panose="020B0004020202020204" pitchFamily="34" charset="0"/>
                        </a:rPr>
                        <a:t>SYN-CUST-0080</a:t>
                      </a:r>
                    </a:p>
                  </a:txBody>
                  <a:tcPr marL="36576" marR="36576" marT="18288" marB="18288" anchor="ctr">
                    <a:solidFill>
                      <a:srgbClr val="FFFFFF"/>
                    </a:solidFill>
                  </a:tcPr>
                </a:tc>
                <a:tc>
                  <a:txBody>
                    <a:bodyPr/>
                    <a:lstStyle/>
                    <a:p>
                      <a:pPr algn="ctr"/>
                      <a:r>
                        <a:rPr lang="es-MX" sz="840">
                          <a:solidFill>
                            <a:srgbClr val="142019"/>
                          </a:solidFill>
                          <a:latin typeface="Aptos" panose="020B0004020202020204" pitchFamily="34" charset="0"/>
                        </a:rPr>
                        <a:t>SYN-ORD-000001</a:t>
                      </a:r>
                    </a:p>
                  </a:txBody>
                  <a:tcPr marL="36576" marR="36576" marT="18288" marB="18288" anchor="ctr">
                    <a:solidFill>
                      <a:srgbClr val="FFFFFF"/>
                    </a:solidFill>
                  </a:tcPr>
                </a:tc>
                <a:tc>
                  <a:txBody>
                    <a:bodyPr/>
                    <a:lstStyle/>
                    <a:p>
                      <a:pPr algn="ctr"/>
                      <a:r>
                        <a:rPr lang="es-MX" sz="840">
                          <a:solidFill>
                            <a:srgbClr val="142019"/>
                          </a:solidFill>
                          <a:latin typeface="Aptos" panose="020B0004020202020204" pitchFamily="34" charset="0"/>
                        </a:rPr>
                        <a:t>Toronjil</a:t>
                      </a:r>
                    </a:p>
                  </a:txBody>
                  <a:tcPr marL="36576" marR="36576" marT="18288" marB="18288" anchor="ctr">
                    <a:solidFill>
                      <a:srgbClr val="FFFFFF"/>
                    </a:solidFill>
                  </a:tcPr>
                </a:tc>
                <a:tc>
                  <a:txBody>
                    <a:bodyPr/>
                    <a:lstStyle/>
                    <a:p>
                      <a:pPr algn="ctr"/>
                      <a:r>
                        <a:rPr lang="es-MX" sz="840">
                          <a:solidFill>
                            <a:srgbClr val="142019"/>
                          </a:solidFill>
                          <a:latin typeface="Aptos" panose="020B0004020202020204" pitchFamily="34" charset="0"/>
                        </a:rPr>
                        <a:t>purchase</a:t>
                      </a:r>
                    </a:p>
                  </a:txBody>
                  <a:tcPr marL="36576" marR="36576" marT="18288" marB="18288" anchor="ctr">
                    <a:solidFill>
                      <a:srgbClr val="FFFFFF"/>
                    </a:solidFill>
                  </a:tcPr>
                </a:tc>
                <a:tc>
                  <a:txBody>
                    <a:bodyPr/>
                    <a:lstStyle/>
                    <a:p>
                      <a:pPr algn="ctr"/>
                      <a:r>
                        <a:rPr lang="es-MX" sz="840">
                          <a:solidFill>
                            <a:srgbClr val="142019"/>
                          </a:solidFill>
                          <a:latin typeface="Aptos" panose="020B0004020202020204" pitchFamily="34" charset="0"/>
                        </a:rPr>
                        <a:t>5.69</a:t>
                      </a:r>
                    </a:p>
                  </a:txBody>
                  <a:tcPr marL="36576" marR="36576" marT="18288" marB="18288" anchor="ctr">
                    <a:solidFill>
                      <a:srgbClr val="FFFFFF"/>
                    </a:solidFill>
                  </a:tcPr>
                </a:tc>
                <a:tc>
                  <a:txBody>
                    <a:bodyPr/>
                    <a:lstStyle/>
                    <a:p>
                      <a:pPr algn="ctr"/>
                      <a:r>
                        <a:rPr lang="es-MX" sz="840">
                          <a:solidFill>
                            <a:srgbClr val="142019"/>
                          </a:solidFill>
                          <a:latin typeface="Aptos" panose="020B0004020202020204" pitchFamily="34" charset="0"/>
                        </a:rPr>
                        <a:t>1</a:t>
                      </a:r>
                    </a:p>
                  </a:txBody>
                  <a:tcPr marL="36576" marR="36576" marT="18288" marB="18288" anchor="ctr">
                    <a:solidFill>
                      <a:srgbClr val="FFFFFF"/>
                    </a:solidFill>
                  </a:tcPr>
                </a:tc>
                <a:extLst>
                  <a:ext uri="{0D108BD9-81ED-4DB2-BD59-A6C34878D82A}">
                    <a16:rowId xmlns:a16="http://schemas.microsoft.com/office/drawing/2014/main" val="3448978378"/>
                  </a:ext>
                </a:extLst>
              </a:tr>
              <a:tr h="387096">
                <a:tc>
                  <a:txBody>
                    <a:bodyPr/>
                    <a:lstStyle/>
                    <a:p>
                      <a:pPr algn="ctr"/>
                      <a:r>
                        <a:rPr lang="es-MX" sz="840">
                          <a:solidFill>
                            <a:srgbClr val="142019"/>
                          </a:solidFill>
                          <a:latin typeface="Aptos" panose="020B0004020202020204" pitchFamily="34" charset="0"/>
                        </a:rPr>
                        <a:t>SYN-CUST-0080</a:t>
                      </a:r>
                    </a:p>
                  </a:txBody>
                  <a:tcPr marL="36576" marR="36576" marT="18288" marB="18288" anchor="ctr">
                    <a:solidFill>
                      <a:srgbClr val="F8F6F0"/>
                    </a:solidFill>
                  </a:tcPr>
                </a:tc>
                <a:tc>
                  <a:txBody>
                    <a:bodyPr/>
                    <a:lstStyle/>
                    <a:p>
                      <a:pPr algn="ctr"/>
                      <a:r>
                        <a:rPr lang="es-MX" sz="840">
                          <a:solidFill>
                            <a:srgbClr val="142019"/>
                          </a:solidFill>
                          <a:latin typeface="Aptos" panose="020B0004020202020204" pitchFamily="34" charset="0"/>
                        </a:rPr>
                        <a:t>SYN-ORD-000001</a:t>
                      </a:r>
                    </a:p>
                  </a:txBody>
                  <a:tcPr marL="36576" marR="36576" marT="18288" marB="18288" anchor="ctr">
                    <a:solidFill>
                      <a:srgbClr val="F8F6F0"/>
                    </a:solidFill>
                  </a:tcPr>
                </a:tc>
                <a:tc>
                  <a:txBody>
                    <a:bodyPr/>
                    <a:lstStyle/>
                    <a:p>
                      <a:pPr algn="ctr"/>
                      <a:r>
                        <a:rPr lang="es-MX" sz="840">
                          <a:solidFill>
                            <a:srgbClr val="142019"/>
                          </a:solidFill>
                          <a:latin typeface="Aptos" panose="020B0004020202020204" pitchFamily="34" charset="0"/>
                        </a:rPr>
                        <a:t>Jengibre</a:t>
                      </a:r>
                    </a:p>
                  </a:txBody>
                  <a:tcPr marL="36576" marR="36576" marT="18288" marB="18288" anchor="ctr">
                    <a:solidFill>
                      <a:srgbClr val="F8F6F0"/>
                    </a:solidFill>
                  </a:tcPr>
                </a:tc>
                <a:tc>
                  <a:txBody>
                    <a:bodyPr/>
                    <a:lstStyle/>
                    <a:p>
                      <a:pPr algn="ctr"/>
                      <a:r>
                        <a:rPr lang="es-MX" sz="840">
                          <a:solidFill>
                            <a:srgbClr val="142019"/>
                          </a:solidFill>
                          <a:latin typeface="Aptos" panose="020B0004020202020204" pitchFamily="34" charset="0"/>
                        </a:rPr>
                        <a:t>purchase</a:t>
                      </a:r>
                    </a:p>
                  </a:txBody>
                  <a:tcPr marL="36576" marR="36576" marT="18288" marB="18288" anchor="ctr">
                    <a:solidFill>
                      <a:srgbClr val="F8F6F0"/>
                    </a:solidFill>
                  </a:tcPr>
                </a:tc>
                <a:tc>
                  <a:txBody>
                    <a:bodyPr/>
                    <a:lstStyle/>
                    <a:p>
                      <a:pPr algn="ctr"/>
                      <a:r>
                        <a:rPr lang="es-MX" sz="840">
                          <a:solidFill>
                            <a:srgbClr val="142019"/>
                          </a:solidFill>
                          <a:latin typeface="Aptos" panose="020B0004020202020204" pitchFamily="34" charset="0"/>
                        </a:rPr>
                        <a:t>5.69</a:t>
                      </a:r>
                    </a:p>
                  </a:txBody>
                  <a:tcPr marL="36576" marR="36576" marT="18288" marB="18288" anchor="ctr">
                    <a:solidFill>
                      <a:srgbClr val="F8F6F0"/>
                    </a:solidFill>
                  </a:tcPr>
                </a:tc>
                <a:tc>
                  <a:txBody>
                    <a:bodyPr/>
                    <a:lstStyle/>
                    <a:p>
                      <a:pPr algn="ctr"/>
                      <a:r>
                        <a:rPr lang="es-MX" sz="840">
                          <a:solidFill>
                            <a:srgbClr val="142019"/>
                          </a:solidFill>
                          <a:latin typeface="Aptos" panose="020B0004020202020204" pitchFamily="34" charset="0"/>
                        </a:rPr>
                        <a:t>1</a:t>
                      </a:r>
                    </a:p>
                  </a:txBody>
                  <a:tcPr marL="36576" marR="36576" marT="18288" marB="18288" anchor="ctr">
                    <a:solidFill>
                      <a:srgbClr val="F8F6F0"/>
                    </a:solidFill>
                  </a:tcPr>
                </a:tc>
                <a:extLst>
                  <a:ext uri="{0D108BD9-81ED-4DB2-BD59-A6C34878D82A}">
                    <a16:rowId xmlns:a16="http://schemas.microsoft.com/office/drawing/2014/main" val="875827017"/>
                  </a:ext>
                </a:extLst>
              </a:tr>
            </a:tbl>
          </a:graphicData>
        </a:graphic>
      </p:graphicFrame>
      <p:sp>
        <p:nvSpPr>
          <p:cNvPr id="32" name="Rectángulo: esquinas redondeadas 31">
            <a:extLst>
              <a:ext uri="{FF2B5EF4-FFF2-40B4-BE49-F238E27FC236}">
                <a16:creationId xmlns:a16="http://schemas.microsoft.com/office/drawing/2014/main" id="{002A6CBF-B61C-70CF-8C75-9B5D753EDA0B}"/>
              </a:ext>
            </a:extLst>
          </p:cNvPr>
          <p:cNvSpPr/>
          <p:nvPr/>
        </p:nvSpPr>
        <p:spPr>
          <a:xfrm>
            <a:off x="4773168" y="3218688"/>
            <a:ext cx="1161288" cy="310896"/>
          </a:xfrm>
          <a:prstGeom prst="roundRect">
            <a:avLst/>
          </a:prstGeom>
          <a:solidFill>
            <a:srgbClr val="E9F0F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3" name="CuadroTexto 32">
            <a:extLst>
              <a:ext uri="{FF2B5EF4-FFF2-40B4-BE49-F238E27FC236}">
                <a16:creationId xmlns:a16="http://schemas.microsoft.com/office/drawing/2014/main" id="{5CD019B5-E489-E010-FBAD-32C8F6297C39}"/>
              </a:ext>
            </a:extLst>
          </p:cNvPr>
          <p:cNvSpPr txBox="1"/>
          <p:nvPr/>
        </p:nvSpPr>
        <p:spPr>
          <a:xfrm>
            <a:off x="4809744" y="3218688"/>
            <a:ext cx="1088136" cy="646331"/>
          </a:xfrm>
          <a:prstGeom prst="rect">
            <a:avLst/>
          </a:prstGeom>
          <a:noFill/>
        </p:spPr>
        <p:txBody>
          <a:bodyPr vert="horz" wrap="square" lIns="36576" tIns="36576" rIns="36576" bIns="36576" rtlCol="0" anchor="t">
            <a:noAutofit/>
          </a:bodyPr>
          <a:lstStyle/>
          <a:p>
            <a:pPr algn="ctr"/>
            <a:r>
              <a:rPr lang="es-MX" sz="900" b="1">
                <a:solidFill>
                  <a:srgbClr val="234C7A"/>
                </a:solidFill>
                <a:latin typeface="Aptos" panose="020B0004020202020204" pitchFamily="34" charset="0"/>
              </a:rPr>
              <a:t>300 clientes</a:t>
            </a:r>
          </a:p>
        </p:txBody>
      </p:sp>
      <p:sp>
        <p:nvSpPr>
          <p:cNvPr id="34" name="Rectángulo: esquinas redondeadas 33">
            <a:extLst>
              <a:ext uri="{FF2B5EF4-FFF2-40B4-BE49-F238E27FC236}">
                <a16:creationId xmlns:a16="http://schemas.microsoft.com/office/drawing/2014/main" id="{9B12E9F7-1F57-F482-B427-F4B24168E6EA}"/>
              </a:ext>
            </a:extLst>
          </p:cNvPr>
          <p:cNvSpPr/>
          <p:nvPr/>
        </p:nvSpPr>
        <p:spPr>
          <a:xfrm>
            <a:off x="6053328" y="3218688"/>
            <a:ext cx="1124712" cy="310896"/>
          </a:xfrm>
          <a:prstGeom prst="roundRect">
            <a:avLst/>
          </a:prstGeom>
          <a:solidFill>
            <a:srgbClr val="E9F0F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5" name="CuadroTexto 34">
            <a:extLst>
              <a:ext uri="{FF2B5EF4-FFF2-40B4-BE49-F238E27FC236}">
                <a16:creationId xmlns:a16="http://schemas.microsoft.com/office/drawing/2014/main" id="{B227F417-B47A-AB30-B23D-1DEB8CBEC660}"/>
              </a:ext>
            </a:extLst>
          </p:cNvPr>
          <p:cNvSpPr txBox="1"/>
          <p:nvPr/>
        </p:nvSpPr>
        <p:spPr>
          <a:xfrm>
            <a:off x="6089904" y="3218688"/>
            <a:ext cx="1051560" cy="923330"/>
          </a:xfrm>
          <a:prstGeom prst="rect">
            <a:avLst/>
          </a:prstGeom>
          <a:noFill/>
        </p:spPr>
        <p:txBody>
          <a:bodyPr vert="horz" wrap="square" lIns="36576" tIns="36576" rIns="36576" bIns="36576" rtlCol="0" anchor="t">
            <a:noAutofit/>
          </a:bodyPr>
          <a:lstStyle/>
          <a:p>
            <a:pPr algn="ctr"/>
            <a:r>
              <a:rPr lang="es-MX" sz="900" b="1">
                <a:solidFill>
                  <a:srgbClr val="234C7A"/>
                </a:solidFill>
                <a:latin typeface="Aptos" panose="020B0004020202020204" pitchFamily="34" charset="0"/>
              </a:rPr>
              <a:t>16 productos</a:t>
            </a:r>
          </a:p>
        </p:txBody>
      </p:sp>
      <p:sp>
        <p:nvSpPr>
          <p:cNvPr id="36" name="Rectángulo: esquinas redondeadas 35">
            <a:extLst>
              <a:ext uri="{FF2B5EF4-FFF2-40B4-BE49-F238E27FC236}">
                <a16:creationId xmlns:a16="http://schemas.microsoft.com/office/drawing/2014/main" id="{2E4AB346-2A34-F411-A7A4-3FE9073B46C5}"/>
              </a:ext>
            </a:extLst>
          </p:cNvPr>
          <p:cNvSpPr/>
          <p:nvPr/>
        </p:nvSpPr>
        <p:spPr>
          <a:xfrm>
            <a:off x="7296912" y="3218688"/>
            <a:ext cx="1298448" cy="310896"/>
          </a:xfrm>
          <a:prstGeom prst="roundRect">
            <a:avLst/>
          </a:prstGeom>
          <a:solidFill>
            <a:srgbClr val="E9F0F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7" name="CuadroTexto 36">
            <a:extLst>
              <a:ext uri="{FF2B5EF4-FFF2-40B4-BE49-F238E27FC236}">
                <a16:creationId xmlns:a16="http://schemas.microsoft.com/office/drawing/2014/main" id="{70CD43CD-4B4A-E1CF-8248-EBD79ABF6A3E}"/>
              </a:ext>
            </a:extLst>
          </p:cNvPr>
          <p:cNvSpPr txBox="1"/>
          <p:nvPr/>
        </p:nvSpPr>
        <p:spPr>
          <a:xfrm>
            <a:off x="7333488" y="3218688"/>
            <a:ext cx="1225296" cy="646331"/>
          </a:xfrm>
          <a:prstGeom prst="rect">
            <a:avLst/>
          </a:prstGeom>
          <a:noFill/>
        </p:spPr>
        <p:txBody>
          <a:bodyPr vert="horz" wrap="square" lIns="36576" tIns="36576" rIns="36576" bIns="36576" rtlCol="0" anchor="t">
            <a:noAutofit/>
          </a:bodyPr>
          <a:lstStyle/>
          <a:p>
            <a:pPr algn="ctr"/>
            <a:r>
              <a:rPr lang="es-MX" sz="900" b="1">
                <a:solidFill>
                  <a:srgbClr val="234C7A"/>
                </a:solidFill>
                <a:latin typeface="Aptos" panose="020B0004020202020204" pitchFamily="34" charset="0"/>
              </a:rPr>
              <a:t>1,674 canastas</a:t>
            </a:r>
          </a:p>
        </p:txBody>
      </p:sp>
      <p:sp>
        <p:nvSpPr>
          <p:cNvPr id="38" name="Rectángulo: esquinas redondeadas 37">
            <a:extLst>
              <a:ext uri="{FF2B5EF4-FFF2-40B4-BE49-F238E27FC236}">
                <a16:creationId xmlns:a16="http://schemas.microsoft.com/office/drawing/2014/main" id="{E474CA52-09AA-DE13-F1DE-79C41484CFCB}"/>
              </a:ext>
            </a:extLst>
          </p:cNvPr>
          <p:cNvSpPr/>
          <p:nvPr/>
        </p:nvSpPr>
        <p:spPr>
          <a:xfrm>
            <a:off x="8714232" y="3218688"/>
            <a:ext cx="1261871" cy="310896"/>
          </a:xfrm>
          <a:prstGeom prst="roundRect">
            <a:avLst/>
          </a:prstGeom>
          <a:solidFill>
            <a:srgbClr val="E9F0F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9" name="CuadroTexto 38">
            <a:extLst>
              <a:ext uri="{FF2B5EF4-FFF2-40B4-BE49-F238E27FC236}">
                <a16:creationId xmlns:a16="http://schemas.microsoft.com/office/drawing/2014/main" id="{B8C8C965-9748-8D94-E9F6-43872E7A6029}"/>
              </a:ext>
            </a:extLst>
          </p:cNvPr>
          <p:cNvSpPr txBox="1"/>
          <p:nvPr/>
        </p:nvSpPr>
        <p:spPr>
          <a:xfrm>
            <a:off x="8750808" y="3218688"/>
            <a:ext cx="1188720" cy="646331"/>
          </a:xfrm>
          <a:prstGeom prst="rect">
            <a:avLst/>
          </a:prstGeom>
          <a:noFill/>
        </p:spPr>
        <p:txBody>
          <a:bodyPr vert="horz" wrap="square" lIns="36576" tIns="36576" rIns="36576" bIns="36576" rtlCol="0" anchor="t">
            <a:noAutofit/>
          </a:bodyPr>
          <a:lstStyle/>
          <a:p>
            <a:pPr algn="ctr"/>
            <a:r>
              <a:rPr lang="es-MX" sz="900" b="1">
                <a:solidFill>
                  <a:srgbClr val="234C7A"/>
                </a:solidFill>
                <a:latin typeface="Aptos" panose="020B0004020202020204" pitchFamily="34" charset="0"/>
              </a:rPr>
              <a:t>3,003 ítems</a:t>
            </a:r>
          </a:p>
        </p:txBody>
      </p:sp>
      <p:sp>
        <p:nvSpPr>
          <p:cNvPr id="40" name="Rectángulo: esquinas redondeadas 39">
            <a:extLst>
              <a:ext uri="{FF2B5EF4-FFF2-40B4-BE49-F238E27FC236}">
                <a16:creationId xmlns:a16="http://schemas.microsoft.com/office/drawing/2014/main" id="{60E8C84B-D024-E05D-833E-FA2DD33C9F03}"/>
              </a:ext>
            </a:extLst>
          </p:cNvPr>
          <p:cNvSpPr/>
          <p:nvPr/>
        </p:nvSpPr>
        <p:spPr>
          <a:xfrm>
            <a:off x="4773168" y="3749040"/>
            <a:ext cx="6629400" cy="1234440"/>
          </a:xfrm>
          <a:prstGeom prst="roundRect">
            <a:avLst/>
          </a:prstGeom>
          <a:solidFill>
            <a:srgbClr val="E8F3E8"/>
          </a:solidFill>
          <a:ln w="13970">
            <a:solidFill>
              <a:srgbClr val="087A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1" name="CuadroTexto 40">
            <a:extLst>
              <a:ext uri="{FF2B5EF4-FFF2-40B4-BE49-F238E27FC236}">
                <a16:creationId xmlns:a16="http://schemas.microsoft.com/office/drawing/2014/main" id="{876133DD-AB1D-4D7F-8ED7-6F7121FC402D}"/>
              </a:ext>
            </a:extLst>
          </p:cNvPr>
          <p:cNvSpPr txBox="1"/>
          <p:nvPr/>
        </p:nvSpPr>
        <p:spPr>
          <a:xfrm>
            <a:off x="5010912" y="3886200"/>
            <a:ext cx="1417320" cy="646331"/>
          </a:xfrm>
          <a:prstGeom prst="rect">
            <a:avLst/>
          </a:prstGeom>
          <a:noFill/>
        </p:spPr>
        <p:txBody>
          <a:bodyPr vert="horz" wrap="square" lIns="36576" tIns="36576" rIns="36576" bIns="36576" rtlCol="0" anchor="t">
            <a:noAutofit/>
          </a:bodyPr>
          <a:lstStyle/>
          <a:p>
            <a:r>
              <a:rPr lang="es-MX" sz="920" b="1">
                <a:solidFill>
                  <a:srgbClr val="087A2B"/>
                </a:solidFill>
                <a:latin typeface="Aptos" panose="020B0004020202020204" pitchFamily="34" charset="0"/>
              </a:rPr>
              <a:t>SALIDA DEL MODELO</a:t>
            </a:r>
          </a:p>
        </p:txBody>
      </p:sp>
      <p:sp>
        <p:nvSpPr>
          <p:cNvPr id="42" name="CuadroTexto 41">
            <a:extLst>
              <a:ext uri="{FF2B5EF4-FFF2-40B4-BE49-F238E27FC236}">
                <a16:creationId xmlns:a16="http://schemas.microsoft.com/office/drawing/2014/main" id="{17F4FB86-1A94-288E-E0F6-52107B503361}"/>
              </a:ext>
            </a:extLst>
          </p:cNvPr>
          <p:cNvSpPr txBox="1"/>
          <p:nvPr/>
        </p:nvSpPr>
        <p:spPr>
          <a:xfrm>
            <a:off x="4983480" y="4160520"/>
            <a:ext cx="6126480" cy="369332"/>
          </a:xfrm>
          <a:prstGeom prst="rect">
            <a:avLst/>
          </a:prstGeom>
          <a:noFill/>
        </p:spPr>
        <p:txBody>
          <a:bodyPr vert="horz" wrap="square" lIns="36576" tIns="36576" rIns="36576" bIns="36576" rtlCol="0" anchor="t">
            <a:noAutofit/>
          </a:bodyPr>
          <a:lstStyle/>
          <a:p>
            <a:r>
              <a:rPr lang="es-MX" sz="1700" b="1">
                <a:solidFill>
                  <a:srgbClr val="142019"/>
                </a:solidFill>
                <a:latin typeface="Aptos" panose="020B0004020202020204" pitchFamily="34" charset="0"/>
              </a:rPr>
              <a:t>Top-N personalizado  ·  Reglas “producto A → producto B”</a:t>
            </a:r>
          </a:p>
        </p:txBody>
      </p:sp>
      <p:sp>
        <p:nvSpPr>
          <p:cNvPr id="43" name="CuadroTexto 42">
            <a:extLst>
              <a:ext uri="{FF2B5EF4-FFF2-40B4-BE49-F238E27FC236}">
                <a16:creationId xmlns:a16="http://schemas.microsoft.com/office/drawing/2014/main" id="{73DC897C-81D0-E149-AF4F-4426E41CAF42}"/>
              </a:ext>
            </a:extLst>
          </p:cNvPr>
          <p:cNvSpPr txBox="1"/>
          <p:nvPr/>
        </p:nvSpPr>
        <p:spPr>
          <a:xfrm>
            <a:off x="4983480" y="4590288"/>
            <a:ext cx="6126480" cy="646331"/>
          </a:xfrm>
          <a:prstGeom prst="rect">
            <a:avLst/>
          </a:prstGeom>
          <a:noFill/>
        </p:spPr>
        <p:txBody>
          <a:bodyPr vert="horz" wrap="square" lIns="36576" tIns="36576" rIns="36576" bIns="36576" rtlCol="0" anchor="t">
            <a:noAutofit/>
          </a:bodyPr>
          <a:lstStyle/>
          <a:p>
            <a:r>
              <a:rPr lang="es-MX" sz="1050">
                <a:solidFill>
                  <a:srgbClr val="5F6F65"/>
                </a:solidFill>
                <a:latin typeface="Aptos" panose="020B0004020202020204" pitchFamily="34" charset="0"/>
              </a:rPr>
              <a:t>No existe una variable Y clásica: se aprende del historial y del contenido.</a:t>
            </a:r>
          </a:p>
        </p:txBody>
      </p:sp>
      <p:sp>
        <p:nvSpPr>
          <p:cNvPr id="44" name="CuadroTexto 43">
            <a:extLst>
              <a:ext uri="{FF2B5EF4-FFF2-40B4-BE49-F238E27FC236}">
                <a16:creationId xmlns:a16="http://schemas.microsoft.com/office/drawing/2014/main" id="{2A702061-1A65-6DEC-15A2-C1F8BCBE8B46}"/>
              </a:ext>
            </a:extLst>
          </p:cNvPr>
          <p:cNvSpPr txBox="1"/>
          <p:nvPr/>
        </p:nvSpPr>
        <p:spPr>
          <a:xfrm>
            <a:off x="4782312" y="5285232"/>
            <a:ext cx="6611112" cy="646331"/>
          </a:xfrm>
          <a:prstGeom prst="rect">
            <a:avLst/>
          </a:prstGeom>
          <a:noFill/>
        </p:spPr>
        <p:txBody>
          <a:bodyPr vert="horz" wrap="square" lIns="36576" tIns="36576" rIns="36576" bIns="36576" rtlCol="0" anchor="t">
            <a:noAutofit/>
          </a:bodyPr>
          <a:lstStyle/>
          <a:p>
            <a:r>
              <a:rPr lang="es-MX" sz="1050">
                <a:solidFill>
                  <a:srgbClr val="142019"/>
                </a:solidFill>
                <a:latin typeface="Aptos" panose="020B0004020202020204" pitchFamily="34" charset="0"/>
              </a:rPr>
              <a:t>Modelo híbrido: contenido + señales implícitas + reglas de asociación.  Evaluación: Precision@K, Recall@K y cobertura.</a:t>
            </a:r>
          </a:p>
        </p:txBody>
      </p:sp>
      <p:sp>
        <p:nvSpPr>
          <p:cNvPr id="45" name="CuadroTexto 44">
            <a:extLst>
              <a:ext uri="{FF2B5EF4-FFF2-40B4-BE49-F238E27FC236}">
                <a16:creationId xmlns:a16="http://schemas.microsoft.com/office/drawing/2014/main" id="{7C39C888-AE3E-05DB-F8C5-C538AE689779}"/>
              </a:ext>
            </a:extLst>
          </p:cNvPr>
          <p:cNvSpPr txBox="1"/>
          <p:nvPr/>
        </p:nvSpPr>
        <p:spPr>
          <a:xfrm>
            <a:off x="4782312" y="5806440"/>
            <a:ext cx="6611112" cy="646331"/>
          </a:xfrm>
          <a:prstGeom prst="rect">
            <a:avLst/>
          </a:prstGeom>
          <a:noFill/>
        </p:spPr>
        <p:txBody>
          <a:bodyPr vert="horz" wrap="square" lIns="36576" tIns="36576" rIns="36576" bIns="36576" rtlCol="0" anchor="t">
            <a:noAutofit/>
          </a:bodyPr>
          <a:lstStyle/>
          <a:p>
            <a:r>
              <a:rPr lang="es-MX" sz="840">
                <a:solidFill>
                  <a:srgbClr val="D9685F"/>
                </a:solidFill>
                <a:latin typeface="Aptos" panose="020B0004020202020204" pitchFamily="34" charset="0"/>
              </a:rPr>
              <a:t>Dataset académico sintético. En producción, vistas/clics requerirían una nueva colección histórica de interacciones.</a:t>
            </a:r>
          </a:p>
        </p:txBody>
      </p:sp>
      <p:sp>
        <p:nvSpPr>
          <p:cNvPr id="46" name="CuadroTexto 45">
            <a:extLst>
              <a:ext uri="{FF2B5EF4-FFF2-40B4-BE49-F238E27FC236}">
                <a16:creationId xmlns:a16="http://schemas.microsoft.com/office/drawing/2014/main" id="{25488DAC-FE8A-CA2F-3129-19A41C3A5423}"/>
              </a:ext>
            </a:extLst>
          </p:cNvPr>
          <p:cNvSpPr txBox="1"/>
          <p:nvPr/>
        </p:nvSpPr>
        <p:spPr>
          <a:xfrm>
            <a:off x="530352" y="6547104"/>
            <a:ext cx="8046720" cy="369332"/>
          </a:xfrm>
          <a:prstGeom prst="rect">
            <a:avLst/>
          </a:prstGeom>
          <a:noFill/>
        </p:spPr>
        <p:txBody>
          <a:bodyPr vert="horz" wrap="square" lIns="36576" tIns="36576" rIns="36576" bIns="36576" rtlCol="0" anchor="t">
            <a:noAutofit/>
          </a:bodyPr>
          <a:lstStyle/>
          <a:p>
            <a:r>
              <a:rPr lang="es-MX" sz="800">
                <a:solidFill>
                  <a:srgbClr val="5F6F65"/>
                </a:solidFill>
                <a:latin typeface="Aptos" panose="020B0004020202020204" pitchFamily="34" charset="0"/>
              </a:rPr>
              <a:t>INHALEX · Propuestas de aprendizaje automático</a:t>
            </a:r>
          </a:p>
        </p:txBody>
      </p:sp>
    </p:spTree>
    <p:extLst>
      <p:ext uri="{BB962C8B-B14F-4D97-AF65-F5344CB8AC3E}">
        <p14:creationId xmlns:p14="http://schemas.microsoft.com/office/powerpoint/2010/main" val="3031405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0CE8C4D-A241-43F4-141E-0F52CF498C32}"/>
              </a:ext>
            </a:extLst>
          </p:cNvPr>
          <p:cNvSpPr txBox="1"/>
          <p:nvPr/>
        </p:nvSpPr>
        <p:spPr>
          <a:xfrm>
            <a:off x="502920" y="201168"/>
            <a:ext cx="5303520" cy="369332"/>
          </a:xfrm>
          <a:prstGeom prst="rect">
            <a:avLst/>
          </a:prstGeom>
          <a:noFill/>
        </p:spPr>
        <p:txBody>
          <a:bodyPr vert="horz" wrap="square" lIns="36576" tIns="36576" rIns="36576" bIns="36576" rtlCol="0" anchor="t">
            <a:noAutofit/>
          </a:bodyPr>
          <a:lstStyle/>
          <a:p>
            <a:r>
              <a:rPr lang="es-MX" sz="950" b="1">
                <a:solidFill>
                  <a:srgbClr val="087A2B"/>
                </a:solidFill>
                <a:latin typeface="Aptos" panose="020B0004020202020204" pitchFamily="34" charset="0"/>
              </a:rPr>
              <a:t>CATÁLOGO DEL CLIENTE</a:t>
            </a:r>
          </a:p>
        </p:txBody>
      </p:sp>
      <p:sp>
        <p:nvSpPr>
          <p:cNvPr id="3" name="CuadroTexto 2">
            <a:extLst>
              <a:ext uri="{FF2B5EF4-FFF2-40B4-BE49-F238E27FC236}">
                <a16:creationId xmlns:a16="http://schemas.microsoft.com/office/drawing/2014/main" id="{D81D8643-4729-7FA4-BFCC-B009339DED8D}"/>
              </a:ext>
            </a:extLst>
          </p:cNvPr>
          <p:cNvSpPr txBox="1"/>
          <p:nvPr/>
        </p:nvSpPr>
        <p:spPr>
          <a:xfrm>
            <a:off x="502920" y="438912"/>
            <a:ext cx="9784080" cy="369332"/>
          </a:xfrm>
          <a:prstGeom prst="rect">
            <a:avLst/>
          </a:prstGeom>
          <a:noFill/>
        </p:spPr>
        <p:txBody>
          <a:bodyPr vert="horz" wrap="square" lIns="36576" tIns="36576" rIns="36576" bIns="36576" rtlCol="0" anchor="t">
            <a:noAutofit/>
          </a:bodyPr>
          <a:lstStyle/>
          <a:p>
            <a:r>
              <a:rPr lang="es-MX" sz="2700" b="1">
                <a:solidFill>
                  <a:srgbClr val="142019"/>
                </a:solidFill>
                <a:latin typeface="Aptos" panose="020B0004020202020204" pitchFamily="34" charset="0"/>
              </a:rPr>
              <a:t>¿Dónde se implementaría? · Aromas para ti</a:t>
            </a:r>
          </a:p>
        </p:txBody>
      </p:sp>
      <p:sp>
        <p:nvSpPr>
          <p:cNvPr id="4" name="Rectángulo 3">
            <a:extLst>
              <a:ext uri="{FF2B5EF4-FFF2-40B4-BE49-F238E27FC236}">
                <a16:creationId xmlns:a16="http://schemas.microsoft.com/office/drawing/2014/main" id="{0F4DC1A0-9321-A9D4-F1CB-D1C86EA612FA}"/>
              </a:ext>
            </a:extLst>
          </p:cNvPr>
          <p:cNvSpPr/>
          <p:nvPr/>
        </p:nvSpPr>
        <p:spPr>
          <a:xfrm>
            <a:off x="502920" y="987552"/>
            <a:ext cx="11155680" cy="16459"/>
          </a:xfrm>
          <a:prstGeom prst="rect">
            <a:avLst/>
          </a:prstGeom>
          <a:solidFill>
            <a:srgbClr val="D9E3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Elipse 4">
            <a:extLst>
              <a:ext uri="{FF2B5EF4-FFF2-40B4-BE49-F238E27FC236}">
                <a16:creationId xmlns:a16="http://schemas.microsoft.com/office/drawing/2014/main" id="{A278E343-5335-153C-FCBC-B201E8A8692D}"/>
              </a:ext>
            </a:extLst>
          </p:cNvPr>
          <p:cNvSpPr/>
          <p:nvPr/>
        </p:nvSpPr>
        <p:spPr>
          <a:xfrm>
            <a:off x="11283696" y="283464"/>
            <a:ext cx="356616" cy="356616"/>
          </a:xfrm>
          <a:prstGeom prst="ellipse">
            <a:avLst/>
          </a:prstGeom>
          <a:solidFill>
            <a:srgbClr val="087A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CE2E785A-AABF-D453-AB9B-BF317155BD39}"/>
              </a:ext>
            </a:extLst>
          </p:cNvPr>
          <p:cNvSpPr txBox="1"/>
          <p:nvPr/>
        </p:nvSpPr>
        <p:spPr>
          <a:xfrm>
            <a:off x="11311128" y="301752"/>
            <a:ext cx="329184" cy="369332"/>
          </a:xfrm>
          <a:prstGeom prst="rect">
            <a:avLst/>
          </a:prstGeom>
          <a:noFill/>
        </p:spPr>
        <p:txBody>
          <a:bodyPr vert="horz" wrap="square" lIns="36576" tIns="36576" rIns="36576" bIns="36576" rtlCol="0" anchor="t">
            <a:noAutofit/>
          </a:bodyPr>
          <a:lstStyle/>
          <a:p>
            <a:pPr algn="ctr"/>
            <a:r>
              <a:rPr lang="es-MX" sz="1100" b="1">
                <a:solidFill>
                  <a:srgbClr val="FFFFFF"/>
                </a:solidFill>
                <a:latin typeface="Aptos" panose="020B0004020202020204" pitchFamily="34" charset="0"/>
              </a:rPr>
              <a:t>3</a:t>
            </a:r>
          </a:p>
        </p:txBody>
      </p:sp>
      <p:sp>
        <p:nvSpPr>
          <p:cNvPr id="7" name="Rectángulo: esquinas redondeadas 6">
            <a:extLst>
              <a:ext uri="{FF2B5EF4-FFF2-40B4-BE49-F238E27FC236}">
                <a16:creationId xmlns:a16="http://schemas.microsoft.com/office/drawing/2014/main" id="{E46931DE-B490-29F2-5FAC-76FC0C1D880F}"/>
              </a:ext>
            </a:extLst>
          </p:cNvPr>
          <p:cNvSpPr/>
          <p:nvPr/>
        </p:nvSpPr>
        <p:spPr>
          <a:xfrm>
            <a:off x="9829800" y="484632"/>
            <a:ext cx="1572768" cy="283464"/>
          </a:xfrm>
          <a:prstGeom prst="roundRect">
            <a:avLst/>
          </a:prstGeom>
          <a:solidFill>
            <a:srgbClr val="FFF4DC"/>
          </a:solidFill>
          <a:ln w="8890">
            <a:solidFill>
              <a:srgbClr val="E7A2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CuadroTexto 7">
            <a:extLst>
              <a:ext uri="{FF2B5EF4-FFF2-40B4-BE49-F238E27FC236}">
                <a16:creationId xmlns:a16="http://schemas.microsoft.com/office/drawing/2014/main" id="{0704C2F2-82D0-3B30-4135-7DF81BC4AE89}"/>
              </a:ext>
            </a:extLst>
          </p:cNvPr>
          <p:cNvSpPr txBox="1"/>
          <p:nvPr/>
        </p:nvSpPr>
        <p:spPr>
          <a:xfrm>
            <a:off x="9866376" y="484632"/>
            <a:ext cx="1499616" cy="923330"/>
          </a:xfrm>
          <a:prstGeom prst="rect">
            <a:avLst/>
          </a:prstGeom>
          <a:noFill/>
        </p:spPr>
        <p:txBody>
          <a:bodyPr vert="horz" wrap="square" lIns="36576" tIns="36576" rIns="36576" bIns="36576" rtlCol="0" anchor="t">
            <a:noAutofit/>
          </a:bodyPr>
          <a:lstStyle/>
          <a:p>
            <a:pPr algn="ctr"/>
            <a:r>
              <a:rPr lang="es-MX" sz="860" b="1">
                <a:solidFill>
                  <a:srgbClr val="E7A227"/>
                </a:solidFill>
                <a:latin typeface="Aptos" panose="020B0004020202020204" pitchFamily="34" charset="0"/>
              </a:rPr>
              <a:t>DISEÑO CONCEPTUAL</a:t>
            </a:r>
          </a:p>
        </p:txBody>
      </p:sp>
      <p:sp>
        <p:nvSpPr>
          <p:cNvPr id="9" name="Rectángulo: esquinas redondeadas 8">
            <a:extLst>
              <a:ext uri="{FF2B5EF4-FFF2-40B4-BE49-F238E27FC236}">
                <a16:creationId xmlns:a16="http://schemas.microsoft.com/office/drawing/2014/main" id="{14CFFEAA-E180-8040-B5B2-5F3AACF1FBFD}"/>
              </a:ext>
            </a:extLst>
          </p:cNvPr>
          <p:cNvSpPr/>
          <p:nvPr/>
        </p:nvSpPr>
        <p:spPr>
          <a:xfrm>
            <a:off x="502920" y="1170432"/>
            <a:ext cx="11173968" cy="5184648"/>
          </a:xfrm>
          <a:prstGeom prst="roundRect">
            <a:avLst/>
          </a:prstGeom>
          <a:solidFill>
            <a:srgbClr val="FFFFFF"/>
          </a:solidFill>
          <a:ln w="12700">
            <a:solidFill>
              <a:srgbClr val="D9E3DA"/>
            </a:solidFill>
          </a:ln>
          <a:effectLst>
            <a:outerShdw blurRad="101600" dist="28398" dir="3806086" rotWithShape="0">
              <a:scrgbClr r="0" g="0" b="0">
                <a:alpha val="18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1" name="Imagen 10">
            <a:extLst>
              <a:ext uri="{FF2B5EF4-FFF2-40B4-BE49-F238E27FC236}">
                <a16:creationId xmlns:a16="http://schemas.microsoft.com/office/drawing/2014/main" id="{78239EBA-8041-F5EF-F914-6E0F250EDD7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664208" y="1280160"/>
            <a:ext cx="8823960" cy="4965192"/>
          </a:xfrm>
          <a:prstGeom prst="rect">
            <a:avLst/>
          </a:prstGeom>
        </p:spPr>
      </p:pic>
      <p:sp>
        <p:nvSpPr>
          <p:cNvPr id="12" name="Rectángulo: esquinas redondeadas 11">
            <a:extLst>
              <a:ext uri="{FF2B5EF4-FFF2-40B4-BE49-F238E27FC236}">
                <a16:creationId xmlns:a16="http://schemas.microsoft.com/office/drawing/2014/main" id="{D56FD131-5845-9A0C-DA58-01F86C7E42E3}"/>
              </a:ext>
            </a:extLst>
          </p:cNvPr>
          <p:cNvSpPr/>
          <p:nvPr/>
        </p:nvSpPr>
        <p:spPr>
          <a:xfrm>
            <a:off x="2258568" y="2395728"/>
            <a:ext cx="7644384" cy="512064"/>
          </a:xfrm>
          <a:prstGeom prst="roundRect">
            <a:avLst/>
          </a:prstGeom>
          <a:solidFill>
            <a:srgbClr val="FFFFFF">
              <a:alpha val="92000"/>
            </a:srgbClr>
          </a:solidFill>
          <a:ln w="12700">
            <a:solidFill>
              <a:srgbClr val="E8F3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CuadroTexto 12">
            <a:extLst>
              <a:ext uri="{FF2B5EF4-FFF2-40B4-BE49-F238E27FC236}">
                <a16:creationId xmlns:a16="http://schemas.microsoft.com/office/drawing/2014/main" id="{1345DDD2-F064-2DD7-0DAC-E1E5F73AA21B}"/>
              </a:ext>
            </a:extLst>
          </p:cNvPr>
          <p:cNvSpPr txBox="1"/>
          <p:nvPr/>
        </p:nvSpPr>
        <p:spPr>
          <a:xfrm>
            <a:off x="2468880" y="2423160"/>
            <a:ext cx="2560320" cy="369332"/>
          </a:xfrm>
          <a:prstGeom prst="rect">
            <a:avLst/>
          </a:prstGeom>
          <a:noFill/>
        </p:spPr>
        <p:txBody>
          <a:bodyPr vert="horz" wrap="square" lIns="36576" tIns="36576" rIns="36576" bIns="36576" rtlCol="0" anchor="t">
            <a:noAutofit/>
          </a:bodyPr>
          <a:lstStyle/>
          <a:p>
            <a:r>
              <a:rPr lang="es-MX" sz="1700" b="1">
                <a:solidFill>
                  <a:srgbClr val="145B33"/>
                </a:solidFill>
                <a:latin typeface="Aptos" panose="020B0004020202020204" pitchFamily="34" charset="0"/>
              </a:rPr>
              <a:t>Recomendados para ti</a:t>
            </a:r>
          </a:p>
        </p:txBody>
      </p:sp>
      <p:sp>
        <p:nvSpPr>
          <p:cNvPr id="14" name="CuadroTexto 13">
            <a:extLst>
              <a:ext uri="{FF2B5EF4-FFF2-40B4-BE49-F238E27FC236}">
                <a16:creationId xmlns:a16="http://schemas.microsoft.com/office/drawing/2014/main" id="{0001019E-15FA-E348-69C7-53A8CB2E2132}"/>
              </a:ext>
            </a:extLst>
          </p:cNvPr>
          <p:cNvSpPr txBox="1"/>
          <p:nvPr/>
        </p:nvSpPr>
        <p:spPr>
          <a:xfrm>
            <a:off x="4892040" y="2441448"/>
            <a:ext cx="4572000" cy="646331"/>
          </a:xfrm>
          <a:prstGeom prst="rect">
            <a:avLst/>
          </a:prstGeom>
          <a:noFill/>
        </p:spPr>
        <p:txBody>
          <a:bodyPr vert="horz" wrap="square" lIns="36576" tIns="36576" rIns="36576" bIns="36576" rtlCol="0" anchor="t">
            <a:noAutofit/>
          </a:bodyPr>
          <a:lstStyle/>
          <a:p>
            <a:r>
              <a:rPr lang="es-MX" sz="1050">
                <a:solidFill>
                  <a:srgbClr val="5F6F65"/>
                </a:solidFill>
                <a:latin typeface="Aptos" panose="020B0004020202020204" pitchFamily="34" charset="0"/>
              </a:rPr>
              <a:t>Según tus favoritos, compras y afinidad con cada línea</a:t>
            </a:r>
          </a:p>
        </p:txBody>
      </p:sp>
      <p:sp>
        <p:nvSpPr>
          <p:cNvPr id="15" name="Rectángulo: esquinas redondeadas 14">
            <a:extLst>
              <a:ext uri="{FF2B5EF4-FFF2-40B4-BE49-F238E27FC236}">
                <a16:creationId xmlns:a16="http://schemas.microsoft.com/office/drawing/2014/main" id="{61CB72FA-4D74-FBEB-FA45-F496514242F7}"/>
              </a:ext>
            </a:extLst>
          </p:cNvPr>
          <p:cNvSpPr/>
          <p:nvPr/>
        </p:nvSpPr>
        <p:spPr>
          <a:xfrm>
            <a:off x="2011680" y="5559552"/>
            <a:ext cx="2331720" cy="347472"/>
          </a:xfrm>
          <a:prstGeom prst="roundRect">
            <a:avLst/>
          </a:prstGeom>
          <a:solidFill>
            <a:srgbClr val="E8F3E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CuadroTexto 15">
            <a:extLst>
              <a:ext uri="{FF2B5EF4-FFF2-40B4-BE49-F238E27FC236}">
                <a16:creationId xmlns:a16="http://schemas.microsoft.com/office/drawing/2014/main" id="{9ED0CE8A-3D01-6EB0-E2E3-A89526CFF085}"/>
              </a:ext>
            </a:extLst>
          </p:cNvPr>
          <p:cNvSpPr txBox="1"/>
          <p:nvPr/>
        </p:nvSpPr>
        <p:spPr>
          <a:xfrm>
            <a:off x="2048256" y="5559552"/>
            <a:ext cx="2258568" cy="646331"/>
          </a:xfrm>
          <a:prstGeom prst="rect">
            <a:avLst/>
          </a:prstGeom>
          <a:noFill/>
        </p:spPr>
        <p:txBody>
          <a:bodyPr vert="horz" wrap="square" lIns="36576" tIns="36576" rIns="36576" bIns="36576" rtlCol="0" anchor="t">
            <a:noAutofit/>
          </a:bodyPr>
          <a:lstStyle/>
          <a:p>
            <a:pPr algn="ctr"/>
            <a:r>
              <a:rPr lang="es-MX" sz="920" b="1">
                <a:solidFill>
                  <a:srgbClr val="145B33"/>
                </a:solidFill>
                <a:latin typeface="Aptos" panose="020B0004020202020204" pitchFamily="34" charset="0"/>
              </a:rPr>
              <a:t>Lavanda · afinidad 92 %</a:t>
            </a:r>
          </a:p>
        </p:txBody>
      </p:sp>
      <p:sp>
        <p:nvSpPr>
          <p:cNvPr id="17" name="Rectángulo: esquinas redondeadas 16">
            <a:extLst>
              <a:ext uri="{FF2B5EF4-FFF2-40B4-BE49-F238E27FC236}">
                <a16:creationId xmlns:a16="http://schemas.microsoft.com/office/drawing/2014/main" id="{28112D9E-82D7-F065-CB8D-74286D333287}"/>
              </a:ext>
            </a:extLst>
          </p:cNvPr>
          <p:cNvSpPr/>
          <p:nvPr/>
        </p:nvSpPr>
        <p:spPr>
          <a:xfrm>
            <a:off x="4754880" y="5559552"/>
            <a:ext cx="2697480" cy="347472"/>
          </a:xfrm>
          <a:prstGeom prst="roundRect">
            <a:avLst/>
          </a:prstGeom>
          <a:solidFill>
            <a:srgbClr val="F0EAF6"/>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CuadroTexto 17">
            <a:extLst>
              <a:ext uri="{FF2B5EF4-FFF2-40B4-BE49-F238E27FC236}">
                <a16:creationId xmlns:a16="http://schemas.microsoft.com/office/drawing/2014/main" id="{85B07389-328C-3BCC-C61F-47E74069B265}"/>
              </a:ext>
            </a:extLst>
          </p:cNvPr>
          <p:cNvSpPr txBox="1"/>
          <p:nvPr/>
        </p:nvSpPr>
        <p:spPr>
          <a:xfrm>
            <a:off x="4791456" y="5559552"/>
            <a:ext cx="2624328" cy="646331"/>
          </a:xfrm>
          <a:prstGeom prst="rect">
            <a:avLst/>
          </a:prstGeom>
          <a:noFill/>
        </p:spPr>
        <p:txBody>
          <a:bodyPr vert="horz" wrap="square" lIns="36576" tIns="36576" rIns="36576" bIns="36576" rtlCol="0" anchor="t">
            <a:noAutofit/>
          </a:bodyPr>
          <a:lstStyle/>
          <a:p>
            <a:pPr algn="ctr"/>
            <a:r>
              <a:rPr lang="es-MX" sz="920" b="1">
                <a:solidFill>
                  <a:srgbClr val="70449A"/>
                </a:solidFill>
                <a:latin typeface="Aptos" panose="020B0004020202020204" pitchFamily="34" charset="0"/>
              </a:rPr>
              <a:t>Manzanilla · combina con Lavanda</a:t>
            </a:r>
          </a:p>
        </p:txBody>
      </p:sp>
      <p:sp>
        <p:nvSpPr>
          <p:cNvPr id="19" name="Rectángulo: esquinas redondeadas 18">
            <a:extLst>
              <a:ext uri="{FF2B5EF4-FFF2-40B4-BE49-F238E27FC236}">
                <a16:creationId xmlns:a16="http://schemas.microsoft.com/office/drawing/2014/main" id="{AAAF4975-5722-727A-6DF6-6EE3711E1AC2}"/>
              </a:ext>
            </a:extLst>
          </p:cNvPr>
          <p:cNvSpPr/>
          <p:nvPr/>
        </p:nvSpPr>
        <p:spPr>
          <a:xfrm>
            <a:off x="7891272" y="5559552"/>
            <a:ext cx="2240280" cy="347472"/>
          </a:xfrm>
          <a:prstGeom prst="roundRect">
            <a:avLst/>
          </a:prstGeom>
          <a:solidFill>
            <a:srgbClr val="FFF4DC"/>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CuadroTexto 19">
            <a:extLst>
              <a:ext uri="{FF2B5EF4-FFF2-40B4-BE49-F238E27FC236}">
                <a16:creationId xmlns:a16="http://schemas.microsoft.com/office/drawing/2014/main" id="{B1C75EF0-482E-CE74-8F8E-1AE19C4F132F}"/>
              </a:ext>
            </a:extLst>
          </p:cNvPr>
          <p:cNvSpPr txBox="1"/>
          <p:nvPr/>
        </p:nvSpPr>
        <p:spPr>
          <a:xfrm>
            <a:off x="7927848" y="5559552"/>
            <a:ext cx="2167128" cy="646331"/>
          </a:xfrm>
          <a:prstGeom prst="rect">
            <a:avLst/>
          </a:prstGeom>
          <a:noFill/>
        </p:spPr>
        <p:txBody>
          <a:bodyPr vert="horz" wrap="square" lIns="36576" tIns="36576" rIns="36576" bIns="36576" rtlCol="0" anchor="t">
            <a:noAutofit/>
          </a:bodyPr>
          <a:lstStyle/>
          <a:p>
            <a:pPr algn="ctr"/>
            <a:r>
              <a:rPr lang="es-MX" sz="920" b="1">
                <a:solidFill>
                  <a:srgbClr val="E7A227"/>
                </a:solidFill>
                <a:latin typeface="Aptos" panose="020B0004020202020204" pitchFamily="34" charset="0"/>
              </a:rPr>
              <a:t>Toronjil · línea insomnio</a:t>
            </a:r>
          </a:p>
        </p:txBody>
      </p:sp>
      <p:sp>
        <p:nvSpPr>
          <p:cNvPr id="21" name="CuadroTexto 20">
            <a:extLst>
              <a:ext uri="{FF2B5EF4-FFF2-40B4-BE49-F238E27FC236}">
                <a16:creationId xmlns:a16="http://schemas.microsoft.com/office/drawing/2014/main" id="{CD4AC941-76F0-993F-B7F4-FE28555B31D9}"/>
              </a:ext>
            </a:extLst>
          </p:cNvPr>
          <p:cNvSpPr txBox="1"/>
          <p:nvPr/>
        </p:nvSpPr>
        <p:spPr>
          <a:xfrm>
            <a:off x="1051560" y="6016752"/>
            <a:ext cx="10058400" cy="646331"/>
          </a:xfrm>
          <a:prstGeom prst="rect">
            <a:avLst/>
          </a:prstGeom>
          <a:noFill/>
        </p:spPr>
        <p:txBody>
          <a:bodyPr vert="horz" wrap="square" lIns="36576" tIns="36576" rIns="36576" bIns="36576" rtlCol="0" anchor="t">
            <a:noAutofit/>
          </a:bodyPr>
          <a:lstStyle/>
          <a:p>
            <a:pPr algn="ctr"/>
            <a:r>
              <a:rPr lang="es-MX" sz="930">
                <a:solidFill>
                  <a:srgbClr val="142019"/>
                </a:solidFill>
                <a:latin typeface="Aptos" panose="020B0004020202020204" pitchFamily="34" charset="0"/>
              </a:rPr>
              <a:t>Ubicación real propuesta: inicio/catálogo. También puede aparecer en cuenta y responderse mediante Alexa.</a:t>
            </a:r>
          </a:p>
        </p:txBody>
      </p:sp>
      <p:sp>
        <p:nvSpPr>
          <p:cNvPr id="22" name="CuadroTexto 21">
            <a:extLst>
              <a:ext uri="{FF2B5EF4-FFF2-40B4-BE49-F238E27FC236}">
                <a16:creationId xmlns:a16="http://schemas.microsoft.com/office/drawing/2014/main" id="{F952EEE3-DB69-8108-A6F1-9897551D5AC0}"/>
              </a:ext>
            </a:extLst>
          </p:cNvPr>
          <p:cNvSpPr txBox="1"/>
          <p:nvPr/>
        </p:nvSpPr>
        <p:spPr>
          <a:xfrm>
            <a:off x="530352" y="6547104"/>
            <a:ext cx="8046720" cy="369332"/>
          </a:xfrm>
          <a:prstGeom prst="rect">
            <a:avLst/>
          </a:prstGeom>
          <a:noFill/>
        </p:spPr>
        <p:txBody>
          <a:bodyPr vert="horz" wrap="square" lIns="36576" tIns="36576" rIns="36576" bIns="36576" rtlCol="0" anchor="t">
            <a:noAutofit/>
          </a:bodyPr>
          <a:lstStyle/>
          <a:p>
            <a:r>
              <a:rPr lang="es-MX" sz="800">
                <a:solidFill>
                  <a:srgbClr val="5F6F65"/>
                </a:solidFill>
                <a:latin typeface="Aptos" panose="020B0004020202020204" pitchFamily="34" charset="0"/>
              </a:rPr>
              <a:t>INHALEX · Propuestas de aprendizaje automático</a:t>
            </a:r>
          </a:p>
        </p:txBody>
      </p:sp>
    </p:spTree>
    <p:extLst>
      <p:ext uri="{BB962C8B-B14F-4D97-AF65-F5344CB8AC3E}">
        <p14:creationId xmlns:p14="http://schemas.microsoft.com/office/powerpoint/2010/main" val="380054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5F17468-00AE-8BF2-7A3B-F0058F9AC764}"/>
              </a:ext>
            </a:extLst>
          </p:cNvPr>
          <p:cNvSpPr txBox="1"/>
          <p:nvPr/>
        </p:nvSpPr>
        <p:spPr>
          <a:xfrm>
            <a:off x="502920" y="201168"/>
            <a:ext cx="5303520" cy="369332"/>
          </a:xfrm>
          <a:prstGeom prst="rect">
            <a:avLst/>
          </a:prstGeom>
          <a:noFill/>
        </p:spPr>
        <p:txBody>
          <a:bodyPr vert="horz" wrap="square" lIns="36576" tIns="36576" rIns="36576" bIns="36576" rtlCol="0" anchor="t">
            <a:noAutofit/>
          </a:bodyPr>
          <a:lstStyle/>
          <a:p>
            <a:r>
              <a:rPr lang="es-MX" sz="950" b="1">
                <a:solidFill>
                  <a:srgbClr val="087A2B"/>
                </a:solidFill>
                <a:latin typeface="Aptos" panose="020B0004020202020204" pitchFamily="34" charset="0"/>
              </a:rPr>
              <a:t>REGRESIÓN SUPERVISADA · PRODUCTO POR DÍA</a:t>
            </a:r>
          </a:p>
        </p:txBody>
      </p:sp>
      <p:sp>
        <p:nvSpPr>
          <p:cNvPr id="3" name="CuadroTexto 2">
            <a:extLst>
              <a:ext uri="{FF2B5EF4-FFF2-40B4-BE49-F238E27FC236}">
                <a16:creationId xmlns:a16="http://schemas.microsoft.com/office/drawing/2014/main" id="{2B4EB8A3-499F-09E3-3FA2-485568E8FFBF}"/>
              </a:ext>
            </a:extLst>
          </p:cNvPr>
          <p:cNvSpPr txBox="1"/>
          <p:nvPr/>
        </p:nvSpPr>
        <p:spPr>
          <a:xfrm>
            <a:off x="502920" y="438912"/>
            <a:ext cx="9784080" cy="369332"/>
          </a:xfrm>
          <a:prstGeom prst="rect">
            <a:avLst/>
          </a:prstGeom>
          <a:noFill/>
        </p:spPr>
        <p:txBody>
          <a:bodyPr vert="horz" wrap="square" lIns="36576" tIns="36576" rIns="36576" bIns="36576" rtlCol="0" anchor="t">
            <a:noAutofit/>
          </a:bodyPr>
          <a:lstStyle/>
          <a:p>
            <a:r>
              <a:rPr lang="es-MX" sz="2700" b="1">
                <a:solidFill>
                  <a:srgbClr val="142019"/>
                </a:solidFill>
                <a:latin typeface="Aptos" panose="020B0004020202020204" pitchFamily="34" charset="0"/>
              </a:rPr>
              <a:t>Propuesta 2 · Predicción de demanda por producto</a:t>
            </a:r>
          </a:p>
        </p:txBody>
      </p:sp>
      <p:sp>
        <p:nvSpPr>
          <p:cNvPr id="4" name="Rectángulo 3">
            <a:extLst>
              <a:ext uri="{FF2B5EF4-FFF2-40B4-BE49-F238E27FC236}">
                <a16:creationId xmlns:a16="http://schemas.microsoft.com/office/drawing/2014/main" id="{253B0D5E-163A-EBE3-78E3-8CCBB78F8B38}"/>
              </a:ext>
            </a:extLst>
          </p:cNvPr>
          <p:cNvSpPr/>
          <p:nvPr/>
        </p:nvSpPr>
        <p:spPr>
          <a:xfrm>
            <a:off x="502920" y="987552"/>
            <a:ext cx="11155680" cy="16459"/>
          </a:xfrm>
          <a:prstGeom prst="rect">
            <a:avLst/>
          </a:prstGeom>
          <a:solidFill>
            <a:srgbClr val="D9E3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Elipse 4">
            <a:extLst>
              <a:ext uri="{FF2B5EF4-FFF2-40B4-BE49-F238E27FC236}">
                <a16:creationId xmlns:a16="http://schemas.microsoft.com/office/drawing/2014/main" id="{AA042C21-394C-D0C9-379B-CB0572A0B860}"/>
              </a:ext>
            </a:extLst>
          </p:cNvPr>
          <p:cNvSpPr/>
          <p:nvPr/>
        </p:nvSpPr>
        <p:spPr>
          <a:xfrm>
            <a:off x="11283696" y="283464"/>
            <a:ext cx="356616" cy="356616"/>
          </a:xfrm>
          <a:prstGeom prst="ellipse">
            <a:avLst/>
          </a:prstGeom>
          <a:solidFill>
            <a:srgbClr val="087A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8B0D8049-4D96-5229-8171-F76F88468060}"/>
              </a:ext>
            </a:extLst>
          </p:cNvPr>
          <p:cNvSpPr txBox="1"/>
          <p:nvPr/>
        </p:nvSpPr>
        <p:spPr>
          <a:xfrm>
            <a:off x="11311128" y="301752"/>
            <a:ext cx="329184" cy="369332"/>
          </a:xfrm>
          <a:prstGeom prst="rect">
            <a:avLst/>
          </a:prstGeom>
          <a:noFill/>
        </p:spPr>
        <p:txBody>
          <a:bodyPr vert="horz" wrap="square" lIns="36576" tIns="36576" rIns="36576" bIns="36576" rtlCol="0" anchor="t">
            <a:noAutofit/>
          </a:bodyPr>
          <a:lstStyle/>
          <a:p>
            <a:pPr algn="ctr"/>
            <a:r>
              <a:rPr lang="es-MX" sz="1100" b="1">
                <a:solidFill>
                  <a:srgbClr val="FFFFFF"/>
                </a:solidFill>
                <a:latin typeface="Aptos" panose="020B0004020202020204" pitchFamily="34" charset="0"/>
              </a:rPr>
              <a:t>4</a:t>
            </a:r>
          </a:p>
        </p:txBody>
      </p:sp>
      <p:sp>
        <p:nvSpPr>
          <p:cNvPr id="7" name="Rectángulo: esquinas redondeadas 6">
            <a:extLst>
              <a:ext uri="{FF2B5EF4-FFF2-40B4-BE49-F238E27FC236}">
                <a16:creationId xmlns:a16="http://schemas.microsoft.com/office/drawing/2014/main" id="{41D2CA6A-42A6-9A25-E064-FFB318F93EB1}"/>
              </a:ext>
            </a:extLst>
          </p:cNvPr>
          <p:cNvSpPr/>
          <p:nvPr/>
        </p:nvSpPr>
        <p:spPr>
          <a:xfrm>
            <a:off x="8988552" y="475488"/>
            <a:ext cx="1828800" cy="292608"/>
          </a:xfrm>
          <a:prstGeom prst="roundRect">
            <a:avLst/>
          </a:prstGeom>
          <a:solidFill>
            <a:srgbClr val="F0EAF6"/>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CuadroTexto 7">
            <a:extLst>
              <a:ext uri="{FF2B5EF4-FFF2-40B4-BE49-F238E27FC236}">
                <a16:creationId xmlns:a16="http://schemas.microsoft.com/office/drawing/2014/main" id="{D62DF99D-B004-1BEC-5B05-A5C9D35F1A9E}"/>
              </a:ext>
            </a:extLst>
          </p:cNvPr>
          <p:cNvSpPr txBox="1"/>
          <p:nvPr/>
        </p:nvSpPr>
        <p:spPr>
          <a:xfrm>
            <a:off x="9025128" y="475488"/>
            <a:ext cx="1755648" cy="646331"/>
          </a:xfrm>
          <a:prstGeom prst="rect">
            <a:avLst/>
          </a:prstGeom>
          <a:noFill/>
        </p:spPr>
        <p:txBody>
          <a:bodyPr vert="horz" wrap="square" lIns="36576" tIns="36576" rIns="36576" bIns="36576" rtlCol="0" anchor="t">
            <a:noAutofit/>
          </a:bodyPr>
          <a:lstStyle/>
          <a:p>
            <a:pPr algn="ctr"/>
            <a:r>
              <a:rPr lang="es-MX" sz="880" b="1">
                <a:solidFill>
                  <a:srgbClr val="70449A"/>
                </a:solidFill>
                <a:latin typeface="Aptos" panose="020B0004020202020204" pitchFamily="34" charset="0"/>
              </a:rPr>
              <a:t>8,736 filas producto–día</a:t>
            </a:r>
          </a:p>
        </p:txBody>
      </p:sp>
      <p:sp>
        <p:nvSpPr>
          <p:cNvPr id="9" name="CuadroTexto 8">
            <a:extLst>
              <a:ext uri="{FF2B5EF4-FFF2-40B4-BE49-F238E27FC236}">
                <a16:creationId xmlns:a16="http://schemas.microsoft.com/office/drawing/2014/main" id="{338944D5-50B8-9662-17B7-D2B6FFA55B97}"/>
              </a:ext>
            </a:extLst>
          </p:cNvPr>
          <p:cNvSpPr txBox="1"/>
          <p:nvPr/>
        </p:nvSpPr>
        <p:spPr>
          <a:xfrm>
            <a:off x="530352" y="1115568"/>
            <a:ext cx="2834640" cy="646331"/>
          </a:xfrm>
          <a:prstGeom prst="rect">
            <a:avLst/>
          </a:prstGeom>
          <a:noFill/>
        </p:spPr>
        <p:txBody>
          <a:bodyPr vert="horz" wrap="square" lIns="36576" tIns="36576" rIns="36576" bIns="36576" rtlCol="0" anchor="t">
            <a:noAutofit/>
          </a:bodyPr>
          <a:lstStyle/>
          <a:p>
            <a:pPr algn="ctr"/>
            <a:r>
              <a:rPr lang="es-MX" sz="1050" b="1">
                <a:solidFill>
                  <a:srgbClr val="234C7A"/>
                </a:solidFill>
                <a:latin typeface="Aptos" panose="020B0004020202020204" pitchFamily="34" charset="0"/>
              </a:rPr>
              <a:t>COLECCIONES MONGODB</a:t>
            </a:r>
          </a:p>
        </p:txBody>
      </p:sp>
      <p:sp>
        <p:nvSpPr>
          <p:cNvPr id="10" name="Rectángulo: esquinas redondeadas 9">
            <a:extLst>
              <a:ext uri="{FF2B5EF4-FFF2-40B4-BE49-F238E27FC236}">
                <a16:creationId xmlns:a16="http://schemas.microsoft.com/office/drawing/2014/main" id="{4F07D570-5E64-5931-17D9-E1FD4468984B}"/>
              </a:ext>
            </a:extLst>
          </p:cNvPr>
          <p:cNvSpPr/>
          <p:nvPr/>
        </p:nvSpPr>
        <p:spPr>
          <a:xfrm>
            <a:off x="530352" y="1417320"/>
            <a:ext cx="2697480" cy="1051560"/>
          </a:xfrm>
          <a:prstGeom prst="roundRect">
            <a:avLst/>
          </a:prstGeom>
          <a:solidFill>
            <a:srgbClr val="FFFFFF"/>
          </a:solidFill>
          <a:ln w="13970">
            <a:solidFill>
              <a:srgbClr val="234C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esquinas redondeadas 10">
            <a:extLst>
              <a:ext uri="{FF2B5EF4-FFF2-40B4-BE49-F238E27FC236}">
                <a16:creationId xmlns:a16="http://schemas.microsoft.com/office/drawing/2014/main" id="{AB0F701C-9E6E-9889-7EB8-A6E8451407C1}"/>
              </a:ext>
            </a:extLst>
          </p:cNvPr>
          <p:cNvSpPr/>
          <p:nvPr/>
        </p:nvSpPr>
        <p:spPr>
          <a:xfrm>
            <a:off x="530352" y="1417320"/>
            <a:ext cx="2697480" cy="292608"/>
          </a:xfrm>
          <a:prstGeom prst="roundRect">
            <a:avLst/>
          </a:prstGeom>
          <a:solidFill>
            <a:srgbClr val="234C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CuadroTexto 11">
            <a:extLst>
              <a:ext uri="{FF2B5EF4-FFF2-40B4-BE49-F238E27FC236}">
                <a16:creationId xmlns:a16="http://schemas.microsoft.com/office/drawing/2014/main" id="{037971C9-6C59-5FD1-C88E-8261A1B50422}"/>
              </a:ext>
            </a:extLst>
          </p:cNvPr>
          <p:cNvSpPr txBox="1"/>
          <p:nvPr/>
        </p:nvSpPr>
        <p:spPr>
          <a:xfrm>
            <a:off x="621792" y="1426464"/>
            <a:ext cx="2514600" cy="369332"/>
          </a:xfrm>
          <a:prstGeom prst="rect">
            <a:avLst/>
          </a:prstGeom>
          <a:noFill/>
        </p:spPr>
        <p:txBody>
          <a:bodyPr vert="horz" wrap="square" lIns="36576" tIns="36576" rIns="36576" bIns="36576" rtlCol="0" anchor="t">
            <a:noAutofit/>
          </a:bodyPr>
          <a:lstStyle/>
          <a:p>
            <a:pPr algn="ctr"/>
            <a:r>
              <a:rPr lang="es-MX" sz="1150" b="1">
                <a:solidFill>
                  <a:srgbClr val="FFFFFF"/>
                </a:solidFill>
                <a:latin typeface="Aptos" panose="020B0004020202020204" pitchFamily="34" charset="0"/>
              </a:rPr>
              <a:t>pedidos</a:t>
            </a:r>
          </a:p>
        </p:txBody>
      </p:sp>
      <p:sp>
        <p:nvSpPr>
          <p:cNvPr id="13" name="CuadroTexto 12">
            <a:extLst>
              <a:ext uri="{FF2B5EF4-FFF2-40B4-BE49-F238E27FC236}">
                <a16:creationId xmlns:a16="http://schemas.microsoft.com/office/drawing/2014/main" id="{FEB3558B-2DE8-B8EA-D3F9-7388A10F1631}"/>
              </a:ext>
            </a:extLst>
          </p:cNvPr>
          <p:cNvSpPr txBox="1"/>
          <p:nvPr/>
        </p:nvSpPr>
        <p:spPr>
          <a:xfrm>
            <a:off x="640080" y="1755648"/>
            <a:ext cx="2478024" cy="1200329"/>
          </a:xfrm>
          <a:prstGeom prst="rect">
            <a:avLst/>
          </a:prstGeom>
          <a:noFill/>
        </p:spPr>
        <p:txBody>
          <a:bodyPr vert="horz" wrap="square" lIns="36576" tIns="36576" rIns="36576" bIns="36576" rtlCol="0" anchor="t">
            <a:noAutofit/>
          </a:bodyPr>
          <a:lstStyle/>
          <a:p>
            <a:r>
              <a:rPr lang="en-US" sz="930">
                <a:solidFill>
                  <a:srgbClr val="142019"/>
                </a:solidFill>
                <a:latin typeface="Aptos" panose="020B0004020202020204" pitchFamily="34" charset="0"/>
              </a:rPr>
              <a:t>• createdAt / status
• items[].productId
• requestedQuantity / unitPrice</a:t>
            </a:r>
            <a:endParaRPr lang="es-MX" sz="930">
              <a:solidFill>
                <a:srgbClr val="142019"/>
              </a:solidFill>
              <a:latin typeface="Aptos" panose="020B0004020202020204" pitchFamily="34" charset="0"/>
            </a:endParaRPr>
          </a:p>
        </p:txBody>
      </p:sp>
      <p:sp>
        <p:nvSpPr>
          <p:cNvPr id="14" name="Rectángulo: esquinas redondeadas 13">
            <a:extLst>
              <a:ext uri="{FF2B5EF4-FFF2-40B4-BE49-F238E27FC236}">
                <a16:creationId xmlns:a16="http://schemas.microsoft.com/office/drawing/2014/main" id="{853AF179-B534-A725-CF66-D8A35FC94A05}"/>
              </a:ext>
            </a:extLst>
          </p:cNvPr>
          <p:cNvSpPr/>
          <p:nvPr/>
        </p:nvSpPr>
        <p:spPr>
          <a:xfrm>
            <a:off x="530352" y="2578608"/>
            <a:ext cx="2697480" cy="960120"/>
          </a:xfrm>
          <a:prstGeom prst="roundRect">
            <a:avLst/>
          </a:prstGeom>
          <a:solidFill>
            <a:srgbClr val="FFFFFF"/>
          </a:solidFill>
          <a:ln w="13970">
            <a:solidFill>
              <a:srgbClr val="234C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Rectángulo: esquinas redondeadas 14">
            <a:extLst>
              <a:ext uri="{FF2B5EF4-FFF2-40B4-BE49-F238E27FC236}">
                <a16:creationId xmlns:a16="http://schemas.microsoft.com/office/drawing/2014/main" id="{323C6197-A1C9-D973-864D-2899339EF085}"/>
              </a:ext>
            </a:extLst>
          </p:cNvPr>
          <p:cNvSpPr/>
          <p:nvPr/>
        </p:nvSpPr>
        <p:spPr>
          <a:xfrm>
            <a:off x="530352" y="2578608"/>
            <a:ext cx="2697480" cy="292608"/>
          </a:xfrm>
          <a:prstGeom prst="roundRect">
            <a:avLst/>
          </a:prstGeom>
          <a:solidFill>
            <a:srgbClr val="234C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CuadroTexto 15">
            <a:extLst>
              <a:ext uri="{FF2B5EF4-FFF2-40B4-BE49-F238E27FC236}">
                <a16:creationId xmlns:a16="http://schemas.microsoft.com/office/drawing/2014/main" id="{77724BB2-37F6-E325-78CE-654217A5C15F}"/>
              </a:ext>
            </a:extLst>
          </p:cNvPr>
          <p:cNvSpPr txBox="1"/>
          <p:nvPr/>
        </p:nvSpPr>
        <p:spPr>
          <a:xfrm>
            <a:off x="621792" y="2587752"/>
            <a:ext cx="2514600" cy="369332"/>
          </a:xfrm>
          <a:prstGeom prst="rect">
            <a:avLst/>
          </a:prstGeom>
          <a:noFill/>
        </p:spPr>
        <p:txBody>
          <a:bodyPr vert="horz" wrap="square" lIns="36576" tIns="36576" rIns="36576" bIns="36576" rtlCol="0" anchor="t">
            <a:noAutofit/>
          </a:bodyPr>
          <a:lstStyle/>
          <a:p>
            <a:pPr algn="ctr"/>
            <a:r>
              <a:rPr lang="es-MX" sz="1150" b="1">
                <a:solidFill>
                  <a:srgbClr val="FFFFFF"/>
                </a:solidFill>
                <a:latin typeface="Aptos" panose="020B0004020202020204" pitchFamily="34" charset="0"/>
              </a:rPr>
              <a:t>productos</a:t>
            </a:r>
          </a:p>
        </p:txBody>
      </p:sp>
      <p:sp>
        <p:nvSpPr>
          <p:cNvPr id="17" name="CuadroTexto 16">
            <a:extLst>
              <a:ext uri="{FF2B5EF4-FFF2-40B4-BE49-F238E27FC236}">
                <a16:creationId xmlns:a16="http://schemas.microsoft.com/office/drawing/2014/main" id="{943A127A-53C7-7DEA-BED7-0B7998D584CD}"/>
              </a:ext>
            </a:extLst>
          </p:cNvPr>
          <p:cNvSpPr txBox="1"/>
          <p:nvPr/>
        </p:nvSpPr>
        <p:spPr>
          <a:xfrm>
            <a:off x="640080" y="2916936"/>
            <a:ext cx="2478024" cy="1200329"/>
          </a:xfrm>
          <a:prstGeom prst="rect">
            <a:avLst/>
          </a:prstGeom>
          <a:noFill/>
        </p:spPr>
        <p:txBody>
          <a:bodyPr vert="horz" wrap="square" lIns="36576" tIns="36576" rIns="36576" bIns="36576" rtlCol="0" anchor="t">
            <a:noAutofit/>
          </a:bodyPr>
          <a:lstStyle/>
          <a:p>
            <a:r>
              <a:rPr lang="en-US" sz="930">
                <a:solidFill>
                  <a:srgbClr val="142019"/>
                </a:solidFill>
                <a:latin typeface="Aptos" panose="020B0004020202020204" pitchFamily="34" charset="0"/>
              </a:rPr>
              <a:t>• category / price
• stockAvailable
• promoActive / promoPrice</a:t>
            </a:r>
            <a:endParaRPr lang="es-MX" sz="930">
              <a:solidFill>
                <a:srgbClr val="142019"/>
              </a:solidFill>
              <a:latin typeface="Aptos" panose="020B0004020202020204" pitchFamily="34" charset="0"/>
            </a:endParaRPr>
          </a:p>
        </p:txBody>
      </p:sp>
      <p:sp>
        <p:nvSpPr>
          <p:cNvPr id="18" name="Rectángulo: esquinas redondeadas 17">
            <a:extLst>
              <a:ext uri="{FF2B5EF4-FFF2-40B4-BE49-F238E27FC236}">
                <a16:creationId xmlns:a16="http://schemas.microsoft.com/office/drawing/2014/main" id="{47EB4D77-E5FB-8988-F7DF-4E1F2DADD084}"/>
              </a:ext>
            </a:extLst>
          </p:cNvPr>
          <p:cNvSpPr/>
          <p:nvPr/>
        </p:nvSpPr>
        <p:spPr>
          <a:xfrm>
            <a:off x="530352" y="3648456"/>
            <a:ext cx="2697480" cy="960120"/>
          </a:xfrm>
          <a:prstGeom prst="roundRect">
            <a:avLst/>
          </a:prstGeom>
          <a:solidFill>
            <a:srgbClr val="FFFFFF"/>
          </a:solidFill>
          <a:ln w="13970">
            <a:solidFill>
              <a:srgbClr val="234C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Rectángulo: esquinas redondeadas 18">
            <a:extLst>
              <a:ext uri="{FF2B5EF4-FFF2-40B4-BE49-F238E27FC236}">
                <a16:creationId xmlns:a16="http://schemas.microsoft.com/office/drawing/2014/main" id="{3712BD55-E7D5-D0B1-D00B-CEEFE2D447C7}"/>
              </a:ext>
            </a:extLst>
          </p:cNvPr>
          <p:cNvSpPr/>
          <p:nvPr/>
        </p:nvSpPr>
        <p:spPr>
          <a:xfrm>
            <a:off x="530352" y="3648456"/>
            <a:ext cx="2697480" cy="292608"/>
          </a:xfrm>
          <a:prstGeom prst="roundRect">
            <a:avLst/>
          </a:prstGeom>
          <a:solidFill>
            <a:srgbClr val="234C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CuadroTexto 19">
            <a:extLst>
              <a:ext uri="{FF2B5EF4-FFF2-40B4-BE49-F238E27FC236}">
                <a16:creationId xmlns:a16="http://schemas.microsoft.com/office/drawing/2014/main" id="{E3B8DAF8-612F-F0CB-61C7-BF35266CA5CD}"/>
              </a:ext>
            </a:extLst>
          </p:cNvPr>
          <p:cNvSpPr txBox="1"/>
          <p:nvPr/>
        </p:nvSpPr>
        <p:spPr>
          <a:xfrm>
            <a:off x="621792" y="3657600"/>
            <a:ext cx="2514600" cy="646331"/>
          </a:xfrm>
          <a:prstGeom prst="rect">
            <a:avLst/>
          </a:prstGeom>
          <a:noFill/>
        </p:spPr>
        <p:txBody>
          <a:bodyPr vert="horz" wrap="square" lIns="36576" tIns="36576" rIns="36576" bIns="36576" rtlCol="0" anchor="t">
            <a:noAutofit/>
          </a:bodyPr>
          <a:lstStyle/>
          <a:p>
            <a:pPr algn="ctr"/>
            <a:r>
              <a:rPr lang="es-MX" sz="1150" b="1">
                <a:solidFill>
                  <a:srgbClr val="FFFFFF"/>
                </a:solidFill>
                <a:latin typeface="Aptos" panose="020B0004020202020204" pitchFamily="34" charset="0"/>
              </a:rPr>
              <a:t>producto_inventario_movimientos</a:t>
            </a:r>
          </a:p>
        </p:txBody>
      </p:sp>
      <p:sp>
        <p:nvSpPr>
          <p:cNvPr id="21" name="CuadroTexto 20">
            <a:extLst>
              <a:ext uri="{FF2B5EF4-FFF2-40B4-BE49-F238E27FC236}">
                <a16:creationId xmlns:a16="http://schemas.microsoft.com/office/drawing/2014/main" id="{E6093EA3-C9E8-75B6-633C-2376EE7D0AE7}"/>
              </a:ext>
            </a:extLst>
          </p:cNvPr>
          <p:cNvSpPr txBox="1"/>
          <p:nvPr/>
        </p:nvSpPr>
        <p:spPr>
          <a:xfrm>
            <a:off x="640080" y="3986784"/>
            <a:ext cx="2478024" cy="646331"/>
          </a:xfrm>
          <a:prstGeom prst="rect">
            <a:avLst/>
          </a:prstGeom>
          <a:noFill/>
        </p:spPr>
        <p:txBody>
          <a:bodyPr vert="horz" wrap="square" lIns="36576" tIns="36576" rIns="36576" bIns="36576" rtlCol="0" anchor="t">
            <a:noAutofit/>
          </a:bodyPr>
          <a:lstStyle/>
          <a:p>
            <a:r>
              <a:rPr lang="es-MX" sz="930">
                <a:solidFill>
                  <a:srgbClr val="142019"/>
                </a:solidFill>
                <a:latin typeface="Aptos" panose="020B0004020202020204" pitchFamily="34" charset="0"/>
              </a:rPr>
              <a:t>• productId / type
• quantity / createdAt</a:t>
            </a:r>
          </a:p>
        </p:txBody>
      </p:sp>
      <p:sp>
        <p:nvSpPr>
          <p:cNvPr id="22" name="Rectángulo: esquinas redondeadas 21">
            <a:extLst>
              <a:ext uri="{FF2B5EF4-FFF2-40B4-BE49-F238E27FC236}">
                <a16:creationId xmlns:a16="http://schemas.microsoft.com/office/drawing/2014/main" id="{95F5E7B7-808B-1CCC-3C1A-808D779B3121}"/>
              </a:ext>
            </a:extLst>
          </p:cNvPr>
          <p:cNvSpPr/>
          <p:nvPr/>
        </p:nvSpPr>
        <p:spPr>
          <a:xfrm>
            <a:off x="530352" y="4718304"/>
            <a:ext cx="2697480" cy="960120"/>
          </a:xfrm>
          <a:prstGeom prst="roundRect">
            <a:avLst/>
          </a:prstGeom>
          <a:solidFill>
            <a:srgbClr val="FFFFFF"/>
          </a:solidFill>
          <a:ln w="13970">
            <a:solidFill>
              <a:srgbClr val="234C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Rectángulo: esquinas redondeadas 22">
            <a:extLst>
              <a:ext uri="{FF2B5EF4-FFF2-40B4-BE49-F238E27FC236}">
                <a16:creationId xmlns:a16="http://schemas.microsoft.com/office/drawing/2014/main" id="{E2467FC4-4F30-B35F-22E2-CC4B7266C777}"/>
              </a:ext>
            </a:extLst>
          </p:cNvPr>
          <p:cNvSpPr/>
          <p:nvPr/>
        </p:nvSpPr>
        <p:spPr>
          <a:xfrm>
            <a:off x="530352" y="4718304"/>
            <a:ext cx="2697480" cy="292608"/>
          </a:xfrm>
          <a:prstGeom prst="roundRect">
            <a:avLst/>
          </a:prstGeom>
          <a:solidFill>
            <a:srgbClr val="234C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4" name="CuadroTexto 23">
            <a:extLst>
              <a:ext uri="{FF2B5EF4-FFF2-40B4-BE49-F238E27FC236}">
                <a16:creationId xmlns:a16="http://schemas.microsoft.com/office/drawing/2014/main" id="{A1120833-8B30-D70C-6964-7A43A0773D16}"/>
              </a:ext>
            </a:extLst>
          </p:cNvPr>
          <p:cNvSpPr txBox="1"/>
          <p:nvPr/>
        </p:nvSpPr>
        <p:spPr>
          <a:xfrm>
            <a:off x="621792" y="4727448"/>
            <a:ext cx="2514600" cy="369332"/>
          </a:xfrm>
          <a:prstGeom prst="rect">
            <a:avLst/>
          </a:prstGeom>
          <a:noFill/>
        </p:spPr>
        <p:txBody>
          <a:bodyPr vert="horz" wrap="square" lIns="36576" tIns="36576" rIns="36576" bIns="36576" rtlCol="0" anchor="t">
            <a:noAutofit/>
          </a:bodyPr>
          <a:lstStyle/>
          <a:p>
            <a:pPr algn="ctr"/>
            <a:r>
              <a:rPr lang="es-MX" sz="1150" b="1">
                <a:solidFill>
                  <a:srgbClr val="FFFFFF"/>
                </a:solidFill>
                <a:latin typeface="Aptos" panose="020B0004020202020204" pitchFamily="34" charset="0"/>
              </a:rPr>
              <a:t>reseñas_producto</a:t>
            </a:r>
          </a:p>
        </p:txBody>
      </p:sp>
      <p:sp>
        <p:nvSpPr>
          <p:cNvPr id="25" name="CuadroTexto 24">
            <a:extLst>
              <a:ext uri="{FF2B5EF4-FFF2-40B4-BE49-F238E27FC236}">
                <a16:creationId xmlns:a16="http://schemas.microsoft.com/office/drawing/2014/main" id="{E285EF80-B01B-F4BB-579E-EE629245B9D2}"/>
              </a:ext>
            </a:extLst>
          </p:cNvPr>
          <p:cNvSpPr txBox="1"/>
          <p:nvPr/>
        </p:nvSpPr>
        <p:spPr>
          <a:xfrm>
            <a:off x="640080" y="5056632"/>
            <a:ext cx="2478024" cy="646331"/>
          </a:xfrm>
          <a:prstGeom prst="rect">
            <a:avLst/>
          </a:prstGeom>
          <a:noFill/>
        </p:spPr>
        <p:txBody>
          <a:bodyPr vert="horz" wrap="square" lIns="36576" tIns="36576" rIns="36576" bIns="36576" rtlCol="0" anchor="t">
            <a:noAutofit/>
          </a:bodyPr>
          <a:lstStyle/>
          <a:p>
            <a:r>
              <a:rPr lang="es-MX" sz="930">
                <a:solidFill>
                  <a:srgbClr val="142019"/>
                </a:solidFill>
                <a:latin typeface="Aptos" panose="020B0004020202020204" pitchFamily="34" charset="0"/>
              </a:rPr>
              <a:t>• productId / rating
• createdAt</a:t>
            </a:r>
          </a:p>
        </p:txBody>
      </p:sp>
      <p:sp>
        <p:nvSpPr>
          <p:cNvPr id="26" name="Flecha: a la derecha 25">
            <a:extLst>
              <a:ext uri="{FF2B5EF4-FFF2-40B4-BE49-F238E27FC236}">
                <a16:creationId xmlns:a16="http://schemas.microsoft.com/office/drawing/2014/main" id="{5BABFBF3-99AA-DAD1-4D0F-6D74F11B5A53}"/>
              </a:ext>
            </a:extLst>
          </p:cNvPr>
          <p:cNvSpPr/>
          <p:nvPr/>
        </p:nvSpPr>
        <p:spPr>
          <a:xfrm>
            <a:off x="3401568" y="2761488"/>
            <a:ext cx="987552" cy="1170432"/>
          </a:xfrm>
          <a:prstGeom prst="rightArrow">
            <a:avLst/>
          </a:prstGeom>
          <a:solidFill>
            <a:srgbClr val="087A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CuadroTexto 26">
            <a:extLst>
              <a:ext uri="{FF2B5EF4-FFF2-40B4-BE49-F238E27FC236}">
                <a16:creationId xmlns:a16="http://schemas.microsoft.com/office/drawing/2014/main" id="{DE682C2D-0BCB-6F36-726C-9B3EFA6E424E}"/>
              </a:ext>
            </a:extLst>
          </p:cNvPr>
          <p:cNvSpPr txBox="1"/>
          <p:nvPr/>
        </p:nvSpPr>
        <p:spPr>
          <a:xfrm>
            <a:off x="3438144" y="3026664"/>
            <a:ext cx="832104" cy="2862322"/>
          </a:xfrm>
          <a:prstGeom prst="rect">
            <a:avLst/>
          </a:prstGeom>
          <a:noFill/>
        </p:spPr>
        <p:txBody>
          <a:bodyPr vert="horz" wrap="square" lIns="36576" tIns="36576" rIns="36576" bIns="36576" rtlCol="0" anchor="t">
            <a:noAutofit/>
          </a:bodyPr>
          <a:lstStyle/>
          <a:p>
            <a:pPr algn="ctr"/>
            <a:r>
              <a:rPr lang="es-MX" sz="770" b="1">
                <a:solidFill>
                  <a:srgbClr val="FFFFFF"/>
                </a:solidFill>
                <a:latin typeface="Aptos" panose="020B0004020202020204" pitchFamily="34" charset="0"/>
              </a:rPr>
              <a:t>DESANIDAR
AGREGAR POR DÍA
LAGS / VENTANAS</a:t>
            </a:r>
          </a:p>
        </p:txBody>
      </p:sp>
      <p:sp>
        <p:nvSpPr>
          <p:cNvPr id="28" name="CuadroTexto 27">
            <a:extLst>
              <a:ext uri="{FF2B5EF4-FFF2-40B4-BE49-F238E27FC236}">
                <a16:creationId xmlns:a16="http://schemas.microsoft.com/office/drawing/2014/main" id="{B5B5A946-A9F8-6017-601F-6E185F0A1319}"/>
              </a:ext>
            </a:extLst>
          </p:cNvPr>
          <p:cNvSpPr txBox="1"/>
          <p:nvPr/>
        </p:nvSpPr>
        <p:spPr>
          <a:xfrm>
            <a:off x="3246120" y="4059936"/>
            <a:ext cx="1325880" cy="1200329"/>
          </a:xfrm>
          <a:prstGeom prst="rect">
            <a:avLst/>
          </a:prstGeom>
          <a:noFill/>
        </p:spPr>
        <p:txBody>
          <a:bodyPr vert="horz" wrap="square" lIns="36576" tIns="36576" rIns="36576" bIns="36576" rtlCol="0" anchor="t">
            <a:noAutofit/>
          </a:bodyPr>
          <a:lstStyle/>
          <a:p>
            <a:pPr algn="ctr"/>
            <a:r>
              <a:rPr lang="es-MX" sz="820">
                <a:solidFill>
                  <a:srgbClr val="5F6F65"/>
                </a:solidFill>
                <a:latin typeface="Aptos" panose="020B0004020202020204" pitchFamily="34" charset="0"/>
              </a:rPr>
              <a:t>Corte cronológico; nunca aleatorio</a:t>
            </a:r>
          </a:p>
        </p:txBody>
      </p:sp>
      <p:sp>
        <p:nvSpPr>
          <p:cNvPr id="29" name="Rectángulo: esquinas redondeadas 28">
            <a:extLst>
              <a:ext uri="{FF2B5EF4-FFF2-40B4-BE49-F238E27FC236}">
                <a16:creationId xmlns:a16="http://schemas.microsoft.com/office/drawing/2014/main" id="{357078BC-0792-51EA-2C4C-9D3B3BD0B1EE}"/>
              </a:ext>
            </a:extLst>
          </p:cNvPr>
          <p:cNvSpPr/>
          <p:nvPr/>
        </p:nvSpPr>
        <p:spPr>
          <a:xfrm>
            <a:off x="4553712" y="1243584"/>
            <a:ext cx="7114032" cy="4983480"/>
          </a:xfrm>
          <a:prstGeom prst="roundRect">
            <a:avLst/>
          </a:prstGeom>
          <a:solidFill>
            <a:srgbClr val="FFFFFF"/>
          </a:solidFill>
          <a:ln w="12700">
            <a:solidFill>
              <a:srgbClr val="D9E3DA"/>
            </a:solidFill>
          </a:ln>
          <a:effectLst>
            <a:outerShdw blurRad="101600" dist="28398" dir="3806086" rotWithShape="0">
              <a:scrgbClr r="0" g="0" b="0">
                <a:alpha val="18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0" name="CuadroTexto 29">
            <a:extLst>
              <a:ext uri="{FF2B5EF4-FFF2-40B4-BE49-F238E27FC236}">
                <a16:creationId xmlns:a16="http://schemas.microsoft.com/office/drawing/2014/main" id="{0FE75118-F0C8-926C-68F4-0E18813AF63C}"/>
              </a:ext>
            </a:extLst>
          </p:cNvPr>
          <p:cNvSpPr txBox="1"/>
          <p:nvPr/>
        </p:nvSpPr>
        <p:spPr>
          <a:xfrm>
            <a:off x="4773168" y="1399032"/>
            <a:ext cx="6629400" cy="369332"/>
          </a:xfrm>
          <a:prstGeom prst="rect">
            <a:avLst/>
          </a:prstGeom>
          <a:noFill/>
        </p:spPr>
        <p:txBody>
          <a:bodyPr vert="horz" wrap="square" lIns="36576" tIns="36576" rIns="36576" bIns="36576" rtlCol="0" anchor="t">
            <a:noAutofit/>
          </a:bodyPr>
          <a:lstStyle/>
          <a:p>
            <a:r>
              <a:rPr lang="es-MX" sz="1500" b="1">
                <a:solidFill>
                  <a:srgbClr val="145B33"/>
                </a:solidFill>
                <a:latin typeface="Aptos" panose="020B0004020202020204" pitchFamily="34" charset="0"/>
              </a:rPr>
              <a:t>Dataset / DataFrame · una fila por producto y día</a:t>
            </a:r>
          </a:p>
        </p:txBody>
      </p:sp>
      <p:graphicFrame>
        <p:nvGraphicFramePr>
          <p:cNvPr id="31" name="Tabla 30">
            <a:extLst>
              <a:ext uri="{FF2B5EF4-FFF2-40B4-BE49-F238E27FC236}">
                <a16:creationId xmlns:a16="http://schemas.microsoft.com/office/drawing/2014/main" id="{4FAE94CC-2021-2A70-8466-39FA60901613}"/>
              </a:ext>
            </a:extLst>
          </p:cNvPr>
          <p:cNvGraphicFramePr>
            <a:graphicFrameLocks noGrp="1"/>
          </p:cNvGraphicFramePr>
          <p:nvPr>
            <p:extLst>
              <p:ext uri="{D42A27DB-BD31-4B8C-83A1-F6EECF244321}">
                <p14:modId xmlns:p14="http://schemas.microsoft.com/office/powerpoint/2010/main" val="3200549333"/>
              </p:ext>
            </p:extLst>
          </p:nvPr>
        </p:nvGraphicFramePr>
        <p:xfrm>
          <a:off x="4773168" y="1810512"/>
          <a:ext cx="5632704" cy="1161288"/>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3586803952"/>
                    </a:ext>
                  </a:extLst>
                </a:gridCol>
                <a:gridCol w="1051560">
                  <a:extLst>
                    <a:ext uri="{9D8B030D-6E8A-4147-A177-3AD203B41FA5}">
                      <a16:colId xmlns:a16="http://schemas.microsoft.com/office/drawing/2014/main" val="109957553"/>
                    </a:ext>
                  </a:extLst>
                </a:gridCol>
                <a:gridCol w="704088">
                  <a:extLst>
                    <a:ext uri="{9D8B030D-6E8A-4147-A177-3AD203B41FA5}">
                      <a16:colId xmlns:a16="http://schemas.microsoft.com/office/drawing/2014/main" val="1911054143"/>
                    </a:ext>
                  </a:extLst>
                </a:gridCol>
                <a:gridCol w="768096">
                  <a:extLst>
                    <a:ext uri="{9D8B030D-6E8A-4147-A177-3AD203B41FA5}">
                      <a16:colId xmlns:a16="http://schemas.microsoft.com/office/drawing/2014/main" val="312440009"/>
                    </a:ext>
                  </a:extLst>
                </a:gridCol>
                <a:gridCol w="822960">
                  <a:extLst>
                    <a:ext uri="{9D8B030D-6E8A-4147-A177-3AD203B41FA5}">
                      <a16:colId xmlns:a16="http://schemas.microsoft.com/office/drawing/2014/main" val="2889613392"/>
                    </a:ext>
                  </a:extLst>
                </a:gridCol>
                <a:gridCol w="1188720">
                  <a:extLst>
                    <a:ext uri="{9D8B030D-6E8A-4147-A177-3AD203B41FA5}">
                      <a16:colId xmlns:a16="http://schemas.microsoft.com/office/drawing/2014/main" val="2413213164"/>
                    </a:ext>
                  </a:extLst>
                </a:gridCol>
              </a:tblGrid>
              <a:tr h="387096">
                <a:tc>
                  <a:txBody>
                    <a:bodyPr/>
                    <a:lstStyle/>
                    <a:p>
                      <a:pPr algn="ctr"/>
                      <a:r>
                        <a:rPr lang="es-MX" sz="840" b="1">
                          <a:solidFill>
                            <a:srgbClr val="FFFFFF"/>
                          </a:solidFill>
                          <a:latin typeface="Aptos" panose="020B0004020202020204" pitchFamily="34" charset="0"/>
                        </a:rPr>
                        <a:t>fecha</a:t>
                      </a:r>
                    </a:p>
                  </a:txBody>
                  <a:tcPr marL="36576" marR="36576" marT="18288" marB="18288" anchor="ctr">
                    <a:solidFill>
                      <a:srgbClr val="145B33"/>
                    </a:solidFill>
                  </a:tcPr>
                </a:tc>
                <a:tc>
                  <a:txBody>
                    <a:bodyPr/>
                    <a:lstStyle/>
                    <a:p>
                      <a:pPr algn="ctr"/>
                      <a:r>
                        <a:rPr lang="es-MX" sz="840" b="1">
                          <a:solidFill>
                            <a:srgbClr val="FFFFFF"/>
                          </a:solidFill>
                          <a:latin typeface="Aptos" panose="020B0004020202020204" pitchFamily="34" charset="0"/>
                        </a:rPr>
                        <a:t>producto</a:t>
                      </a:r>
                    </a:p>
                  </a:txBody>
                  <a:tcPr marL="36576" marR="36576" marT="18288" marB="18288" anchor="ctr">
                    <a:solidFill>
                      <a:srgbClr val="145B33"/>
                    </a:solidFill>
                  </a:tcPr>
                </a:tc>
                <a:tc>
                  <a:txBody>
                    <a:bodyPr/>
                    <a:lstStyle/>
                    <a:p>
                      <a:pPr algn="ctr"/>
                      <a:r>
                        <a:rPr lang="es-MX" sz="840" b="1">
                          <a:solidFill>
                            <a:srgbClr val="FFFFFF"/>
                          </a:solidFill>
                          <a:latin typeface="Aptos" panose="020B0004020202020204" pitchFamily="34" charset="0"/>
                        </a:rPr>
                        <a:t>lag_7</a:t>
                      </a:r>
                    </a:p>
                  </a:txBody>
                  <a:tcPr marL="36576" marR="36576" marT="18288" marB="18288" anchor="ctr">
                    <a:solidFill>
                      <a:srgbClr val="145B33"/>
                    </a:solidFill>
                  </a:tcPr>
                </a:tc>
                <a:tc>
                  <a:txBody>
                    <a:bodyPr/>
                    <a:lstStyle/>
                    <a:p>
                      <a:pPr algn="ctr"/>
                      <a:r>
                        <a:rPr lang="es-MX" sz="840" b="1">
                          <a:solidFill>
                            <a:srgbClr val="FFFFFF"/>
                          </a:solidFill>
                          <a:latin typeface="Aptos" panose="020B0004020202020204" pitchFamily="34" charset="0"/>
                        </a:rPr>
                        <a:t>media_7</a:t>
                      </a:r>
                    </a:p>
                  </a:txBody>
                  <a:tcPr marL="36576" marR="36576" marT="18288" marB="18288" anchor="ctr">
                    <a:solidFill>
                      <a:srgbClr val="145B33"/>
                    </a:solidFill>
                  </a:tcPr>
                </a:tc>
                <a:tc>
                  <a:txBody>
                    <a:bodyPr/>
                    <a:lstStyle/>
                    <a:p>
                      <a:pPr algn="ctr"/>
                      <a:r>
                        <a:rPr lang="es-MX" sz="840" b="1">
                          <a:solidFill>
                            <a:srgbClr val="FFFFFF"/>
                          </a:solidFill>
                          <a:latin typeface="Aptos" panose="020B0004020202020204" pitchFamily="34" charset="0"/>
                        </a:rPr>
                        <a:t>descuento</a:t>
                      </a:r>
                    </a:p>
                  </a:txBody>
                  <a:tcPr marL="36576" marR="36576" marT="18288" marB="18288" anchor="ctr">
                    <a:solidFill>
                      <a:srgbClr val="145B33"/>
                    </a:solidFill>
                  </a:tcPr>
                </a:tc>
                <a:tc>
                  <a:txBody>
                    <a:bodyPr/>
                    <a:lstStyle/>
                    <a:p>
                      <a:pPr algn="ctr"/>
                      <a:r>
                        <a:rPr lang="es-MX" sz="840" b="1">
                          <a:solidFill>
                            <a:srgbClr val="FFFFFF"/>
                          </a:solidFill>
                          <a:latin typeface="Aptos" panose="020B0004020202020204" pitchFamily="34" charset="0"/>
                        </a:rPr>
                        <a:t>Y: sig. 7 días</a:t>
                      </a:r>
                    </a:p>
                  </a:txBody>
                  <a:tcPr marL="36576" marR="36576" marT="18288" marB="18288" anchor="ctr">
                    <a:solidFill>
                      <a:srgbClr val="145B33"/>
                    </a:solidFill>
                  </a:tcPr>
                </a:tc>
                <a:extLst>
                  <a:ext uri="{0D108BD9-81ED-4DB2-BD59-A6C34878D82A}">
                    <a16:rowId xmlns:a16="http://schemas.microsoft.com/office/drawing/2014/main" val="3914002688"/>
                  </a:ext>
                </a:extLst>
              </a:tr>
              <a:tr h="387096">
                <a:tc>
                  <a:txBody>
                    <a:bodyPr/>
                    <a:lstStyle/>
                    <a:p>
                      <a:pPr algn="ctr"/>
                      <a:r>
                        <a:rPr lang="es-MX" sz="840">
                          <a:solidFill>
                            <a:srgbClr val="142019"/>
                          </a:solidFill>
                          <a:latin typeface="Aptos" panose="020B0004020202020204" pitchFamily="34" charset="0"/>
                        </a:rPr>
                        <a:t>2025-07-01</a:t>
                      </a:r>
                    </a:p>
                  </a:txBody>
                  <a:tcPr marL="36576" marR="36576" marT="18288" marB="18288" anchor="ctr">
                    <a:solidFill>
                      <a:srgbClr val="FFFFFF"/>
                    </a:solidFill>
                  </a:tcPr>
                </a:tc>
                <a:tc>
                  <a:txBody>
                    <a:bodyPr/>
                    <a:lstStyle/>
                    <a:p>
                      <a:pPr algn="ctr"/>
                      <a:r>
                        <a:rPr lang="es-MX" sz="840">
                          <a:solidFill>
                            <a:srgbClr val="142019"/>
                          </a:solidFill>
                          <a:latin typeface="Aptos" panose="020B0004020202020204" pitchFamily="34" charset="0"/>
                        </a:rPr>
                        <a:t>Menta</a:t>
                      </a:r>
                    </a:p>
                  </a:txBody>
                  <a:tcPr marL="36576" marR="36576" marT="18288" marB="18288" anchor="ctr">
                    <a:solidFill>
                      <a:srgbClr val="FFFFFF"/>
                    </a:solidFill>
                  </a:tcPr>
                </a:tc>
                <a:tc>
                  <a:txBody>
                    <a:bodyPr/>
                    <a:lstStyle/>
                    <a:p>
                      <a:pPr algn="ctr"/>
                      <a:r>
                        <a:rPr lang="es-MX" sz="840">
                          <a:solidFill>
                            <a:srgbClr val="142019"/>
                          </a:solidFill>
                          <a:latin typeface="Aptos" panose="020B0004020202020204" pitchFamily="34" charset="0"/>
                        </a:rPr>
                        <a:t>0</a:t>
                      </a:r>
                    </a:p>
                  </a:txBody>
                  <a:tcPr marL="36576" marR="36576" marT="18288" marB="18288" anchor="ctr">
                    <a:solidFill>
                      <a:srgbClr val="FFFFFF"/>
                    </a:solidFill>
                  </a:tcPr>
                </a:tc>
                <a:tc>
                  <a:txBody>
                    <a:bodyPr/>
                    <a:lstStyle/>
                    <a:p>
                      <a:pPr algn="ctr"/>
                      <a:r>
                        <a:rPr lang="es-MX" sz="840">
                          <a:solidFill>
                            <a:srgbClr val="142019"/>
                          </a:solidFill>
                          <a:latin typeface="Aptos" panose="020B0004020202020204" pitchFamily="34" charset="0"/>
                        </a:rPr>
                        <a:t>0.00</a:t>
                      </a:r>
                    </a:p>
                  </a:txBody>
                  <a:tcPr marL="36576" marR="36576" marT="18288" marB="18288" anchor="ctr">
                    <a:solidFill>
                      <a:srgbClr val="FFFFFF"/>
                    </a:solidFill>
                  </a:tcPr>
                </a:tc>
                <a:tc>
                  <a:txBody>
                    <a:bodyPr/>
                    <a:lstStyle/>
                    <a:p>
                      <a:pPr algn="ctr"/>
                      <a:r>
                        <a:rPr lang="es-MX" sz="840">
                          <a:solidFill>
                            <a:srgbClr val="142019"/>
                          </a:solidFill>
                          <a:latin typeface="Aptos" panose="020B0004020202020204" pitchFamily="34" charset="0"/>
                        </a:rPr>
                        <a:t>12 %</a:t>
                      </a:r>
                    </a:p>
                  </a:txBody>
                  <a:tcPr marL="36576" marR="36576" marT="18288" marB="18288" anchor="ctr">
                    <a:solidFill>
                      <a:srgbClr val="FFFFFF"/>
                    </a:solidFill>
                  </a:tcPr>
                </a:tc>
                <a:tc>
                  <a:txBody>
                    <a:bodyPr/>
                    <a:lstStyle/>
                    <a:p>
                      <a:pPr algn="ctr"/>
                      <a:r>
                        <a:rPr lang="es-MX" sz="840">
                          <a:solidFill>
                            <a:srgbClr val="142019"/>
                          </a:solidFill>
                          <a:latin typeface="Aptos" panose="020B0004020202020204" pitchFamily="34" charset="0"/>
                        </a:rPr>
                        <a:t>5</a:t>
                      </a:r>
                    </a:p>
                  </a:txBody>
                  <a:tcPr marL="36576" marR="36576" marT="18288" marB="18288" anchor="ctr">
                    <a:solidFill>
                      <a:srgbClr val="F0EAF6"/>
                    </a:solidFill>
                  </a:tcPr>
                </a:tc>
                <a:extLst>
                  <a:ext uri="{0D108BD9-81ED-4DB2-BD59-A6C34878D82A}">
                    <a16:rowId xmlns:a16="http://schemas.microsoft.com/office/drawing/2014/main" val="210414136"/>
                  </a:ext>
                </a:extLst>
              </a:tr>
              <a:tr h="387096">
                <a:tc>
                  <a:txBody>
                    <a:bodyPr/>
                    <a:lstStyle/>
                    <a:p>
                      <a:pPr algn="ctr"/>
                      <a:r>
                        <a:rPr lang="es-MX" sz="840">
                          <a:solidFill>
                            <a:srgbClr val="142019"/>
                          </a:solidFill>
                          <a:latin typeface="Aptos" panose="020B0004020202020204" pitchFamily="34" charset="0"/>
                        </a:rPr>
                        <a:t>2025-07-02</a:t>
                      </a:r>
                    </a:p>
                  </a:txBody>
                  <a:tcPr marL="36576" marR="36576" marT="18288" marB="18288" anchor="ctr">
                    <a:solidFill>
                      <a:srgbClr val="F8F6F0"/>
                    </a:solidFill>
                  </a:tcPr>
                </a:tc>
                <a:tc>
                  <a:txBody>
                    <a:bodyPr/>
                    <a:lstStyle/>
                    <a:p>
                      <a:pPr algn="ctr"/>
                      <a:r>
                        <a:rPr lang="es-MX" sz="840">
                          <a:solidFill>
                            <a:srgbClr val="142019"/>
                          </a:solidFill>
                          <a:latin typeface="Aptos" panose="020B0004020202020204" pitchFamily="34" charset="0"/>
                        </a:rPr>
                        <a:t>Lavanda</a:t>
                      </a:r>
                    </a:p>
                  </a:txBody>
                  <a:tcPr marL="36576" marR="36576" marT="18288" marB="18288" anchor="ctr">
                    <a:solidFill>
                      <a:srgbClr val="F8F6F0"/>
                    </a:solidFill>
                  </a:tcPr>
                </a:tc>
                <a:tc>
                  <a:txBody>
                    <a:bodyPr/>
                    <a:lstStyle/>
                    <a:p>
                      <a:pPr algn="ctr"/>
                      <a:r>
                        <a:rPr lang="es-MX" sz="840">
                          <a:solidFill>
                            <a:srgbClr val="142019"/>
                          </a:solidFill>
                          <a:latin typeface="Aptos" panose="020B0004020202020204" pitchFamily="34" charset="0"/>
                        </a:rPr>
                        <a:t>1</a:t>
                      </a:r>
                    </a:p>
                  </a:txBody>
                  <a:tcPr marL="36576" marR="36576" marT="18288" marB="18288" anchor="ctr">
                    <a:solidFill>
                      <a:srgbClr val="F8F6F0"/>
                    </a:solidFill>
                  </a:tcPr>
                </a:tc>
                <a:tc>
                  <a:txBody>
                    <a:bodyPr/>
                    <a:lstStyle/>
                    <a:p>
                      <a:pPr algn="ctr"/>
                      <a:r>
                        <a:rPr lang="es-MX" sz="840">
                          <a:solidFill>
                            <a:srgbClr val="142019"/>
                          </a:solidFill>
                          <a:latin typeface="Aptos" panose="020B0004020202020204" pitchFamily="34" charset="0"/>
                        </a:rPr>
                        <a:t>0.43</a:t>
                      </a:r>
                    </a:p>
                  </a:txBody>
                  <a:tcPr marL="36576" marR="36576" marT="18288" marB="18288" anchor="ctr">
                    <a:solidFill>
                      <a:srgbClr val="F8F6F0"/>
                    </a:solidFill>
                  </a:tcPr>
                </a:tc>
                <a:tc>
                  <a:txBody>
                    <a:bodyPr/>
                    <a:lstStyle/>
                    <a:p>
                      <a:pPr algn="ctr"/>
                      <a:r>
                        <a:rPr lang="es-MX" sz="840">
                          <a:solidFill>
                            <a:srgbClr val="142019"/>
                          </a:solidFill>
                          <a:latin typeface="Aptos" panose="020B0004020202020204" pitchFamily="34" charset="0"/>
                        </a:rPr>
                        <a:t>0 %</a:t>
                      </a:r>
                    </a:p>
                  </a:txBody>
                  <a:tcPr marL="36576" marR="36576" marT="18288" marB="18288" anchor="ctr">
                    <a:solidFill>
                      <a:srgbClr val="F8F6F0"/>
                    </a:solidFill>
                  </a:tcPr>
                </a:tc>
                <a:tc>
                  <a:txBody>
                    <a:bodyPr/>
                    <a:lstStyle/>
                    <a:p>
                      <a:pPr algn="ctr"/>
                      <a:r>
                        <a:rPr lang="es-MX" sz="840">
                          <a:solidFill>
                            <a:srgbClr val="142019"/>
                          </a:solidFill>
                          <a:latin typeface="Aptos" panose="020B0004020202020204" pitchFamily="34" charset="0"/>
                        </a:rPr>
                        <a:t>8</a:t>
                      </a:r>
                    </a:p>
                  </a:txBody>
                  <a:tcPr marL="36576" marR="36576" marT="18288" marB="18288" anchor="ctr">
                    <a:solidFill>
                      <a:srgbClr val="F0EAF6"/>
                    </a:solidFill>
                  </a:tcPr>
                </a:tc>
                <a:extLst>
                  <a:ext uri="{0D108BD9-81ED-4DB2-BD59-A6C34878D82A}">
                    <a16:rowId xmlns:a16="http://schemas.microsoft.com/office/drawing/2014/main" val="2490213483"/>
                  </a:ext>
                </a:extLst>
              </a:tr>
            </a:tbl>
          </a:graphicData>
        </a:graphic>
      </p:graphicFrame>
      <p:sp>
        <p:nvSpPr>
          <p:cNvPr id="32" name="Rectángulo: esquinas redondeadas 31">
            <a:extLst>
              <a:ext uri="{FF2B5EF4-FFF2-40B4-BE49-F238E27FC236}">
                <a16:creationId xmlns:a16="http://schemas.microsoft.com/office/drawing/2014/main" id="{5DE14A16-FD4A-F129-D47E-3694FFD52F46}"/>
              </a:ext>
            </a:extLst>
          </p:cNvPr>
          <p:cNvSpPr/>
          <p:nvPr/>
        </p:nvSpPr>
        <p:spPr>
          <a:xfrm>
            <a:off x="4773168" y="3227832"/>
            <a:ext cx="3154680" cy="1371600"/>
          </a:xfrm>
          <a:prstGeom prst="roundRect">
            <a:avLst/>
          </a:prstGeom>
          <a:solidFill>
            <a:srgbClr val="E8F3E8"/>
          </a:solidFill>
          <a:ln w="12700">
            <a:solidFill>
              <a:srgbClr val="087A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3" name="CuadroTexto 32">
            <a:extLst>
              <a:ext uri="{FF2B5EF4-FFF2-40B4-BE49-F238E27FC236}">
                <a16:creationId xmlns:a16="http://schemas.microsoft.com/office/drawing/2014/main" id="{197BA765-5912-AE9A-0DEC-90A9F7883930}"/>
              </a:ext>
            </a:extLst>
          </p:cNvPr>
          <p:cNvSpPr txBox="1"/>
          <p:nvPr/>
        </p:nvSpPr>
        <p:spPr>
          <a:xfrm>
            <a:off x="4983480" y="3364992"/>
            <a:ext cx="1188720" cy="646331"/>
          </a:xfrm>
          <a:prstGeom prst="rect">
            <a:avLst/>
          </a:prstGeom>
          <a:noFill/>
        </p:spPr>
        <p:txBody>
          <a:bodyPr vert="horz" wrap="square" lIns="36576" tIns="36576" rIns="36576" bIns="36576" rtlCol="0" anchor="t">
            <a:noAutofit/>
          </a:bodyPr>
          <a:lstStyle/>
          <a:p>
            <a:r>
              <a:rPr lang="es-MX" sz="920" b="1">
                <a:solidFill>
                  <a:srgbClr val="087A2B"/>
                </a:solidFill>
                <a:latin typeface="Aptos" panose="020B0004020202020204" pitchFamily="34" charset="0"/>
              </a:rPr>
              <a:t>VARIABLES X</a:t>
            </a:r>
          </a:p>
        </p:txBody>
      </p:sp>
      <p:sp>
        <p:nvSpPr>
          <p:cNvPr id="34" name="CuadroTexto 33">
            <a:extLst>
              <a:ext uri="{FF2B5EF4-FFF2-40B4-BE49-F238E27FC236}">
                <a16:creationId xmlns:a16="http://schemas.microsoft.com/office/drawing/2014/main" id="{73FA26B1-1CCF-2BCD-4FB9-FCE4EAC29BF1}"/>
              </a:ext>
            </a:extLst>
          </p:cNvPr>
          <p:cNvSpPr txBox="1"/>
          <p:nvPr/>
        </p:nvSpPr>
        <p:spPr>
          <a:xfrm>
            <a:off x="4956048" y="3621024"/>
            <a:ext cx="2743200" cy="1754326"/>
          </a:xfrm>
          <a:prstGeom prst="rect">
            <a:avLst/>
          </a:prstGeom>
          <a:noFill/>
        </p:spPr>
        <p:txBody>
          <a:bodyPr vert="horz" wrap="square" lIns="36576" tIns="36576" rIns="36576" bIns="36576" rtlCol="0" anchor="t">
            <a:noAutofit/>
          </a:bodyPr>
          <a:lstStyle/>
          <a:p>
            <a:r>
              <a:rPr lang="es-MX" sz="1020">
                <a:solidFill>
                  <a:srgbClr val="142019"/>
                </a:solidFill>
                <a:latin typeface="Aptos" panose="020B0004020202020204" pitchFamily="34" charset="0"/>
              </a:rPr>
              <a:t>Lags 1/7/14/28 · medias 7/28
precio y promoción · calendario
rating acumulado · interés observado</a:t>
            </a:r>
          </a:p>
        </p:txBody>
      </p:sp>
      <p:sp>
        <p:nvSpPr>
          <p:cNvPr id="35" name="Rectángulo: esquinas redondeadas 34">
            <a:extLst>
              <a:ext uri="{FF2B5EF4-FFF2-40B4-BE49-F238E27FC236}">
                <a16:creationId xmlns:a16="http://schemas.microsoft.com/office/drawing/2014/main" id="{BD25FF33-2303-45F1-7A8E-49CB83F6E5C0}"/>
              </a:ext>
            </a:extLst>
          </p:cNvPr>
          <p:cNvSpPr/>
          <p:nvPr/>
        </p:nvSpPr>
        <p:spPr>
          <a:xfrm>
            <a:off x="8138160" y="3227832"/>
            <a:ext cx="3246120" cy="1371600"/>
          </a:xfrm>
          <a:prstGeom prst="roundRect">
            <a:avLst/>
          </a:prstGeom>
          <a:solidFill>
            <a:srgbClr val="F0EAF6"/>
          </a:solidFill>
          <a:ln w="12700">
            <a:solidFill>
              <a:srgbClr val="7044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6" name="CuadroTexto 35">
            <a:extLst>
              <a:ext uri="{FF2B5EF4-FFF2-40B4-BE49-F238E27FC236}">
                <a16:creationId xmlns:a16="http://schemas.microsoft.com/office/drawing/2014/main" id="{0D98CF00-D7BA-C3A7-372B-5A4517870BAD}"/>
              </a:ext>
            </a:extLst>
          </p:cNvPr>
          <p:cNvSpPr txBox="1"/>
          <p:nvPr/>
        </p:nvSpPr>
        <p:spPr>
          <a:xfrm>
            <a:off x="8348472" y="3364992"/>
            <a:ext cx="1188720" cy="646331"/>
          </a:xfrm>
          <a:prstGeom prst="rect">
            <a:avLst/>
          </a:prstGeom>
          <a:noFill/>
        </p:spPr>
        <p:txBody>
          <a:bodyPr vert="horz" wrap="square" lIns="36576" tIns="36576" rIns="36576" bIns="36576" rtlCol="0" anchor="t">
            <a:noAutofit/>
          </a:bodyPr>
          <a:lstStyle/>
          <a:p>
            <a:r>
              <a:rPr lang="es-MX" sz="920" b="1">
                <a:solidFill>
                  <a:srgbClr val="70449A"/>
                </a:solidFill>
                <a:latin typeface="Aptos" panose="020B0004020202020204" pitchFamily="34" charset="0"/>
              </a:rPr>
              <a:t>VARIABLE Y</a:t>
            </a:r>
          </a:p>
        </p:txBody>
      </p:sp>
      <p:sp>
        <p:nvSpPr>
          <p:cNvPr id="37" name="CuadroTexto 36">
            <a:extLst>
              <a:ext uri="{FF2B5EF4-FFF2-40B4-BE49-F238E27FC236}">
                <a16:creationId xmlns:a16="http://schemas.microsoft.com/office/drawing/2014/main" id="{F6B6030D-91F1-D7E9-9540-8D7FBBDB3731}"/>
              </a:ext>
            </a:extLst>
          </p:cNvPr>
          <p:cNvSpPr txBox="1"/>
          <p:nvPr/>
        </p:nvSpPr>
        <p:spPr>
          <a:xfrm>
            <a:off x="8321040" y="3666744"/>
            <a:ext cx="2743200" cy="646331"/>
          </a:xfrm>
          <a:prstGeom prst="rect">
            <a:avLst/>
          </a:prstGeom>
          <a:noFill/>
        </p:spPr>
        <p:txBody>
          <a:bodyPr vert="horz" wrap="square" lIns="36576" tIns="36576" rIns="36576" bIns="36576" rtlCol="0" anchor="t">
            <a:noAutofit/>
          </a:bodyPr>
          <a:lstStyle/>
          <a:p>
            <a:pPr algn="ctr"/>
            <a:r>
              <a:rPr lang="en-US" sz="1200" b="1">
                <a:solidFill>
                  <a:srgbClr val="142019"/>
                </a:solidFill>
                <a:latin typeface="Aptos" panose="020B0004020202020204" pitchFamily="34" charset="0"/>
              </a:rPr>
              <a:t>target_requested_units_next_7d</a:t>
            </a:r>
            <a:endParaRPr lang="es-MX" sz="1200" b="1">
              <a:solidFill>
                <a:srgbClr val="142019"/>
              </a:solidFill>
              <a:latin typeface="Aptos" panose="020B0004020202020204" pitchFamily="34" charset="0"/>
            </a:endParaRPr>
          </a:p>
        </p:txBody>
      </p:sp>
      <p:sp>
        <p:nvSpPr>
          <p:cNvPr id="38" name="CuadroTexto 37">
            <a:extLst>
              <a:ext uri="{FF2B5EF4-FFF2-40B4-BE49-F238E27FC236}">
                <a16:creationId xmlns:a16="http://schemas.microsoft.com/office/drawing/2014/main" id="{98CF8796-28BC-FB59-E780-C09B2C0C5A79}"/>
              </a:ext>
            </a:extLst>
          </p:cNvPr>
          <p:cNvSpPr txBox="1"/>
          <p:nvPr/>
        </p:nvSpPr>
        <p:spPr>
          <a:xfrm>
            <a:off x="8339328" y="4014216"/>
            <a:ext cx="2743200" cy="923330"/>
          </a:xfrm>
          <a:prstGeom prst="rect">
            <a:avLst/>
          </a:prstGeom>
          <a:noFill/>
        </p:spPr>
        <p:txBody>
          <a:bodyPr vert="horz" wrap="square" lIns="36576" tIns="36576" rIns="36576" bIns="36576" rtlCol="0" anchor="t">
            <a:noAutofit/>
          </a:bodyPr>
          <a:lstStyle/>
          <a:p>
            <a:pPr algn="ctr"/>
            <a:r>
              <a:rPr lang="es-MX" sz="950">
                <a:solidFill>
                  <a:srgbClr val="5F6F65"/>
                </a:solidFill>
                <a:latin typeface="Aptos" panose="020B0004020202020204" pitchFamily="34" charset="0"/>
              </a:rPr>
              <a:t>Valor continuo: unidades solicitadas durante la próxima semana.</a:t>
            </a:r>
          </a:p>
        </p:txBody>
      </p:sp>
      <p:sp>
        <p:nvSpPr>
          <p:cNvPr id="39" name="Rectángulo: esquinas redondeadas 38">
            <a:extLst>
              <a:ext uri="{FF2B5EF4-FFF2-40B4-BE49-F238E27FC236}">
                <a16:creationId xmlns:a16="http://schemas.microsoft.com/office/drawing/2014/main" id="{A1BA80EA-DC5B-6A27-34A8-A61AD704B291}"/>
              </a:ext>
            </a:extLst>
          </p:cNvPr>
          <p:cNvSpPr/>
          <p:nvPr/>
        </p:nvSpPr>
        <p:spPr>
          <a:xfrm>
            <a:off x="4773168" y="4901184"/>
            <a:ext cx="1719072" cy="310896"/>
          </a:xfrm>
          <a:prstGeom prst="roundRect">
            <a:avLst/>
          </a:prstGeom>
          <a:solidFill>
            <a:srgbClr val="E9F0F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0" name="CuadroTexto 39">
            <a:extLst>
              <a:ext uri="{FF2B5EF4-FFF2-40B4-BE49-F238E27FC236}">
                <a16:creationId xmlns:a16="http://schemas.microsoft.com/office/drawing/2014/main" id="{C70BF51A-23D1-BB80-87C0-0E45E1B4F382}"/>
              </a:ext>
            </a:extLst>
          </p:cNvPr>
          <p:cNvSpPr txBox="1"/>
          <p:nvPr/>
        </p:nvSpPr>
        <p:spPr>
          <a:xfrm>
            <a:off x="4809744" y="4901184"/>
            <a:ext cx="1645920" cy="646331"/>
          </a:xfrm>
          <a:prstGeom prst="rect">
            <a:avLst/>
          </a:prstGeom>
          <a:noFill/>
        </p:spPr>
        <p:txBody>
          <a:bodyPr vert="horz" wrap="square" lIns="36576" tIns="36576" rIns="36576" bIns="36576" rtlCol="0" anchor="t">
            <a:noAutofit/>
          </a:bodyPr>
          <a:lstStyle/>
          <a:p>
            <a:pPr algn="ctr"/>
            <a:r>
              <a:rPr lang="es-MX" sz="880" b="1">
                <a:solidFill>
                  <a:srgbClr val="234C7A"/>
                </a:solidFill>
                <a:latin typeface="Aptos" panose="020B0004020202020204" pitchFamily="34" charset="0"/>
              </a:rPr>
              <a:t>16 productos × 546 días</a:t>
            </a:r>
          </a:p>
        </p:txBody>
      </p:sp>
      <p:sp>
        <p:nvSpPr>
          <p:cNvPr id="41" name="Rectángulo: esquinas redondeadas 40">
            <a:extLst>
              <a:ext uri="{FF2B5EF4-FFF2-40B4-BE49-F238E27FC236}">
                <a16:creationId xmlns:a16="http://schemas.microsoft.com/office/drawing/2014/main" id="{8C936445-B3F6-7232-38DF-2114141C562C}"/>
              </a:ext>
            </a:extLst>
          </p:cNvPr>
          <p:cNvSpPr/>
          <p:nvPr/>
        </p:nvSpPr>
        <p:spPr>
          <a:xfrm>
            <a:off x="6656832" y="4901184"/>
            <a:ext cx="1737360" cy="310896"/>
          </a:xfrm>
          <a:prstGeom prst="roundRect">
            <a:avLst/>
          </a:prstGeom>
          <a:solidFill>
            <a:srgbClr val="E9F0F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2" name="CuadroTexto 41">
            <a:extLst>
              <a:ext uri="{FF2B5EF4-FFF2-40B4-BE49-F238E27FC236}">
                <a16:creationId xmlns:a16="http://schemas.microsoft.com/office/drawing/2014/main" id="{17B5BC16-9A65-F09B-E245-7DC8825A6B1B}"/>
              </a:ext>
            </a:extLst>
          </p:cNvPr>
          <p:cNvSpPr txBox="1"/>
          <p:nvPr/>
        </p:nvSpPr>
        <p:spPr>
          <a:xfrm>
            <a:off x="6693408" y="4901184"/>
            <a:ext cx="1664208" cy="646331"/>
          </a:xfrm>
          <a:prstGeom prst="rect">
            <a:avLst/>
          </a:prstGeom>
          <a:noFill/>
        </p:spPr>
        <p:txBody>
          <a:bodyPr vert="horz" wrap="square" lIns="36576" tIns="36576" rIns="36576" bIns="36576" rtlCol="0" anchor="t">
            <a:noAutofit/>
          </a:bodyPr>
          <a:lstStyle/>
          <a:p>
            <a:pPr algn="ctr"/>
            <a:r>
              <a:rPr lang="es-MX" sz="880" b="1">
                <a:solidFill>
                  <a:srgbClr val="234C7A"/>
                </a:solidFill>
                <a:latin typeface="Aptos" panose="020B0004020202020204" pitchFamily="34" charset="0"/>
              </a:rPr>
              <a:t>8,624 filas entrenables</a:t>
            </a:r>
          </a:p>
        </p:txBody>
      </p:sp>
      <p:sp>
        <p:nvSpPr>
          <p:cNvPr id="43" name="Rectángulo: esquinas redondeadas 42">
            <a:extLst>
              <a:ext uri="{FF2B5EF4-FFF2-40B4-BE49-F238E27FC236}">
                <a16:creationId xmlns:a16="http://schemas.microsoft.com/office/drawing/2014/main" id="{C1F8147E-7E0C-F269-96DF-A8E24F192065}"/>
              </a:ext>
            </a:extLst>
          </p:cNvPr>
          <p:cNvSpPr/>
          <p:nvPr/>
        </p:nvSpPr>
        <p:spPr>
          <a:xfrm>
            <a:off x="8558784" y="4901184"/>
            <a:ext cx="1417319" cy="310896"/>
          </a:xfrm>
          <a:prstGeom prst="roundRect">
            <a:avLst/>
          </a:prstGeom>
          <a:solidFill>
            <a:srgbClr val="E9F0F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4" name="CuadroTexto 43">
            <a:extLst>
              <a:ext uri="{FF2B5EF4-FFF2-40B4-BE49-F238E27FC236}">
                <a16:creationId xmlns:a16="http://schemas.microsoft.com/office/drawing/2014/main" id="{B3F4E0B6-9EC1-96EA-89EC-175E7B600A1E}"/>
              </a:ext>
            </a:extLst>
          </p:cNvPr>
          <p:cNvSpPr txBox="1"/>
          <p:nvPr/>
        </p:nvSpPr>
        <p:spPr>
          <a:xfrm>
            <a:off x="8595360" y="4901184"/>
            <a:ext cx="1344168" cy="646331"/>
          </a:xfrm>
          <a:prstGeom prst="rect">
            <a:avLst/>
          </a:prstGeom>
          <a:noFill/>
        </p:spPr>
        <p:txBody>
          <a:bodyPr vert="horz" wrap="square" lIns="36576" tIns="36576" rIns="36576" bIns="36576" rtlCol="0" anchor="t">
            <a:noAutofit/>
          </a:bodyPr>
          <a:lstStyle/>
          <a:p>
            <a:pPr algn="ctr"/>
            <a:r>
              <a:rPr lang="es-MX" sz="880" b="1">
                <a:solidFill>
                  <a:srgbClr val="234C7A"/>
                </a:solidFill>
                <a:latin typeface="Aptos" panose="020B0004020202020204" pitchFamily="34" charset="0"/>
              </a:rPr>
              <a:t>Y: 0–26 unidades</a:t>
            </a:r>
          </a:p>
        </p:txBody>
      </p:sp>
      <p:sp>
        <p:nvSpPr>
          <p:cNvPr id="45" name="Rectángulo: esquinas redondeadas 44">
            <a:extLst>
              <a:ext uri="{FF2B5EF4-FFF2-40B4-BE49-F238E27FC236}">
                <a16:creationId xmlns:a16="http://schemas.microsoft.com/office/drawing/2014/main" id="{E8BCE011-6C2D-4575-9ABF-2B58D558826F}"/>
              </a:ext>
            </a:extLst>
          </p:cNvPr>
          <p:cNvSpPr/>
          <p:nvPr/>
        </p:nvSpPr>
        <p:spPr>
          <a:xfrm>
            <a:off x="4773168" y="5413248"/>
            <a:ext cx="6611112" cy="566928"/>
          </a:xfrm>
          <a:prstGeom prst="roundRect">
            <a:avLst/>
          </a:prstGeom>
          <a:solidFill>
            <a:srgbClr val="FFF4DC"/>
          </a:solidFill>
          <a:ln w="12700">
            <a:solidFill>
              <a:srgbClr val="E7A2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6" name="CuadroTexto 45">
            <a:extLst>
              <a:ext uri="{FF2B5EF4-FFF2-40B4-BE49-F238E27FC236}">
                <a16:creationId xmlns:a16="http://schemas.microsoft.com/office/drawing/2014/main" id="{801A224B-D4B5-59B5-B5E3-AFC35DFBBF38}"/>
              </a:ext>
            </a:extLst>
          </p:cNvPr>
          <p:cNvSpPr txBox="1"/>
          <p:nvPr/>
        </p:nvSpPr>
        <p:spPr>
          <a:xfrm>
            <a:off x="5010912" y="5522976"/>
            <a:ext cx="6126480" cy="646331"/>
          </a:xfrm>
          <a:prstGeom prst="rect">
            <a:avLst/>
          </a:prstGeom>
          <a:noFill/>
        </p:spPr>
        <p:txBody>
          <a:bodyPr vert="horz" wrap="square" lIns="36576" tIns="36576" rIns="36576" bIns="36576" rtlCol="0" anchor="t">
            <a:noAutofit/>
          </a:bodyPr>
          <a:lstStyle/>
          <a:p>
            <a:pPr algn="ctr"/>
            <a:r>
              <a:rPr lang="es-MX" sz="1220" b="1">
                <a:solidFill>
                  <a:srgbClr val="142019"/>
                </a:solidFill>
                <a:latin typeface="Aptos" panose="020B0004020202020204" pitchFamily="34" charset="0"/>
              </a:rPr>
              <a:t>UTILIDAD · anticipar reabastecimiento y reducir faltantes o sobreinventario.</a:t>
            </a:r>
          </a:p>
        </p:txBody>
      </p:sp>
      <p:sp>
        <p:nvSpPr>
          <p:cNvPr id="47" name="CuadroTexto 46">
            <a:extLst>
              <a:ext uri="{FF2B5EF4-FFF2-40B4-BE49-F238E27FC236}">
                <a16:creationId xmlns:a16="http://schemas.microsoft.com/office/drawing/2014/main" id="{5188A247-7225-AA23-CE7F-47D8C290058E}"/>
              </a:ext>
            </a:extLst>
          </p:cNvPr>
          <p:cNvSpPr txBox="1"/>
          <p:nvPr/>
        </p:nvSpPr>
        <p:spPr>
          <a:xfrm>
            <a:off x="530352" y="6547104"/>
            <a:ext cx="8046720" cy="369332"/>
          </a:xfrm>
          <a:prstGeom prst="rect">
            <a:avLst/>
          </a:prstGeom>
          <a:noFill/>
        </p:spPr>
        <p:txBody>
          <a:bodyPr vert="horz" wrap="square" lIns="36576" tIns="36576" rIns="36576" bIns="36576" rtlCol="0" anchor="t">
            <a:noAutofit/>
          </a:bodyPr>
          <a:lstStyle/>
          <a:p>
            <a:r>
              <a:rPr lang="es-MX" sz="800">
                <a:solidFill>
                  <a:srgbClr val="5F6F65"/>
                </a:solidFill>
                <a:latin typeface="Aptos" panose="020B0004020202020204" pitchFamily="34" charset="0"/>
              </a:rPr>
              <a:t>INHALEX · Propuestas de aprendizaje automático</a:t>
            </a:r>
          </a:p>
        </p:txBody>
      </p:sp>
    </p:spTree>
    <p:extLst>
      <p:ext uri="{BB962C8B-B14F-4D97-AF65-F5344CB8AC3E}">
        <p14:creationId xmlns:p14="http://schemas.microsoft.com/office/powerpoint/2010/main" val="1136084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8732D9F-4932-F3F3-307E-56F66769EAEB}"/>
              </a:ext>
            </a:extLst>
          </p:cNvPr>
          <p:cNvSpPr txBox="1"/>
          <p:nvPr/>
        </p:nvSpPr>
        <p:spPr>
          <a:xfrm>
            <a:off x="502920" y="201168"/>
            <a:ext cx="5303520" cy="369332"/>
          </a:xfrm>
          <a:prstGeom prst="rect">
            <a:avLst/>
          </a:prstGeom>
          <a:noFill/>
        </p:spPr>
        <p:txBody>
          <a:bodyPr vert="horz" wrap="square" lIns="36576" tIns="36576" rIns="36576" bIns="36576" rtlCol="0" anchor="t">
            <a:noAutofit/>
          </a:bodyPr>
          <a:lstStyle/>
          <a:p>
            <a:r>
              <a:rPr lang="es-MX" sz="950" b="1">
                <a:solidFill>
                  <a:srgbClr val="087A2B"/>
                </a:solidFill>
                <a:latin typeface="Aptos" panose="020B0004020202020204" pitchFamily="34" charset="0"/>
              </a:rPr>
              <a:t>PANEL ADMINISTRATIVO · VENTAS E INVENTARIO</a:t>
            </a:r>
          </a:p>
        </p:txBody>
      </p:sp>
      <p:sp>
        <p:nvSpPr>
          <p:cNvPr id="3" name="CuadroTexto 2">
            <a:extLst>
              <a:ext uri="{FF2B5EF4-FFF2-40B4-BE49-F238E27FC236}">
                <a16:creationId xmlns:a16="http://schemas.microsoft.com/office/drawing/2014/main" id="{BDDB6060-BE08-66A9-6B8E-5EA802EF69F0}"/>
              </a:ext>
            </a:extLst>
          </p:cNvPr>
          <p:cNvSpPr txBox="1"/>
          <p:nvPr/>
        </p:nvSpPr>
        <p:spPr>
          <a:xfrm>
            <a:off x="502920" y="438912"/>
            <a:ext cx="9784080" cy="369332"/>
          </a:xfrm>
          <a:prstGeom prst="rect">
            <a:avLst/>
          </a:prstGeom>
          <a:noFill/>
        </p:spPr>
        <p:txBody>
          <a:bodyPr vert="horz" wrap="square" lIns="36576" tIns="36576" rIns="36576" bIns="36576" rtlCol="0" anchor="t">
            <a:noAutofit/>
          </a:bodyPr>
          <a:lstStyle/>
          <a:p>
            <a:r>
              <a:rPr lang="es-MX" sz="2700" b="1">
                <a:solidFill>
                  <a:srgbClr val="142019"/>
                </a:solidFill>
                <a:latin typeface="Aptos" panose="020B0004020202020204" pitchFamily="34" charset="0"/>
              </a:rPr>
              <a:t>¿Dónde se implementaría? · Pronóstico de inventario</a:t>
            </a:r>
          </a:p>
        </p:txBody>
      </p:sp>
      <p:sp>
        <p:nvSpPr>
          <p:cNvPr id="4" name="Rectángulo 3">
            <a:extLst>
              <a:ext uri="{FF2B5EF4-FFF2-40B4-BE49-F238E27FC236}">
                <a16:creationId xmlns:a16="http://schemas.microsoft.com/office/drawing/2014/main" id="{1F15611E-DBEE-DDA9-5BD7-817951B64C65}"/>
              </a:ext>
            </a:extLst>
          </p:cNvPr>
          <p:cNvSpPr/>
          <p:nvPr/>
        </p:nvSpPr>
        <p:spPr>
          <a:xfrm>
            <a:off x="502920" y="987552"/>
            <a:ext cx="11155680" cy="16459"/>
          </a:xfrm>
          <a:prstGeom prst="rect">
            <a:avLst/>
          </a:prstGeom>
          <a:solidFill>
            <a:srgbClr val="D9E3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Elipse 4">
            <a:extLst>
              <a:ext uri="{FF2B5EF4-FFF2-40B4-BE49-F238E27FC236}">
                <a16:creationId xmlns:a16="http://schemas.microsoft.com/office/drawing/2014/main" id="{BF12A57E-AC2D-72C6-4EE3-F93211A8C8C2}"/>
              </a:ext>
            </a:extLst>
          </p:cNvPr>
          <p:cNvSpPr/>
          <p:nvPr/>
        </p:nvSpPr>
        <p:spPr>
          <a:xfrm>
            <a:off x="11283696" y="283464"/>
            <a:ext cx="356616" cy="356616"/>
          </a:xfrm>
          <a:prstGeom prst="ellipse">
            <a:avLst/>
          </a:prstGeom>
          <a:solidFill>
            <a:srgbClr val="087A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56070449-E8F6-BEA2-CF41-FB89A4515EFA}"/>
              </a:ext>
            </a:extLst>
          </p:cNvPr>
          <p:cNvSpPr txBox="1"/>
          <p:nvPr/>
        </p:nvSpPr>
        <p:spPr>
          <a:xfrm>
            <a:off x="11311128" y="301752"/>
            <a:ext cx="329184" cy="369332"/>
          </a:xfrm>
          <a:prstGeom prst="rect">
            <a:avLst/>
          </a:prstGeom>
          <a:noFill/>
        </p:spPr>
        <p:txBody>
          <a:bodyPr vert="horz" wrap="square" lIns="36576" tIns="36576" rIns="36576" bIns="36576" rtlCol="0" anchor="t">
            <a:noAutofit/>
          </a:bodyPr>
          <a:lstStyle/>
          <a:p>
            <a:pPr algn="ctr"/>
            <a:r>
              <a:rPr lang="es-MX" sz="1100" b="1">
                <a:solidFill>
                  <a:srgbClr val="FFFFFF"/>
                </a:solidFill>
                <a:latin typeface="Aptos" panose="020B0004020202020204" pitchFamily="34" charset="0"/>
              </a:rPr>
              <a:t>5</a:t>
            </a:r>
          </a:p>
        </p:txBody>
      </p:sp>
      <p:sp>
        <p:nvSpPr>
          <p:cNvPr id="7" name="Rectángulo: esquinas redondeadas 6">
            <a:extLst>
              <a:ext uri="{FF2B5EF4-FFF2-40B4-BE49-F238E27FC236}">
                <a16:creationId xmlns:a16="http://schemas.microsoft.com/office/drawing/2014/main" id="{E7019289-4362-D110-8F71-A567A7F8F9D5}"/>
              </a:ext>
            </a:extLst>
          </p:cNvPr>
          <p:cNvSpPr/>
          <p:nvPr/>
        </p:nvSpPr>
        <p:spPr>
          <a:xfrm>
            <a:off x="9829800" y="484632"/>
            <a:ext cx="1572768" cy="283464"/>
          </a:xfrm>
          <a:prstGeom prst="roundRect">
            <a:avLst/>
          </a:prstGeom>
          <a:solidFill>
            <a:srgbClr val="FFF4DC"/>
          </a:solidFill>
          <a:ln w="8890">
            <a:solidFill>
              <a:srgbClr val="E7A2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CuadroTexto 7">
            <a:extLst>
              <a:ext uri="{FF2B5EF4-FFF2-40B4-BE49-F238E27FC236}">
                <a16:creationId xmlns:a16="http://schemas.microsoft.com/office/drawing/2014/main" id="{9321D28E-F42F-7042-992E-5C4B86CD8944}"/>
              </a:ext>
            </a:extLst>
          </p:cNvPr>
          <p:cNvSpPr txBox="1"/>
          <p:nvPr/>
        </p:nvSpPr>
        <p:spPr>
          <a:xfrm>
            <a:off x="9866376" y="484632"/>
            <a:ext cx="1499616" cy="923330"/>
          </a:xfrm>
          <a:prstGeom prst="rect">
            <a:avLst/>
          </a:prstGeom>
          <a:noFill/>
        </p:spPr>
        <p:txBody>
          <a:bodyPr vert="horz" wrap="square" lIns="36576" tIns="36576" rIns="36576" bIns="36576" rtlCol="0" anchor="t">
            <a:noAutofit/>
          </a:bodyPr>
          <a:lstStyle/>
          <a:p>
            <a:pPr algn="ctr"/>
            <a:r>
              <a:rPr lang="es-MX" sz="860" b="1">
                <a:solidFill>
                  <a:srgbClr val="E7A227"/>
                </a:solidFill>
                <a:latin typeface="Aptos" panose="020B0004020202020204" pitchFamily="34" charset="0"/>
              </a:rPr>
              <a:t>DISEÑO CONCEPTUAL</a:t>
            </a:r>
          </a:p>
        </p:txBody>
      </p:sp>
      <p:sp>
        <p:nvSpPr>
          <p:cNvPr id="9" name="Rectángulo: esquinas redondeadas 8">
            <a:extLst>
              <a:ext uri="{FF2B5EF4-FFF2-40B4-BE49-F238E27FC236}">
                <a16:creationId xmlns:a16="http://schemas.microsoft.com/office/drawing/2014/main" id="{D9EBC3B8-4E77-1F36-0AC6-5654CAE93FB5}"/>
              </a:ext>
            </a:extLst>
          </p:cNvPr>
          <p:cNvSpPr/>
          <p:nvPr/>
        </p:nvSpPr>
        <p:spPr>
          <a:xfrm>
            <a:off x="502920" y="1170432"/>
            <a:ext cx="11173968" cy="5184648"/>
          </a:xfrm>
          <a:prstGeom prst="roundRect">
            <a:avLst/>
          </a:prstGeom>
          <a:solidFill>
            <a:srgbClr val="FFFFFF"/>
          </a:solidFill>
          <a:ln w="12700">
            <a:solidFill>
              <a:srgbClr val="D9E3DA"/>
            </a:solidFill>
          </a:ln>
          <a:effectLst>
            <a:outerShdw blurRad="101600" dist="28398" dir="3806086" rotWithShape="0">
              <a:scrgbClr r="0" g="0" b="0">
                <a:alpha val="18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1" name="Imagen 10">
            <a:extLst>
              <a:ext uri="{FF2B5EF4-FFF2-40B4-BE49-F238E27FC236}">
                <a16:creationId xmlns:a16="http://schemas.microsoft.com/office/drawing/2014/main" id="{A6626534-1EF5-A2D0-6A15-1ACD818B3E6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664208" y="1280160"/>
            <a:ext cx="8823960" cy="4965192"/>
          </a:xfrm>
          <a:prstGeom prst="rect">
            <a:avLst/>
          </a:prstGeom>
        </p:spPr>
      </p:pic>
      <p:sp>
        <p:nvSpPr>
          <p:cNvPr id="12" name="Rectángulo: esquinas redondeadas 11">
            <a:extLst>
              <a:ext uri="{FF2B5EF4-FFF2-40B4-BE49-F238E27FC236}">
                <a16:creationId xmlns:a16="http://schemas.microsoft.com/office/drawing/2014/main" id="{E381BFFC-3F47-86CE-E3A2-6771B1532750}"/>
              </a:ext>
            </a:extLst>
          </p:cNvPr>
          <p:cNvSpPr/>
          <p:nvPr/>
        </p:nvSpPr>
        <p:spPr>
          <a:xfrm>
            <a:off x="2834640" y="1444752"/>
            <a:ext cx="7178040" cy="960120"/>
          </a:xfrm>
          <a:prstGeom prst="roundRect">
            <a:avLst/>
          </a:prstGeom>
          <a:solidFill>
            <a:srgbClr val="FFFFFF">
              <a:alpha val="98000"/>
            </a:srgbClr>
          </a:solidFill>
          <a:ln w="12700">
            <a:solidFill>
              <a:srgbClr val="087A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CuadroTexto 12">
            <a:extLst>
              <a:ext uri="{FF2B5EF4-FFF2-40B4-BE49-F238E27FC236}">
                <a16:creationId xmlns:a16="http://schemas.microsoft.com/office/drawing/2014/main" id="{A020FA7C-4CA8-61DB-7714-352B5858A61D}"/>
              </a:ext>
            </a:extLst>
          </p:cNvPr>
          <p:cNvSpPr txBox="1"/>
          <p:nvPr/>
        </p:nvSpPr>
        <p:spPr>
          <a:xfrm>
            <a:off x="3017520" y="1554480"/>
            <a:ext cx="2560320" cy="646331"/>
          </a:xfrm>
          <a:prstGeom prst="rect">
            <a:avLst/>
          </a:prstGeom>
          <a:noFill/>
        </p:spPr>
        <p:txBody>
          <a:bodyPr vert="horz" wrap="square" lIns="36576" tIns="36576" rIns="36576" bIns="36576" rtlCol="0" anchor="t">
            <a:noAutofit/>
          </a:bodyPr>
          <a:lstStyle/>
          <a:p>
            <a:r>
              <a:rPr lang="es-MX" sz="1320" b="1">
                <a:solidFill>
                  <a:srgbClr val="145B33"/>
                </a:solidFill>
                <a:latin typeface="Aptos" panose="020B0004020202020204" pitchFamily="34" charset="0"/>
              </a:rPr>
              <a:t>Lavanda · pronóstico próximos 7 días</a:t>
            </a:r>
          </a:p>
        </p:txBody>
      </p:sp>
      <p:sp>
        <p:nvSpPr>
          <p:cNvPr id="14" name="Rectángulo: esquinas redondeadas 13">
            <a:extLst>
              <a:ext uri="{FF2B5EF4-FFF2-40B4-BE49-F238E27FC236}">
                <a16:creationId xmlns:a16="http://schemas.microsoft.com/office/drawing/2014/main" id="{ED4A2CE1-2490-F8D6-BFDF-5E36E8DD77D8}"/>
              </a:ext>
            </a:extLst>
          </p:cNvPr>
          <p:cNvSpPr/>
          <p:nvPr/>
        </p:nvSpPr>
        <p:spPr>
          <a:xfrm>
            <a:off x="5623560" y="1545336"/>
            <a:ext cx="1572768" cy="329184"/>
          </a:xfrm>
          <a:prstGeom prst="roundRect">
            <a:avLst/>
          </a:prstGeom>
          <a:solidFill>
            <a:srgbClr val="E8F3E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CuadroTexto 14">
            <a:extLst>
              <a:ext uri="{FF2B5EF4-FFF2-40B4-BE49-F238E27FC236}">
                <a16:creationId xmlns:a16="http://schemas.microsoft.com/office/drawing/2014/main" id="{15AC1215-1C0C-E49F-FA12-EC61C6FD8BC4}"/>
              </a:ext>
            </a:extLst>
          </p:cNvPr>
          <p:cNvSpPr txBox="1"/>
          <p:nvPr/>
        </p:nvSpPr>
        <p:spPr>
          <a:xfrm>
            <a:off x="5660136" y="1545336"/>
            <a:ext cx="1499616" cy="646331"/>
          </a:xfrm>
          <a:prstGeom prst="rect">
            <a:avLst/>
          </a:prstGeom>
          <a:noFill/>
        </p:spPr>
        <p:txBody>
          <a:bodyPr vert="horz" wrap="square" lIns="36576" tIns="36576" rIns="36576" bIns="36576" rtlCol="0" anchor="t">
            <a:noAutofit/>
          </a:bodyPr>
          <a:lstStyle/>
          <a:p>
            <a:pPr algn="ctr"/>
            <a:r>
              <a:rPr lang="es-MX" sz="900" b="1">
                <a:solidFill>
                  <a:srgbClr val="145B33"/>
                </a:solidFill>
                <a:latin typeface="Aptos" panose="020B0004020202020204" pitchFamily="34" charset="0"/>
              </a:rPr>
              <a:t>Demanda: 18 unidades</a:t>
            </a:r>
          </a:p>
        </p:txBody>
      </p:sp>
      <p:sp>
        <p:nvSpPr>
          <p:cNvPr id="16" name="Rectángulo: esquinas redondeadas 15">
            <a:extLst>
              <a:ext uri="{FF2B5EF4-FFF2-40B4-BE49-F238E27FC236}">
                <a16:creationId xmlns:a16="http://schemas.microsoft.com/office/drawing/2014/main" id="{45DA443B-839F-CE5B-132C-C1DC54112C02}"/>
              </a:ext>
            </a:extLst>
          </p:cNvPr>
          <p:cNvSpPr/>
          <p:nvPr/>
        </p:nvSpPr>
        <p:spPr>
          <a:xfrm>
            <a:off x="7315200" y="1545336"/>
            <a:ext cx="914400" cy="329184"/>
          </a:xfrm>
          <a:prstGeom prst="roundRect">
            <a:avLst/>
          </a:prstGeom>
          <a:solidFill>
            <a:srgbClr val="FFF4DC"/>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CuadroTexto 16">
            <a:extLst>
              <a:ext uri="{FF2B5EF4-FFF2-40B4-BE49-F238E27FC236}">
                <a16:creationId xmlns:a16="http://schemas.microsoft.com/office/drawing/2014/main" id="{F1863AFB-DB33-46E6-588D-8F54F42CF73F}"/>
              </a:ext>
            </a:extLst>
          </p:cNvPr>
          <p:cNvSpPr txBox="1"/>
          <p:nvPr/>
        </p:nvSpPr>
        <p:spPr>
          <a:xfrm>
            <a:off x="7351776" y="1545336"/>
            <a:ext cx="841248" cy="646331"/>
          </a:xfrm>
          <a:prstGeom prst="rect">
            <a:avLst/>
          </a:prstGeom>
          <a:noFill/>
        </p:spPr>
        <p:txBody>
          <a:bodyPr vert="horz" wrap="square" lIns="36576" tIns="36576" rIns="36576" bIns="36576" rtlCol="0" anchor="t">
            <a:noAutofit/>
          </a:bodyPr>
          <a:lstStyle/>
          <a:p>
            <a:pPr algn="ctr"/>
            <a:r>
              <a:rPr lang="es-MX" sz="900" b="1">
                <a:solidFill>
                  <a:srgbClr val="E7A227"/>
                </a:solidFill>
                <a:latin typeface="Aptos" panose="020B0004020202020204" pitchFamily="34" charset="0"/>
              </a:rPr>
              <a:t>Stock: 7</a:t>
            </a:r>
          </a:p>
        </p:txBody>
      </p:sp>
      <p:sp>
        <p:nvSpPr>
          <p:cNvPr id="18" name="Rectángulo: esquinas redondeadas 17">
            <a:extLst>
              <a:ext uri="{FF2B5EF4-FFF2-40B4-BE49-F238E27FC236}">
                <a16:creationId xmlns:a16="http://schemas.microsoft.com/office/drawing/2014/main" id="{5B5B89B8-051C-B7B7-EEBC-D224888297A5}"/>
              </a:ext>
            </a:extLst>
          </p:cNvPr>
          <p:cNvSpPr/>
          <p:nvPr/>
        </p:nvSpPr>
        <p:spPr>
          <a:xfrm>
            <a:off x="8348472" y="1545336"/>
            <a:ext cx="1508760" cy="329184"/>
          </a:xfrm>
          <a:prstGeom prst="roundRect">
            <a:avLst/>
          </a:prstGeom>
          <a:solidFill>
            <a:srgbClr val="FBEAE7"/>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CuadroTexto 18">
            <a:extLst>
              <a:ext uri="{FF2B5EF4-FFF2-40B4-BE49-F238E27FC236}">
                <a16:creationId xmlns:a16="http://schemas.microsoft.com/office/drawing/2014/main" id="{0FA63C59-B19A-3716-C99D-8D6FAEBB834D}"/>
              </a:ext>
            </a:extLst>
          </p:cNvPr>
          <p:cNvSpPr txBox="1"/>
          <p:nvPr/>
        </p:nvSpPr>
        <p:spPr>
          <a:xfrm>
            <a:off x="8385048" y="1545336"/>
            <a:ext cx="1435608" cy="923330"/>
          </a:xfrm>
          <a:prstGeom prst="rect">
            <a:avLst/>
          </a:prstGeom>
          <a:noFill/>
        </p:spPr>
        <p:txBody>
          <a:bodyPr vert="horz" wrap="square" lIns="36576" tIns="36576" rIns="36576" bIns="36576" rtlCol="0" anchor="t">
            <a:noAutofit/>
          </a:bodyPr>
          <a:lstStyle/>
          <a:p>
            <a:pPr algn="ctr"/>
            <a:r>
              <a:rPr lang="es-MX" sz="900" b="1">
                <a:solidFill>
                  <a:srgbClr val="D9685F"/>
                </a:solidFill>
                <a:latin typeface="Aptos" panose="020B0004020202020204" pitchFamily="34" charset="0"/>
              </a:rPr>
              <a:t>Reabasto sugerido: 11+</a:t>
            </a:r>
          </a:p>
        </p:txBody>
      </p:sp>
      <p:sp>
        <p:nvSpPr>
          <p:cNvPr id="20" name="CuadroTexto 19">
            <a:extLst>
              <a:ext uri="{FF2B5EF4-FFF2-40B4-BE49-F238E27FC236}">
                <a16:creationId xmlns:a16="http://schemas.microsoft.com/office/drawing/2014/main" id="{DBFAF119-B57E-34AC-AAE3-531667DD0339}"/>
              </a:ext>
            </a:extLst>
          </p:cNvPr>
          <p:cNvSpPr txBox="1"/>
          <p:nvPr/>
        </p:nvSpPr>
        <p:spPr>
          <a:xfrm>
            <a:off x="4709160" y="1984248"/>
            <a:ext cx="4754880" cy="646331"/>
          </a:xfrm>
          <a:prstGeom prst="rect">
            <a:avLst/>
          </a:prstGeom>
          <a:noFill/>
        </p:spPr>
        <p:txBody>
          <a:bodyPr vert="horz" wrap="square" lIns="36576" tIns="36576" rIns="36576" bIns="36576" rtlCol="0" anchor="t">
            <a:noAutofit/>
          </a:bodyPr>
          <a:lstStyle/>
          <a:p>
            <a:pPr algn="ctr"/>
            <a:r>
              <a:rPr lang="es-MX" sz="900">
                <a:solidFill>
                  <a:srgbClr val="5F6F65"/>
                </a:solidFill>
                <a:latin typeface="Aptos" panose="020B0004020202020204" pitchFamily="34" charset="0"/>
              </a:rPr>
              <a:t>Histórico ━━━    Pronóstico ┅┅┅    Banda de incertidumbre</a:t>
            </a:r>
          </a:p>
        </p:txBody>
      </p:sp>
      <p:sp>
        <p:nvSpPr>
          <p:cNvPr id="21" name="Rectángulo: esquinas redondeadas 20">
            <a:extLst>
              <a:ext uri="{FF2B5EF4-FFF2-40B4-BE49-F238E27FC236}">
                <a16:creationId xmlns:a16="http://schemas.microsoft.com/office/drawing/2014/main" id="{BCB81222-1618-260B-3B60-E191EE9213D6}"/>
              </a:ext>
            </a:extLst>
          </p:cNvPr>
          <p:cNvSpPr/>
          <p:nvPr/>
        </p:nvSpPr>
        <p:spPr>
          <a:xfrm>
            <a:off x="7635240" y="5650992"/>
            <a:ext cx="1261872" cy="310896"/>
          </a:xfrm>
          <a:prstGeom prst="roundRect">
            <a:avLst/>
          </a:prstGeom>
          <a:solidFill>
            <a:srgbClr val="FBEAE7"/>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CuadroTexto 21">
            <a:extLst>
              <a:ext uri="{FF2B5EF4-FFF2-40B4-BE49-F238E27FC236}">
                <a16:creationId xmlns:a16="http://schemas.microsoft.com/office/drawing/2014/main" id="{2EEE7D19-4DD7-2F40-DEB1-3B53F6AD4930}"/>
              </a:ext>
            </a:extLst>
          </p:cNvPr>
          <p:cNvSpPr txBox="1"/>
          <p:nvPr/>
        </p:nvSpPr>
        <p:spPr>
          <a:xfrm>
            <a:off x="7671816" y="5650992"/>
            <a:ext cx="1188720" cy="646331"/>
          </a:xfrm>
          <a:prstGeom prst="rect">
            <a:avLst/>
          </a:prstGeom>
          <a:noFill/>
        </p:spPr>
        <p:txBody>
          <a:bodyPr vert="horz" wrap="square" lIns="36576" tIns="36576" rIns="36576" bIns="36576" rtlCol="0" anchor="t">
            <a:noAutofit/>
          </a:bodyPr>
          <a:lstStyle/>
          <a:p>
            <a:pPr algn="ctr"/>
            <a:r>
              <a:rPr lang="es-MX" sz="880" b="1">
                <a:solidFill>
                  <a:srgbClr val="D9685F"/>
                </a:solidFill>
                <a:latin typeface="Aptos" panose="020B0004020202020204" pitchFamily="34" charset="0"/>
              </a:rPr>
              <a:t>ALTO · Lavanda</a:t>
            </a:r>
          </a:p>
        </p:txBody>
      </p:sp>
      <p:sp>
        <p:nvSpPr>
          <p:cNvPr id="23" name="Rectángulo: esquinas redondeadas 22">
            <a:extLst>
              <a:ext uri="{FF2B5EF4-FFF2-40B4-BE49-F238E27FC236}">
                <a16:creationId xmlns:a16="http://schemas.microsoft.com/office/drawing/2014/main" id="{C7F69F2D-95D1-46E9-661E-D630C2CD9F0E}"/>
              </a:ext>
            </a:extLst>
          </p:cNvPr>
          <p:cNvSpPr/>
          <p:nvPr/>
        </p:nvSpPr>
        <p:spPr>
          <a:xfrm>
            <a:off x="9034272" y="5650992"/>
            <a:ext cx="1508760" cy="310896"/>
          </a:xfrm>
          <a:prstGeom prst="roundRect">
            <a:avLst/>
          </a:prstGeom>
          <a:solidFill>
            <a:srgbClr val="FFF4DC"/>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4" name="CuadroTexto 23">
            <a:extLst>
              <a:ext uri="{FF2B5EF4-FFF2-40B4-BE49-F238E27FC236}">
                <a16:creationId xmlns:a16="http://schemas.microsoft.com/office/drawing/2014/main" id="{5530A867-7928-9454-E2BD-2C96E3DE02D7}"/>
              </a:ext>
            </a:extLst>
          </p:cNvPr>
          <p:cNvSpPr txBox="1"/>
          <p:nvPr/>
        </p:nvSpPr>
        <p:spPr>
          <a:xfrm>
            <a:off x="9070848" y="5650992"/>
            <a:ext cx="1435608" cy="646331"/>
          </a:xfrm>
          <a:prstGeom prst="rect">
            <a:avLst/>
          </a:prstGeom>
          <a:noFill/>
        </p:spPr>
        <p:txBody>
          <a:bodyPr vert="horz" wrap="square" lIns="36576" tIns="36576" rIns="36576" bIns="36576" rtlCol="0" anchor="t">
            <a:noAutofit/>
          </a:bodyPr>
          <a:lstStyle/>
          <a:p>
            <a:pPr algn="ctr"/>
            <a:r>
              <a:rPr lang="es-MX" sz="880" b="1">
                <a:solidFill>
                  <a:srgbClr val="E7A227"/>
                </a:solidFill>
                <a:latin typeface="Aptos" panose="020B0004020202020204" pitchFamily="34" charset="0"/>
              </a:rPr>
              <a:t>MEDIO · Manzanilla</a:t>
            </a:r>
          </a:p>
        </p:txBody>
      </p:sp>
      <p:sp>
        <p:nvSpPr>
          <p:cNvPr id="25" name="CuadroTexto 24">
            <a:extLst>
              <a:ext uri="{FF2B5EF4-FFF2-40B4-BE49-F238E27FC236}">
                <a16:creationId xmlns:a16="http://schemas.microsoft.com/office/drawing/2014/main" id="{87A8B0A7-1304-EA9D-FE76-FFD04268DA3A}"/>
              </a:ext>
            </a:extLst>
          </p:cNvPr>
          <p:cNvSpPr txBox="1"/>
          <p:nvPr/>
        </p:nvSpPr>
        <p:spPr>
          <a:xfrm>
            <a:off x="1965960" y="5952744"/>
            <a:ext cx="8686800" cy="369332"/>
          </a:xfrm>
          <a:prstGeom prst="rect">
            <a:avLst/>
          </a:prstGeom>
          <a:noFill/>
        </p:spPr>
        <p:txBody>
          <a:bodyPr vert="horz" wrap="square" lIns="36576" tIns="36576" rIns="36576" bIns="36576" rtlCol="0" anchor="t">
            <a:noAutofit/>
          </a:bodyPr>
          <a:lstStyle/>
          <a:p>
            <a:pPr algn="ctr"/>
            <a:r>
              <a:rPr lang="es-MX" sz="920">
                <a:solidFill>
                  <a:srgbClr val="142019"/>
                </a:solidFill>
                <a:latin typeface="Aptos" panose="020B0004020202020204" pitchFamily="34" charset="0"/>
              </a:rPr>
              <a:t>El administrador conserva la decisión final; el modelo funciona como apoyo.</a:t>
            </a:r>
          </a:p>
        </p:txBody>
      </p:sp>
      <p:sp>
        <p:nvSpPr>
          <p:cNvPr id="26" name="CuadroTexto 25">
            <a:extLst>
              <a:ext uri="{FF2B5EF4-FFF2-40B4-BE49-F238E27FC236}">
                <a16:creationId xmlns:a16="http://schemas.microsoft.com/office/drawing/2014/main" id="{3B36C39F-20C4-5ADB-C50B-4BE7EB380709}"/>
              </a:ext>
            </a:extLst>
          </p:cNvPr>
          <p:cNvSpPr txBox="1"/>
          <p:nvPr/>
        </p:nvSpPr>
        <p:spPr>
          <a:xfrm>
            <a:off x="530352" y="6547104"/>
            <a:ext cx="8046720" cy="369332"/>
          </a:xfrm>
          <a:prstGeom prst="rect">
            <a:avLst/>
          </a:prstGeom>
          <a:noFill/>
        </p:spPr>
        <p:txBody>
          <a:bodyPr vert="horz" wrap="square" lIns="36576" tIns="36576" rIns="36576" bIns="36576" rtlCol="0" anchor="t">
            <a:noAutofit/>
          </a:bodyPr>
          <a:lstStyle/>
          <a:p>
            <a:r>
              <a:rPr lang="es-MX" sz="800">
                <a:solidFill>
                  <a:srgbClr val="5F6F65"/>
                </a:solidFill>
                <a:latin typeface="Aptos" panose="020B0004020202020204" pitchFamily="34" charset="0"/>
              </a:rPr>
              <a:t>INHALEX · Diseño conceptual; valores ilustrativos</a:t>
            </a:r>
          </a:p>
        </p:txBody>
      </p:sp>
    </p:spTree>
    <p:extLst>
      <p:ext uri="{BB962C8B-B14F-4D97-AF65-F5344CB8AC3E}">
        <p14:creationId xmlns:p14="http://schemas.microsoft.com/office/powerpoint/2010/main" val="3927204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21D8D8F-048F-1D33-5F6F-8A3A8DFCAA53}"/>
              </a:ext>
            </a:extLst>
          </p:cNvPr>
          <p:cNvSpPr txBox="1"/>
          <p:nvPr/>
        </p:nvSpPr>
        <p:spPr>
          <a:xfrm>
            <a:off x="502920" y="201168"/>
            <a:ext cx="5303520" cy="369332"/>
          </a:xfrm>
          <a:prstGeom prst="rect">
            <a:avLst/>
          </a:prstGeom>
          <a:noFill/>
        </p:spPr>
        <p:txBody>
          <a:bodyPr vert="horz" wrap="square" lIns="36576" tIns="36576" rIns="36576" bIns="36576" rtlCol="0" anchor="t">
            <a:noAutofit/>
          </a:bodyPr>
          <a:lstStyle/>
          <a:p>
            <a:r>
              <a:rPr lang="es-MX" sz="950" b="1">
                <a:solidFill>
                  <a:srgbClr val="087A2B"/>
                </a:solidFill>
                <a:latin typeface="Aptos" panose="020B0004020202020204" pitchFamily="34" charset="0"/>
              </a:rPr>
              <a:t>CLUSTERING · APRENDIZAJE NO SUPERVISADO</a:t>
            </a:r>
          </a:p>
        </p:txBody>
      </p:sp>
      <p:sp>
        <p:nvSpPr>
          <p:cNvPr id="3" name="CuadroTexto 2">
            <a:extLst>
              <a:ext uri="{FF2B5EF4-FFF2-40B4-BE49-F238E27FC236}">
                <a16:creationId xmlns:a16="http://schemas.microsoft.com/office/drawing/2014/main" id="{40472DD2-9802-AB75-B2F3-70F0581A2B6D}"/>
              </a:ext>
            </a:extLst>
          </p:cNvPr>
          <p:cNvSpPr txBox="1"/>
          <p:nvPr/>
        </p:nvSpPr>
        <p:spPr>
          <a:xfrm>
            <a:off x="502920" y="438912"/>
            <a:ext cx="9784080" cy="369332"/>
          </a:xfrm>
          <a:prstGeom prst="rect">
            <a:avLst/>
          </a:prstGeom>
          <a:noFill/>
        </p:spPr>
        <p:txBody>
          <a:bodyPr vert="horz" wrap="square" lIns="36576" tIns="36576" rIns="36576" bIns="36576" rtlCol="0" anchor="t">
            <a:noAutofit/>
          </a:bodyPr>
          <a:lstStyle/>
          <a:p>
            <a:r>
              <a:rPr lang="es-MX" sz="2700" b="1">
                <a:solidFill>
                  <a:srgbClr val="142019"/>
                </a:solidFill>
                <a:latin typeface="Aptos" panose="020B0004020202020204" pitchFamily="34" charset="0"/>
              </a:rPr>
              <a:t>Propuesta 3 · Segmentación de clientes</a:t>
            </a:r>
          </a:p>
        </p:txBody>
      </p:sp>
      <p:sp>
        <p:nvSpPr>
          <p:cNvPr id="4" name="Rectángulo 3">
            <a:extLst>
              <a:ext uri="{FF2B5EF4-FFF2-40B4-BE49-F238E27FC236}">
                <a16:creationId xmlns:a16="http://schemas.microsoft.com/office/drawing/2014/main" id="{4C28EC2C-9ABA-0BC4-B8BD-C299BBB3121F}"/>
              </a:ext>
            </a:extLst>
          </p:cNvPr>
          <p:cNvSpPr/>
          <p:nvPr/>
        </p:nvSpPr>
        <p:spPr>
          <a:xfrm>
            <a:off x="502920" y="987552"/>
            <a:ext cx="11155680" cy="16459"/>
          </a:xfrm>
          <a:prstGeom prst="rect">
            <a:avLst/>
          </a:prstGeom>
          <a:solidFill>
            <a:srgbClr val="D9E3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Elipse 4">
            <a:extLst>
              <a:ext uri="{FF2B5EF4-FFF2-40B4-BE49-F238E27FC236}">
                <a16:creationId xmlns:a16="http://schemas.microsoft.com/office/drawing/2014/main" id="{FD54BE1F-BF59-3CE4-498F-8C5E125E2FD6}"/>
              </a:ext>
            </a:extLst>
          </p:cNvPr>
          <p:cNvSpPr/>
          <p:nvPr/>
        </p:nvSpPr>
        <p:spPr>
          <a:xfrm>
            <a:off x="11283696" y="283464"/>
            <a:ext cx="356616" cy="356616"/>
          </a:xfrm>
          <a:prstGeom prst="ellipse">
            <a:avLst/>
          </a:prstGeom>
          <a:solidFill>
            <a:srgbClr val="087A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DDE62F4F-A604-A9E0-3E3D-201FF9A52170}"/>
              </a:ext>
            </a:extLst>
          </p:cNvPr>
          <p:cNvSpPr txBox="1"/>
          <p:nvPr/>
        </p:nvSpPr>
        <p:spPr>
          <a:xfrm>
            <a:off x="11311128" y="301752"/>
            <a:ext cx="329184" cy="369332"/>
          </a:xfrm>
          <a:prstGeom prst="rect">
            <a:avLst/>
          </a:prstGeom>
          <a:noFill/>
        </p:spPr>
        <p:txBody>
          <a:bodyPr vert="horz" wrap="square" lIns="36576" tIns="36576" rIns="36576" bIns="36576" rtlCol="0" anchor="t">
            <a:noAutofit/>
          </a:bodyPr>
          <a:lstStyle/>
          <a:p>
            <a:pPr algn="ctr"/>
            <a:r>
              <a:rPr lang="es-MX" sz="1100" b="1">
                <a:solidFill>
                  <a:srgbClr val="FFFFFF"/>
                </a:solidFill>
                <a:latin typeface="Aptos" panose="020B0004020202020204" pitchFamily="34" charset="0"/>
              </a:rPr>
              <a:t>6</a:t>
            </a:r>
          </a:p>
        </p:txBody>
      </p:sp>
      <p:sp>
        <p:nvSpPr>
          <p:cNvPr id="7" name="Rectángulo: esquinas redondeadas 6">
            <a:extLst>
              <a:ext uri="{FF2B5EF4-FFF2-40B4-BE49-F238E27FC236}">
                <a16:creationId xmlns:a16="http://schemas.microsoft.com/office/drawing/2014/main" id="{721FF481-10AD-CCF0-18F7-70391EA21E05}"/>
              </a:ext>
            </a:extLst>
          </p:cNvPr>
          <p:cNvSpPr/>
          <p:nvPr/>
        </p:nvSpPr>
        <p:spPr>
          <a:xfrm>
            <a:off x="9372600" y="475488"/>
            <a:ext cx="1417320" cy="292608"/>
          </a:xfrm>
          <a:prstGeom prst="roundRect">
            <a:avLst/>
          </a:prstGeom>
          <a:solidFill>
            <a:srgbClr val="FFF4DC"/>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CuadroTexto 7">
            <a:extLst>
              <a:ext uri="{FF2B5EF4-FFF2-40B4-BE49-F238E27FC236}">
                <a16:creationId xmlns:a16="http://schemas.microsoft.com/office/drawing/2014/main" id="{08DB8F1E-5108-CD51-9B92-EADDAF03FE8F}"/>
              </a:ext>
            </a:extLst>
          </p:cNvPr>
          <p:cNvSpPr txBox="1"/>
          <p:nvPr/>
        </p:nvSpPr>
        <p:spPr>
          <a:xfrm>
            <a:off x="9409176" y="475488"/>
            <a:ext cx="1344168" cy="923330"/>
          </a:xfrm>
          <a:prstGeom prst="rect">
            <a:avLst/>
          </a:prstGeom>
          <a:noFill/>
        </p:spPr>
        <p:txBody>
          <a:bodyPr vert="horz" wrap="square" lIns="36576" tIns="36576" rIns="36576" bIns="36576" rtlCol="0" anchor="t">
            <a:noAutofit/>
          </a:bodyPr>
          <a:lstStyle/>
          <a:p>
            <a:pPr algn="ctr"/>
            <a:r>
              <a:rPr lang="es-MX" sz="880" b="1">
                <a:solidFill>
                  <a:srgbClr val="E7A227"/>
                </a:solidFill>
                <a:latin typeface="Aptos" panose="020B0004020202020204" pitchFamily="34" charset="0"/>
              </a:rPr>
              <a:t>300 clientes · sin Y</a:t>
            </a:r>
          </a:p>
        </p:txBody>
      </p:sp>
      <p:sp>
        <p:nvSpPr>
          <p:cNvPr id="9" name="CuadroTexto 8">
            <a:extLst>
              <a:ext uri="{FF2B5EF4-FFF2-40B4-BE49-F238E27FC236}">
                <a16:creationId xmlns:a16="http://schemas.microsoft.com/office/drawing/2014/main" id="{0A74065C-A07F-331F-0692-F006AE96789F}"/>
              </a:ext>
            </a:extLst>
          </p:cNvPr>
          <p:cNvSpPr txBox="1"/>
          <p:nvPr/>
        </p:nvSpPr>
        <p:spPr>
          <a:xfrm>
            <a:off x="530352" y="1115568"/>
            <a:ext cx="2834640" cy="646331"/>
          </a:xfrm>
          <a:prstGeom prst="rect">
            <a:avLst/>
          </a:prstGeom>
          <a:noFill/>
        </p:spPr>
        <p:txBody>
          <a:bodyPr vert="horz" wrap="square" lIns="36576" tIns="36576" rIns="36576" bIns="36576" rtlCol="0" anchor="t">
            <a:noAutofit/>
          </a:bodyPr>
          <a:lstStyle/>
          <a:p>
            <a:pPr algn="ctr"/>
            <a:r>
              <a:rPr lang="es-MX" sz="1050" b="1">
                <a:solidFill>
                  <a:srgbClr val="234C7A"/>
                </a:solidFill>
                <a:latin typeface="Aptos" panose="020B0004020202020204" pitchFamily="34" charset="0"/>
              </a:rPr>
              <a:t>COLECCIONES MONGODB</a:t>
            </a:r>
          </a:p>
        </p:txBody>
      </p:sp>
      <p:sp>
        <p:nvSpPr>
          <p:cNvPr id="10" name="Rectángulo: esquinas redondeadas 9">
            <a:extLst>
              <a:ext uri="{FF2B5EF4-FFF2-40B4-BE49-F238E27FC236}">
                <a16:creationId xmlns:a16="http://schemas.microsoft.com/office/drawing/2014/main" id="{7F6E0B9A-E10B-4738-4F90-53D7EC17B5D7}"/>
              </a:ext>
            </a:extLst>
          </p:cNvPr>
          <p:cNvSpPr/>
          <p:nvPr/>
        </p:nvSpPr>
        <p:spPr>
          <a:xfrm>
            <a:off x="530352" y="1417320"/>
            <a:ext cx="2697480" cy="1051560"/>
          </a:xfrm>
          <a:prstGeom prst="roundRect">
            <a:avLst/>
          </a:prstGeom>
          <a:solidFill>
            <a:srgbClr val="FFFFFF"/>
          </a:solidFill>
          <a:ln w="13970">
            <a:solidFill>
              <a:srgbClr val="234C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esquinas redondeadas 10">
            <a:extLst>
              <a:ext uri="{FF2B5EF4-FFF2-40B4-BE49-F238E27FC236}">
                <a16:creationId xmlns:a16="http://schemas.microsoft.com/office/drawing/2014/main" id="{BEF7CEB8-A20F-6EE4-273E-657C5D362B03}"/>
              </a:ext>
            </a:extLst>
          </p:cNvPr>
          <p:cNvSpPr/>
          <p:nvPr/>
        </p:nvSpPr>
        <p:spPr>
          <a:xfrm>
            <a:off x="530352" y="1417320"/>
            <a:ext cx="2697480" cy="292608"/>
          </a:xfrm>
          <a:prstGeom prst="roundRect">
            <a:avLst/>
          </a:prstGeom>
          <a:solidFill>
            <a:srgbClr val="234C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CuadroTexto 11">
            <a:extLst>
              <a:ext uri="{FF2B5EF4-FFF2-40B4-BE49-F238E27FC236}">
                <a16:creationId xmlns:a16="http://schemas.microsoft.com/office/drawing/2014/main" id="{8B69EB2D-43B9-5FEA-68D3-1EF636494623}"/>
              </a:ext>
            </a:extLst>
          </p:cNvPr>
          <p:cNvSpPr txBox="1"/>
          <p:nvPr/>
        </p:nvSpPr>
        <p:spPr>
          <a:xfrm>
            <a:off x="621792" y="1426464"/>
            <a:ext cx="2514600" cy="369332"/>
          </a:xfrm>
          <a:prstGeom prst="rect">
            <a:avLst/>
          </a:prstGeom>
          <a:noFill/>
        </p:spPr>
        <p:txBody>
          <a:bodyPr vert="horz" wrap="square" lIns="36576" tIns="36576" rIns="36576" bIns="36576" rtlCol="0" anchor="t">
            <a:noAutofit/>
          </a:bodyPr>
          <a:lstStyle/>
          <a:p>
            <a:pPr algn="ctr"/>
            <a:r>
              <a:rPr lang="es-MX" sz="1150" b="1">
                <a:solidFill>
                  <a:srgbClr val="FFFFFF"/>
                </a:solidFill>
                <a:latin typeface="Aptos" panose="020B0004020202020204" pitchFamily="34" charset="0"/>
              </a:rPr>
              <a:t>usuarios</a:t>
            </a:r>
          </a:p>
        </p:txBody>
      </p:sp>
      <p:sp>
        <p:nvSpPr>
          <p:cNvPr id="13" name="CuadroTexto 12">
            <a:extLst>
              <a:ext uri="{FF2B5EF4-FFF2-40B4-BE49-F238E27FC236}">
                <a16:creationId xmlns:a16="http://schemas.microsoft.com/office/drawing/2014/main" id="{0772A57F-8DC5-72D3-A81D-B3152ACB048A}"/>
              </a:ext>
            </a:extLst>
          </p:cNvPr>
          <p:cNvSpPr txBox="1"/>
          <p:nvPr/>
        </p:nvSpPr>
        <p:spPr>
          <a:xfrm>
            <a:off x="640080" y="1755648"/>
            <a:ext cx="2478024" cy="923330"/>
          </a:xfrm>
          <a:prstGeom prst="rect">
            <a:avLst/>
          </a:prstGeom>
          <a:noFill/>
        </p:spPr>
        <p:txBody>
          <a:bodyPr vert="horz" wrap="square" lIns="36576" tIns="36576" rIns="36576" bIns="36576" rtlCol="0" anchor="t">
            <a:noAutofit/>
          </a:bodyPr>
          <a:lstStyle/>
          <a:p>
            <a:r>
              <a:rPr lang="es-MX" sz="930">
                <a:solidFill>
                  <a:srgbClr val="142019"/>
                </a:solidFill>
                <a:latin typeface="Aptos" panose="020B0004020202020204" pitchFamily="34" charset="0"/>
              </a:rPr>
              <a:t>• _id / createdAt
• favoriteProductIds[]
• cartItems[]</a:t>
            </a:r>
          </a:p>
        </p:txBody>
      </p:sp>
      <p:sp>
        <p:nvSpPr>
          <p:cNvPr id="14" name="Rectángulo: esquinas redondeadas 13">
            <a:extLst>
              <a:ext uri="{FF2B5EF4-FFF2-40B4-BE49-F238E27FC236}">
                <a16:creationId xmlns:a16="http://schemas.microsoft.com/office/drawing/2014/main" id="{98F050A1-4DD0-65CC-55E4-942FC4F066BE}"/>
              </a:ext>
            </a:extLst>
          </p:cNvPr>
          <p:cNvSpPr/>
          <p:nvPr/>
        </p:nvSpPr>
        <p:spPr>
          <a:xfrm>
            <a:off x="530352" y="2578608"/>
            <a:ext cx="2697480" cy="1051560"/>
          </a:xfrm>
          <a:prstGeom prst="roundRect">
            <a:avLst/>
          </a:prstGeom>
          <a:solidFill>
            <a:srgbClr val="FFFFFF"/>
          </a:solidFill>
          <a:ln w="13970">
            <a:solidFill>
              <a:srgbClr val="234C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Rectángulo: esquinas redondeadas 14">
            <a:extLst>
              <a:ext uri="{FF2B5EF4-FFF2-40B4-BE49-F238E27FC236}">
                <a16:creationId xmlns:a16="http://schemas.microsoft.com/office/drawing/2014/main" id="{2B906204-19DB-5876-3DA6-8A84E0EFEB6E}"/>
              </a:ext>
            </a:extLst>
          </p:cNvPr>
          <p:cNvSpPr/>
          <p:nvPr/>
        </p:nvSpPr>
        <p:spPr>
          <a:xfrm>
            <a:off x="530352" y="2578608"/>
            <a:ext cx="2697480" cy="292608"/>
          </a:xfrm>
          <a:prstGeom prst="roundRect">
            <a:avLst/>
          </a:prstGeom>
          <a:solidFill>
            <a:srgbClr val="234C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CuadroTexto 15">
            <a:extLst>
              <a:ext uri="{FF2B5EF4-FFF2-40B4-BE49-F238E27FC236}">
                <a16:creationId xmlns:a16="http://schemas.microsoft.com/office/drawing/2014/main" id="{86124237-EA12-A70A-22C7-675C97EF64AC}"/>
              </a:ext>
            </a:extLst>
          </p:cNvPr>
          <p:cNvSpPr txBox="1"/>
          <p:nvPr/>
        </p:nvSpPr>
        <p:spPr>
          <a:xfrm>
            <a:off x="621792" y="2587752"/>
            <a:ext cx="2514600" cy="369332"/>
          </a:xfrm>
          <a:prstGeom prst="rect">
            <a:avLst/>
          </a:prstGeom>
          <a:noFill/>
        </p:spPr>
        <p:txBody>
          <a:bodyPr vert="horz" wrap="square" lIns="36576" tIns="36576" rIns="36576" bIns="36576" rtlCol="0" anchor="t">
            <a:noAutofit/>
          </a:bodyPr>
          <a:lstStyle/>
          <a:p>
            <a:pPr algn="ctr"/>
            <a:r>
              <a:rPr lang="es-MX" sz="1150" b="1">
                <a:solidFill>
                  <a:srgbClr val="FFFFFF"/>
                </a:solidFill>
                <a:latin typeface="Aptos" panose="020B0004020202020204" pitchFamily="34" charset="0"/>
              </a:rPr>
              <a:t>pedidos</a:t>
            </a:r>
          </a:p>
        </p:txBody>
      </p:sp>
      <p:sp>
        <p:nvSpPr>
          <p:cNvPr id="17" name="CuadroTexto 16">
            <a:extLst>
              <a:ext uri="{FF2B5EF4-FFF2-40B4-BE49-F238E27FC236}">
                <a16:creationId xmlns:a16="http://schemas.microsoft.com/office/drawing/2014/main" id="{1B67E625-7E4B-FBFD-1827-08285608F81A}"/>
              </a:ext>
            </a:extLst>
          </p:cNvPr>
          <p:cNvSpPr txBox="1"/>
          <p:nvPr/>
        </p:nvSpPr>
        <p:spPr>
          <a:xfrm>
            <a:off x="640080" y="2916936"/>
            <a:ext cx="2478024" cy="1200329"/>
          </a:xfrm>
          <a:prstGeom prst="rect">
            <a:avLst/>
          </a:prstGeom>
          <a:noFill/>
        </p:spPr>
        <p:txBody>
          <a:bodyPr vert="horz" wrap="square" lIns="36576" tIns="36576" rIns="36576" bIns="36576" rtlCol="0" anchor="t">
            <a:noAutofit/>
          </a:bodyPr>
          <a:lstStyle/>
          <a:p>
            <a:r>
              <a:rPr lang="en-US" sz="930">
                <a:solidFill>
                  <a:srgbClr val="142019"/>
                </a:solidFill>
                <a:latin typeface="Aptos" panose="020B0004020202020204" pitchFamily="34" charset="0"/>
              </a:rPr>
              <a:t>• customerUserId
• status / subtotal / createdAt
• items[].productId</a:t>
            </a:r>
            <a:endParaRPr lang="es-MX" sz="930">
              <a:solidFill>
                <a:srgbClr val="142019"/>
              </a:solidFill>
              <a:latin typeface="Aptos" panose="020B0004020202020204" pitchFamily="34" charset="0"/>
            </a:endParaRPr>
          </a:p>
        </p:txBody>
      </p:sp>
      <p:sp>
        <p:nvSpPr>
          <p:cNvPr id="18" name="Rectángulo: esquinas redondeadas 17">
            <a:extLst>
              <a:ext uri="{FF2B5EF4-FFF2-40B4-BE49-F238E27FC236}">
                <a16:creationId xmlns:a16="http://schemas.microsoft.com/office/drawing/2014/main" id="{0938CF94-2191-9EE1-DA81-4A16954E2A51}"/>
              </a:ext>
            </a:extLst>
          </p:cNvPr>
          <p:cNvSpPr/>
          <p:nvPr/>
        </p:nvSpPr>
        <p:spPr>
          <a:xfrm>
            <a:off x="530352" y="3739896"/>
            <a:ext cx="2697480" cy="914400"/>
          </a:xfrm>
          <a:prstGeom prst="roundRect">
            <a:avLst/>
          </a:prstGeom>
          <a:solidFill>
            <a:srgbClr val="FFFFFF"/>
          </a:solidFill>
          <a:ln w="13970">
            <a:solidFill>
              <a:srgbClr val="234C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Rectángulo: esquinas redondeadas 18">
            <a:extLst>
              <a:ext uri="{FF2B5EF4-FFF2-40B4-BE49-F238E27FC236}">
                <a16:creationId xmlns:a16="http://schemas.microsoft.com/office/drawing/2014/main" id="{679B9550-4351-08DB-621C-5903CBFB9BD2}"/>
              </a:ext>
            </a:extLst>
          </p:cNvPr>
          <p:cNvSpPr/>
          <p:nvPr/>
        </p:nvSpPr>
        <p:spPr>
          <a:xfrm>
            <a:off x="530352" y="3739896"/>
            <a:ext cx="2697480" cy="292608"/>
          </a:xfrm>
          <a:prstGeom prst="roundRect">
            <a:avLst/>
          </a:prstGeom>
          <a:solidFill>
            <a:srgbClr val="234C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CuadroTexto 19">
            <a:extLst>
              <a:ext uri="{FF2B5EF4-FFF2-40B4-BE49-F238E27FC236}">
                <a16:creationId xmlns:a16="http://schemas.microsoft.com/office/drawing/2014/main" id="{B61F0A8F-F8C7-2F77-ADEC-A716BB203F67}"/>
              </a:ext>
            </a:extLst>
          </p:cNvPr>
          <p:cNvSpPr txBox="1"/>
          <p:nvPr/>
        </p:nvSpPr>
        <p:spPr>
          <a:xfrm>
            <a:off x="621792" y="3749040"/>
            <a:ext cx="2514600" cy="369332"/>
          </a:xfrm>
          <a:prstGeom prst="rect">
            <a:avLst/>
          </a:prstGeom>
          <a:noFill/>
        </p:spPr>
        <p:txBody>
          <a:bodyPr vert="horz" wrap="square" lIns="36576" tIns="36576" rIns="36576" bIns="36576" rtlCol="0" anchor="t">
            <a:noAutofit/>
          </a:bodyPr>
          <a:lstStyle/>
          <a:p>
            <a:pPr algn="ctr"/>
            <a:r>
              <a:rPr lang="es-MX" sz="1150" b="1">
                <a:solidFill>
                  <a:srgbClr val="FFFFFF"/>
                </a:solidFill>
                <a:latin typeface="Aptos" panose="020B0004020202020204" pitchFamily="34" charset="0"/>
              </a:rPr>
              <a:t>reseñas_producto</a:t>
            </a:r>
          </a:p>
        </p:txBody>
      </p:sp>
      <p:sp>
        <p:nvSpPr>
          <p:cNvPr id="21" name="CuadroTexto 20">
            <a:extLst>
              <a:ext uri="{FF2B5EF4-FFF2-40B4-BE49-F238E27FC236}">
                <a16:creationId xmlns:a16="http://schemas.microsoft.com/office/drawing/2014/main" id="{401DE56C-246C-44C1-3060-CEB8BCB95532}"/>
              </a:ext>
            </a:extLst>
          </p:cNvPr>
          <p:cNvSpPr txBox="1"/>
          <p:nvPr/>
        </p:nvSpPr>
        <p:spPr>
          <a:xfrm>
            <a:off x="640080" y="4078224"/>
            <a:ext cx="2478024" cy="646331"/>
          </a:xfrm>
          <a:prstGeom prst="rect">
            <a:avLst/>
          </a:prstGeom>
          <a:noFill/>
        </p:spPr>
        <p:txBody>
          <a:bodyPr vert="horz" wrap="square" lIns="36576" tIns="36576" rIns="36576" bIns="36576" rtlCol="0" anchor="t">
            <a:noAutofit/>
          </a:bodyPr>
          <a:lstStyle/>
          <a:p>
            <a:r>
              <a:rPr lang="es-MX" sz="930">
                <a:solidFill>
                  <a:srgbClr val="142019"/>
                </a:solidFill>
                <a:latin typeface="Aptos" panose="020B0004020202020204" pitchFamily="34" charset="0"/>
              </a:rPr>
              <a:t>• userId / productId
• rating</a:t>
            </a:r>
          </a:p>
        </p:txBody>
      </p:sp>
      <p:sp>
        <p:nvSpPr>
          <p:cNvPr id="22" name="Rectángulo: esquinas redondeadas 21">
            <a:extLst>
              <a:ext uri="{FF2B5EF4-FFF2-40B4-BE49-F238E27FC236}">
                <a16:creationId xmlns:a16="http://schemas.microsoft.com/office/drawing/2014/main" id="{E63A1061-5EEC-EE59-3B3C-DEAF70B9F6E9}"/>
              </a:ext>
            </a:extLst>
          </p:cNvPr>
          <p:cNvSpPr/>
          <p:nvPr/>
        </p:nvSpPr>
        <p:spPr>
          <a:xfrm>
            <a:off x="530352" y="4764024"/>
            <a:ext cx="2697480" cy="822960"/>
          </a:xfrm>
          <a:prstGeom prst="roundRect">
            <a:avLst/>
          </a:prstGeom>
          <a:solidFill>
            <a:srgbClr val="FFFFFF"/>
          </a:solidFill>
          <a:ln w="13970">
            <a:solidFill>
              <a:srgbClr val="234C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Rectángulo: esquinas redondeadas 22">
            <a:extLst>
              <a:ext uri="{FF2B5EF4-FFF2-40B4-BE49-F238E27FC236}">
                <a16:creationId xmlns:a16="http://schemas.microsoft.com/office/drawing/2014/main" id="{EB91ECD3-E93F-12B1-5EF6-2F141EC2E54F}"/>
              </a:ext>
            </a:extLst>
          </p:cNvPr>
          <p:cNvSpPr/>
          <p:nvPr/>
        </p:nvSpPr>
        <p:spPr>
          <a:xfrm>
            <a:off x="530352" y="4764024"/>
            <a:ext cx="2697480" cy="292608"/>
          </a:xfrm>
          <a:prstGeom prst="roundRect">
            <a:avLst/>
          </a:prstGeom>
          <a:solidFill>
            <a:srgbClr val="234C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4" name="CuadroTexto 23">
            <a:extLst>
              <a:ext uri="{FF2B5EF4-FFF2-40B4-BE49-F238E27FC236}">
                <a16:creationId xmlns:a16="http://schemas.microsoft.com/office/drawing/2014/main" id="{3D57D16D-7F22-CA3D-F55F-4E996FA17BCF}"/>
              </a:ext>
            </a:extLst>
          </p:cNvPr>
          <p:cNvSpPr txBox="1"/>
          <p:nvPr/>
        </p:nvSpPr>
        <p:spPr>
          <a:xfrm>
            <a:off x="621792" y="4773168"/>
            <a:ext cx="2514600" cy="369332"/>
          </a:xfrm>
          <a:prstGeom prst="rect">
            <a:avLst/>
          </a:prstGeom>
          <a:noFill/>
        </p:spPr>
        <p:txBody>
          <a:bodyPr vert="horz" wrap="square" lIns="36576" tIns="36576" rIns="36576" bIns="36576" rtlCol="0" anchor="t">
            <a:noAutofit/>
          </a:bodyPr>
          <a:lstStyle/>
          <a:p>
            <a:pPr algn="ctr"/>
            <a:r>
              <a:rPr lang="es-MX" sz="1150" b="1">
                <a:solidFill>
                  <a:srgbClr val="FFFFFF"/>
                </a:solidFill>
                <a:latin typeface="Aptos" panose="020B0004020202020204" pitchFamily="34" charset="0"/>
              </a:rPr>
              <a:t>productos</a:t>
            </a:r>
          </a:p>
        </p:txBody>
      </p:sp>
      <p:sp>
        <p:nvSpPr>
          <p:cNvPr id="25" name="CuadroTexto 24">
            <a:extLst>
              <a:ext uri="{FF2B5EF4-FFF2-40B4-BE49-F238E27FC236}">
                <a16:creationId xmlns:a16="http://schemas.microsoft.com/office/drawing/2014/main" id="{55B32FE4-2BDD-A749-FFE6-0EBFACAAFCF0}"/>
              </a:ext>
            </a:extLst>
          </p:cNvPr>
          <p:cNvSpPr txBox="1"/>
          <p:nvPr/>
        </p:nvSpPr>
        <p:spPr>
          <a:xfrm>
            <a:off x="640080" y="5102352"/>
            <a:ext cx="2478024" cy="369332"/>
          </a:xfrm>
          <a:prstGeom prst="rect">
            <a:avLst/>
          </a:prstGeom>
          <a:noFill/>
        </p:spPr>
        <p:txBody>
          <a:bodyPr vert="horz" wrap="square" lIns="36576" tIns="36576" rIns="36576" bIns="36576" rtlCol="0" anchor="t">
            <a:noAutofit/>
          </a:bodyPr>
          <a:lstStyle/>
          <a:p>
            <a:r>
              <a:rPr lang="es-MX" sz="930">
                <a:solidFill>
                  <a:srgbClr val="142019"/>
                </a:solidFill>
                <a:latin typeface="Aptos" panose="020B0004020202020204" pitchFamily="34" charset="0"/>
              </a:rPr>
              <a:t>• _id / category</a:t>
            </a:r>
          </a:p>
        </p:txBody>
      </p:sp>
      <p:sp>
        <p:nvSpPr>
          <p:cNvPr id="26" name="Flecha: a la derecha 25">
            <a:extLst>
              <a:ext uri="{FF2B5EF4-FFF2-40B4-BE49-F238E27FC236}">
                <a16:creationId xmlns:a16="http://schemas.microsoft.com/office/drawing/2014/main" id="{AE17E2E7-C0E2-93DC-A589-66465C446E04}"/>
              </a:ext>
            </a:extLst>
          </p:cNvPr>
          <p:cNvSpPr/>
          <p:nvPr/>
        </p:nvSpPr>
        <p:spPr>
          <a:xfrm>
            <a:off x="3401568" y="2761488"/>
            <a:ext cx="987552" cy="1170432"/>
          </a:xfrm>
          <a:prstGeom prst="rightArrow">
            <a:avLst/>
          </a:prstGeom>
          <a:solidFill>
            <a:srgbClr val="087A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CuadroTexto 26">
            <a:extLst>
              <a:ext uri="{FF2B5EF4-FFF2-40B4-BE49-F238E27FC236}">
                <a16:creationId xmlns:a16="http://schemas.microsoft.com/office/drawing/2014/main" id="{94CCA2D2-01EB-932D-6C04-0538B9E46B07}"/>
              </a:ext>
            </a:extLst>
          </p:cNvPr>
          <p:cNvSpPr txBox="1"/>
          <p:nvPr/>
        </p:nvSpPr>
        <p:spPr>
          <a:xfrm>
            <a:off x="3438144" y="3026664"/>
            <a:ext cx="832104" cy="2031325"/>
          </a:xfrm>
          <a:prstGeom prst="rect">
            <a:avLst/>
          </a:prstGeom>
          <a:noFill/>
        </p:spPr>
        <p:txBody>
          <a:bodyPr vert="horz" wrap="square" lIns="36576" tIns="36576" rIns="36576" bIns="36576" rtlCol="0" anchor="t">
            <a:noAutofit/>
          </a:bodyPr>
          <a:lstStyle/>
          <a:p>
            <a:pPr algn="ctr"/>
            <a:r>
              <a:rPr lang="es-MX" sz="770" b="1">
                <a:solidFill>
                  <a:srgbClr val="FFFFFF"/>
                </a:solidFill>
                <a:latin typeface="Aptos" panose="020B0004020202020204" pitchFamily="34" charset="0"/>
              </a:rPr>
              <a:t>AGRUPAR
RFM / AFINIDAD
ESCALAR</a:t>
            </a:r>
          </a:p>
        </p:txBody>
      </p:sp>
      <p:sp>
        <p:nvSpPr>
          <p:cNvPr id="28" name="CuadroTexto 27">
            <a:extLst>
              <a:ext uri="{FF2B5EF4-FFF2-40B4-BE49-F238E27FC236}">
                <a16:creationId xmlns:a16="http://schemas.microsoft.com/office/drawing/2014/main" id="{4F767010-35C6-783C-5F46-590FE1052B8C}"/>
              </a:ext>
            </a:extLst>
          </p:cNvPr>
          <p:cNvSpPr txBox="1"/>
          <p:nvPr/>
        </p:nvSpPr>
        <p:spPr>
          <a:xfrm>
            <a:off x="3246120" y="4059936"/>
            <a:ext cx="1325880" cy="1477328"/>
          </a:xfrm>
          <a:prstGeom prst="rect">
            <a:avLst/>
          </a:prstGeom>
          <a:noFill/>
        </p:spPr>
        <p:txBody>
          <a:bodyPr vert="horz" wrap="square" lIns="36576" tIns="36576" rIns="36576" bIns="36576" rtlCol="0" anchor="t">
            <a:noAutofit/>
          </a:bodyPr>
          <a:lstStyle/>
          <a:p>
            <a:pPr algn="ctr"/>
            <a:r>
              <a:rPr lang="es-MX" sz="820">
                <a:solidFill>
                  <a:srgbClr val="5F6F65"/>
                </a:solidFill>
                <a:latin typeface="Aptos" panose="020B0004020202020204" pitchFamily="34" charset="0"/>
              </a:rPr>
              <a:t>Una fotografía por cliente al 30/06/2026</a:t>
            </a:r>
          </a:p>
        </p:txBody>
      </p:sp>
      <p:sp>
        <p:nvSpPr>
          <p:cNvPr id="29" name="Rectángulo: esquinas redondeadas 28">
            <a:extLst>
              <a:ext uri="{FF2B5EF4-FFF2-40B4-BE49-F238E27FC236}">
                <a16:creationId xmlns:a16="http://schemas.microsoft.com/office/drawing/2014/main" id="{4500F7E6-26B3-5EC0-8BDC-930545C79764}"/>
              </a:ext>
            </a:extLst>
          </p:cNvPr>
          <p:cNvSpPr/>
          <p:nvPr/>
        </p:nvSpPr>
        <p:spPr>
          <a:xfrm>
            <a:off x="4553712" y="1243584"/>
            <a:ext cx="7114032" cy="4983480"/>
          </a:xfrm>
          <a:prstGeom prst="roundRect">
            <a:avLst/>
          </a:prstGeom>
          <a:solidFill>
            <a:srgbClr val="FFFFFF"/>
          </a:solidFill>
          <a:ln w="12700">
            <a:solidFill>
              <a:srgbClr val="D9E3DA"/>
            </a:solidFill>
          </a:ln>
          <a:effectLst>
            <a:outerShdw blurRad="101600" dist="28398" dir="3806086" rotWithShape="0">
              <a:scrgbClr r="0" g="0" b="0">
                <a:alpha val="18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0" name="CuadroTexto 29">
            <a:extLst>
              <a:ext uri="{FF2B5EF4-FFF2-40B4-BE49-F238E27FC236}">
                <a16:creationId xmlns:a16="http://schemas.microsoft.com/office/drawing/2014/main" id="{AAD87BD7-8482-6A79-2F6A-7EC1ABC94ABD}"/>
              </a:ext>
            </a:extLst>
          </p:cNvPr>
          <p:cNvSpPr txBox="1"/>
          <p:nvPr/>
        </p:nvSpPr>
        <p:spPr>
          <a:xfrm>
            <a:off x="4773168" y="1399032"/>
            <a:ext cx="6629400" cy="369332"/>
          </a:xfrm>
          <a:prstGeom prst="rect">
            <a:avLst/>
          </a:prstGeom>
          <a:noFill/>
        </p:spPr>
        <p:txBody>
          <a:bodyPr vert="horz" wrap="square" lIns="36576" tIns="36576" rIns="36576" bIns="36576" rtlCol="0" anchor="t">
            <a:noAutofit/>
          </a:bodyPr>
          <a:lstStyle/>
          <a:p>
            <a:r>
              <a:rPr lang="es-MX" sz="1500" b="1">
                <a:solidFill>
                  <a:srgbClr val="145B33"/>
                </a:solidFill>
                <a:latin typeface="Aptos" panose="020B0004020202020204" pitchFamily="34" charset="0"/>
              </a:rPr>
              <a:t>Dataset · una fila por cliente comprador</a:t>
            </a:r>
          </a:p>
        </p:txBody>
      </p:sp>
      <p:graphicFrame>
        <p:nvGraphicFramePr>
          <p:cNvPr id="31" name="Tabla 30">
            <a:extLst>
              <a:ext uri="{FF2B5EF4-FFF2-40B4-BE49-F238E27FC236}">
                <a16:creationId xmlns:a16="http://schemas.microsoft.com/office/drawing/2014/main" id="{FD549251-2CF7-3454-4EF4-E8937F01E0C7}"/>
              </a:ext>
            </a:extLst>
          </p:cNvPr>
          <p:cNvGraphicFramePr>
            <a:graphicFrameLocks noGrp="1"/>
          </p:cNvGraphicFramePr>
          <p:nvPr>
            <p:extLst>
              <p:ext uri="{D42A27DB-BD31-4B8C-83A1-F6EECF244321}">
                <p14:modId xmlns:p14="http://schemas.microsoft.com/office/powerpoint/2010/main" val="232980060"/>
              </p:ext>
            </p:extLst>
          </p:nvPr>
        </p:nvGraphicFramePr>
        <p:xfrm>
          <a:off x="4773168" y="1810512"/>
          <a:ext cx="5715000" cy="1161288"/>
        </p:xfrm>
        <a:graphic>
          <a:graphicData uri="http://schemas.openxmlformats.org/drawingml/2006/table">
            <a:tbl>
              <a:tblPr firstRow="1" bandRow="1">
                <a:tableStyleId>{5C22544A-7EE6-4342-B048-85BDC9FD1C3A}</a:tableStyleId>
              </a:tblPr>
              <a:tblGrid>
                <a:gridCol w="1234440">
                  <a:extLst>
                    <a:ext uri="{9D8B030D-6E8A-4147-A177-3AD203B41FA5}">
                      <a16:colId xmlns:a16="http://schemas.microsoft.com/office/drawing/2014/main" val="2450654799"/>
                    </a:ext>
                  </a:extLst>
                </a:gridCol>
                <a:gridCol w="914400">
                  <a:extLst>
                    <a:ext uri="{9D8B030D-6E8A-4147-A177-3AD203B41FA5}">
                      <a16:colId xmlns:a16="http://schemas.microsoft.com/office/drawing/2014/main" val="3405008570"/>
                    </a:ext>
                  </a:extLst>
                </a:gridCol>
                <a:gridCol w="822960">
                  <a:extLst>
                    <a:ext uri="{9D8B030D-6E8A-4147-A177-3AD203B41FA5}">
                      <a16:colId xmlns:a16="http://schemas.microsoft.com/office/drawing/2014/main" val="96591165"/>
                    </a:ext>
                  </a:extLst>
                </a:gridCol>
                <a:gridCol w="822960">
                  <a:extLst>
                    <a:ext uri="{9D8B030D-6E8A-4147-A177-3AD203B41FA5}">
                      <a16:colId xmlns:a16="http://schemas.microsoft.com/office/drawing/2014/main" val="3221637320"/>
                    </a:ext>
                  </a:extLst>
                </a:gridCol>
                <a:gridCol w="822960">
                  <a:extLst>
                    <a:ext uri="{9D8B030D-6E8A-4147-A177-3AD203B41FA5}">
                      <a16:colId xmlns:a16="http://schemas.microsoft.com/office/drawing/2014/main" val="2709645003"/>
                    </a:ext>
                  </a:extLst>
                </a:gridCol>
                <a:gridCol w="1097280">
                  <a:extLst>
                    <a:ext uri="{9D8B030D-6E8A-4147-A177-3AD203B41FA5}">
                      <a16:colId xmlns:a16="http://schemas.microsoft.com/office/drawing/2014/main" val="3751096566"/>
                    </a:ext>
                  </a:extLst>
                </a:gridCol>
              </a:tblGrid>
              <a:tr h="387096">
                <a:tc>
                  <a:txBody>
                    <a:bodyPr/>
                    <a:lstStyle/>
                    <a:p>
                      <a:pPr algn="ctr"/>
                      <a:r>
                        <a:rPr lang="es-MX" sz="840" b="1">
                          <a:solidFill>
                            <a:srgbClr val="FFFFFF"/>
                          </a:solidFill>
                          <a:latin typeface="Aptos" panose="020B0004020202020204" pitchFamily="34" charset="0"/>
                        </a:rPr>
                        <a:t>cliente</a:t>
                      </a:r>
                    </a:p>
                  </a:txBody>
                  <a:tcPr marL="36576" marR="36576" marT="18288" marB="18288" anchor="ctr">
                    <a:solidFill>
                      <a:srgbClr val="145B33"/>
                    </a:solidFill>
                  </a:tcPr>
                </a:tc>
                <a:tc>
                  <a:txBody>
                    <a:bodyPr/>
                    <a:lstStyle/>
                    <a:p>
                      <a:pPr algn="ctr"/>
                      <a:r>
                        <a:rPr lang="es-MX" sz="840" b="1">
                          <a:solidFill>
                            <a:srgbClr val="FFFFFF"/>
                          </a:solidFill>
                          <a:latin typeface="Aptos" panose="020B0004020202020204" pitchFamily="34" charset="0"/>
                        </a:rPr>
                        <a:t>recencia</a:t>
                      </a:r>
                    </a:p>
                  </a:txBody>
                  <a:tcPr marL="36576" marR="36576" marT="18288" marB="18288" anchor="ctr">
                    <a:solidFill>
                      <a:srgbClr val="145B33"/>
                    </a:solidFill>
                  </a:tcPr>
                </a:tc>
                <a:tc>
                  <a:txBody>
                    <a:bodyPr/>
                    <a:lstStyle/>
                    <a:p>
                      <a:pPr algn="ctr"/>
                      <a:r>
                        <a:rPr lang="es-MX" sz="840" b="1">
                          <a:solidFill>
                            <a:srgbClr val="FFFFFF"/>
                          </a:solidFill>
                          <a:latin typeface="Aptos" panose="020B0004020202020204" pitchFamily="34" charset="0"/>
                        </a:rPr>
                        <a:t>frecuencia</a:t>
                      </a:r>
                    </a:p>
                  </a:txBody>
                  <a:tcPr marL="36576" marR="36576" marT="18288" marB="18288" anchor="ctr">
                    <a:solidFill>
                      <a:srgbClr val="145B33"/>
                    </a:solidFill>
                  </a:tcPr>
                </a:tc>
                <a:tc>
                  <a:txBody>
                    <a:bodyPr/>
                    <a:lstStyle/>
                    <a:p>
                      <a:pPr algn="ctr"/>
                      <a:r>
                        <a:rPr lang="es-MX" sz="840" b="1">
                          <a:solidFill>
                            <a:srgbClr val="FFFFFF"/>
                          </a:solidFill>
                          <a:latin typeface="Aptos" panose="020B0004020202020204" pitchFamily="34" charset="0"/>
                        </a:rPr>
                        <a:t>monto</a:t>
                      </a:r>
                    </a:p>
                  </a:txBody>
                  <a:tcPr marL="36576" marR="36576" marT="18288" marB="18288" anchor="ctr">
                    <a:solidFill>
                      <a:srgbClr val="145B33"/>
                    </a:solidFill>
                  </a:tcPr>
                </a:tc>
                <a:tc>
                  <a:txBody>
                    <a:bodyPr/>
                    <a:lstStyle/>
                    <a:p>
                      <a:pPr algn="ctr"/>
                      <a:r>
                        <a:rPr lang="es-MX" sz="840" b="1">
                          <a:solidFill>
                            <a:srgbClr val="FFFFFF"/>
                          </a:solidFill>
                          <a:latin typeface="Aptos" panose="020B0004020202020204" pitchFamily="34" charset="0"/>
                        </a:rPr>
                        <a:t>favoritos</a:t>
                      </a:r>
                    </a:p>
                  </a:txBody>
                  <a:tcPr marL="36576" marR="36576" marT="18288" marB="18288" anchor="ctr">
                    <a:solidFill>
                      <a:srgbClr val="145B33"/>
                    </a:solidFill>
                  </a:tcPr>
                </a:tc>
                <a:tc>
                  <a:txBody>
                    <a:bodyPr/>
                    <a:lstStyle/>
                    <a:p>
                      <a:pPr algn="ctr"/>
                      <a:r>
                        <a:rPr lang="es-MX" sz="840" b="1">
                          <a:solidFill>
                            <a:srgbClr val="FFFFFF"/>
                          </a:solidFill>
                          <a:latin typeface="Aptos" panose="020B0004020202020204" pitchFamily="34" charset="0"/>
                        </a:rPr>
                        <a:t>preferencia</a:t>
                      </a:r>
                    </a:p>
                  </a:txBody>
                  <a:tcPr marL="36576" marR="36576" marT="18288" marB="18288" anchor="ctr">
                    <a:solidFill>
                      <a:srgbClr val="145B33"/>
                    </a:solidFill>
                  </a:tcPr>
                </a:tc>
                <a:extLst>
                  <a:ext uri="{0D108BD9-81ED-4DB2-BD59-A6C34878D82A}">
                    <a16:rowId xmlns:a16="http://schemas.microsoft.com/office/drawing/2014/main" val="1950006980"/>
                  </a:ext>
                </a:extLst>
              </a:tr>
              <a:tr h="387096">
                <a:tc>
                  <a:txBody>
                    <a:bodyPr/>
                    <a:lstStyle/>
                    <a:p>
                      <a:pPr algn="ctr"/>
                      <a:r>
                        <a:rPr lang="es-MX" sz="840">
                          <a:solidFill>
                            <a:srgbClr val="142019"/>
                          </a:solidFill>
                          <a:latin typeface="Aptos" panose="020B0004020202020204" pitchFamily="34" charset="0"/>
                        </a:rPr>
                        <a:t>SYN-CUST-0009</a:t>
                      </a:r>
                    </a:p>
                  </a:txBody>
                  <a:tcPr marL="36576" marR="36576" marT="18288" marB="18288" anchor="ctr">
                    <a:solidFill>
                      <a:srgbClr val="FFFFFF"/>
                    </a:solidFill>
                  </a:tcPr>
                </a:tc>
                <a:tc>
                  <a:txBody>
                    <a:bodyPr/>
                    <a:lstStyle/>
                    <a:p>
                      <a:pPr algn="ctr"/>
                      <a:r>
                        <a:rPr lang="es-MX" sz="840">
                          <a:solidFill>
                            <a:srgbClr val="142019"/>
                          </a:solidFill>
                          <a:latin typeface="Aptos" panose="020B0004020202020204" pitchFamily="34" charset="0"/>
                        </a:rPr>
                        <a:t>41 días</a:t>
                      </a:r>
                    </a:p>
                  </a:txBody>
                  <a:tcPr marL="36576" marR="36576" marT="18288" marB="18288" anchor="ctr">
                    <a:solidFill>
                      <a:srgbClr val="FFFFFF"/>
                    </a:solidFill>
                  </a:tcPr>
                </a:tc>
                <a:tc>
                  <a:txBody>
                    <a:bodyPr/>
                    <a:lstStyle/>
                    <a:p>
                      <a:pPr algn="ctr"/>
                      <a:r>
                        <a:rPr lang="es-MX" sz="840">
                          <a:solidFill>
                            <a:srgbClr val="142019"/>
                          </a:solidFill>
                          <a:latin typeface="Aptos" panose="020B0004020202020204" pitchFamily="34" charset="0"/>
                        </a:rPr>
                        <a:t>7</a:t>
                      </a:r>
                    </a:p>
                  </a:txBody>
                  <a:tcPr marL="36576" marR="36576" marT="18288" marB="18288" anchor="ctr">
                    <a:solidFill>
                      <a:srgbClr val="FFFFFF"/>
                    </a:solidFill>
                  </a:tcPr>
                </a:tc>
                <a:tc>
                  <a:txBody>
                    <a:bodyPr/>
                    <a:lstStyle/>
                    <a:p>
                      <a:pPr algn="ctr"/>
                      <a:r>
                        <a:rPr lang="es-MX" sz="840">
                          <a:solidFill>
                            <a:srgbClr val="142019"/>
                          </a:solidFill>
                          <a:latin typeface="Aptos" panose="020B0004020202020204" pitchFamily="34" charset="0"/>
                        </a:rPr>
                        <a:t>$588</a:t>
                      </a:r>
                    </a:p>
                  </a:txBody>
                  <a:tcPr marL="36576" marR="36576" marT="18288" marB="18288" anchor="ctr">
                    <a:solidFill>
                      <a:srgbClr val="FFFFFF"/>
                    </a:solidFill>
                  </a:tcPr>
                </a:tc>
                <a:tc>
                  <a:txBody>
                    <a:bodyPr/>
                    <a:lstStyle/>
                    <a:p>
                      <a:pPr algn="ctr"/>
                      <a:r>
                        <a:rPr lang="es-MX" sz="840">
                          <a:solidFill>
                            <a:srgbClr val="142019"/>
                          </a:solidFill>
                          <a:latin typeface="Aptos" panose="020B0004020202020204" pitchFamily="34" charset="0"/>
                        </a:rPr>
                        <a:t>1</a:t>
                      </a:r>
                    </a:p>
                  </a:txBody>
                  <a:tcPr marL="36576" marR="36576" marT="18288" marB="18288" anchor="ctr">
                    <a:solidFill>
                      <a:srgbClr val="FFFFFF"/>
                    </a:solidFill>
                  </a:tcPr>
                </a:tc>
                <a:tc>
                  <a:txBody>
                    <a:bodyPr/>
                    <a:lstStyle/>
                    <a:p>
                      <a:pPr algn="ctr"/>
                      <a:r>
                        <a:rPr lang="es-MX" sz="840">
                          <a:solidFill>
                            <a:srgbClr val="142019"/>
                          </a:solidFill>
                          <a:latin typeface="Aptos" panose="020B0004020202020204" pitchFamily="34" charset="0"/>
                        </a:rPr>
                        <a:t>resfriado</a:t>
                      </a:r>
                    </a:p>
                  </a:txBody>
                  <a:tcPr marL="36576" marR="36576" marT="18288" marB="18288" anchor="ctr">
                    <a:solidFill>
                      <a:srgbClr val="FFFFFF"/>
                    </a:solidFill>
                  </a:tcPr>
                </a:tc>
                <a:extLst>
                  <a:ext uri="{0D108BD9-81ED-4DB2-BD59-A6C34878D82A}">
                    <a16:rowId xmlns:a16="http://schemas.microsoft.com/office/drawing/2014/main" val="2923793180"/>
                  </a:ext>
                </a:extLst>
              </a:tr>
              <a:tr h="387096">
                <a:tc>
                  <a:txBody>
                    <a:bodyPr/>
                    <a:lstStyle/>
                    <a:p>
                      <a:pPr algn="ctr"/>
                      <a:r>
                        <a:rPr lang="es-MX" sz="840">
                          <a:solidFill>
                            <a:srgbClr val="142019"/>
                          </a:solidFill>
                          <a:latin typeface="Aptos" panose="020B0004020202020204" pitchFamily="34" charset="0"/>
                        </a:rPr>
                        <a:t>SYN-CUST-0152</a:t>
                      </a:r>
                    </a:p>
                  </a:txBody>
                  <a:tcPr marL="36576" marR="36576" marT="18288" marB="18288" anchor="ctr">
                    <a:solidFill>
                      <a:srgbClr val="F8F6F0"/>
                    </a:solidFill>
                  </a:tcPr>
                </a:tc>
                <a:tc>
                  <a:txBody>
                    <a:bodyPr/>
                    <a:lstStyle/>
                    <a:p>
                      <a:pPr algn="ctr"/>
                      <a:r>
                        <a:rPr lang="es-MX" sz="840">
                          <a:solidFill>
                            <a:srgbClr val="142019"/>
                          </a:solidFill>
                          <a:latin typeface="Aptos" panose="020B0004020202020204" pitchFamily="34" charset="0"/>
                        </a:rPr>
                        <a:t>8 días</a:t>
                      </a:r>
                    </a:p>
                  </a:txBody>
                  <a:tcPr marL="36576" marR="36576" marT="18288" marB="18288" anchor="ctr">
                    <a:solidFill>
                      <a:srgbClr val="F8F6F0"/>
                    </a:solidFill>
                  </a:tcPr>
                </a:tc>
                <a:tc>
                  <a:txBody>
                    <a:bodyPr/>
                    <a:lstStyle/>
                    <a:p>
                      <a:pPr algn="ctr"/>
                      <a:r>
                        <a:rPr lang="es-MX" sz="840">
                          <a:solidFill>
                            <a:srgbClr val="142019"/>
                          </a:solidFill>
                          <a:latin typeface="Aptos" panose="020B0004020202020204" pitchFamily="34" charset="0"/>
                        </a:rPr>
                        <a:t>14</a:t>
                      </a:r>
                    </a:p>
                  </a:txBody>
                  <a:tcPr marL="36576" marR="36576" marT="18288" marB="18288" anchor="ctr">
                    <a:solidFill>
                      <a:srgbClr val="F8F6F0"/>
                    </a:solidFill>
                  </a:tcPr>
                </a:tc>
                <a:tc>
                  <a:txBody>
                    <a:bodyPr/>
                    <a:lstStyle/>
                    <a:p>
                      <a:pPr algn="ctr"/>
                      <a:r>
                        <a:rPr lang="es-MX" sz="840">
                          <a:solidFill>
                            <a:srgbClr val="142019"/>
                          </a:solidFill>
                          <a:latin typeface="Aptos" panose="020B0004020202020204" pitchFamily="34" charset="0"/>
                        </a:rPr>
                        <a:t>$1,764</a:t>
                      </a:r>
                    </a:p>
                  </a:txBody>
                  <a:tcPr marL="36576" marR="36576" marT="18288" marB="18288" anchor="ctr">
                    <a:solidFill>
                      <a:srgbClr val="F8F6F0"/>
                    </a:solidFill>
                  </a:tcPr>
                </a:tc>
                <a:tc>
                  <a:txBody>
                    <a:bodyPr/>
                    <a:lstStyle/>
                    <a:p>
                      <a:pPr algn="ctr"/>
                      <a:r>
                        <a:rPr lang="es-MX" sz="840">
                          <a:solidFill>
                            <a:srgbClr val="142019"/>
                          </a:solidFill>
                          <a:latin typeface="Aptos" panose="020B0004020202020204" pitchFamily="34" charset="0"/>
                        </a:rPr>
                        <a:t>3</a:t>
                      </a:r>
                    </a:p>
                  </a:txBody>
                  <a:tcPr marL="36576" marR="36576" marT="18288" marB="18288" anchor="ctr">
                    <a:solidFill>
                      <a:srgbClr val="F8F6F0"/>
                    </a:solidFill>
                  </a:tcPr>
                </a:tc>
                <a:tc>
                  <a:txBody>
                    <a:bodyPr/>
                    <a:lstStyle/>
                    <a:p>
                      <a:pPr algn="ctr"/>
                      <a:r>
                        <a:rPr lang="es-MX" sz="840">
                          <a:solidFill>
                            <a:srgbClr val="142019"/>
                          </a:solidFill>
                          <a:latin typeface="Aptos" panose="020B0004020202020204" pitchFamily="34" charset="0"/>
                        </a:rPr>
                        <a:t>insomnio</a:t>
                      </a:r>
                    </a:p>
                  </a:txBody>
                  <a:tcPr marL="36576" marR="36576" marT="18288" marB="18288" anchor="ctr">
                    <a:solidFill>
                      <a:srgbClr val="F8F6F0"/>
                    </a:solidFill>
                  </a:tcPr>
                </a:tc>
                <a:extLst>
                  <a:ext uri="{0D108BD9-81ED-4DB2-BD59-A6C34878D82A}">
                    <a16:rowId xmlns:a16="http://schemas.microsoft.com/office/drawing/2014/main" val="2550775720"/>
                  </a:ext>
                </a:extLst>
              </a:tr>
            </a:tbl>
          </a:graphicData>
        </a:graphic>
      </p:graphicFrame>
      <p:sp>
        <p:nvSpPr>
          <p:cNvPr id="32" name="Rectángulo: esquinas redondeadas 31">
            <a:extLst>
              <a:ext uri="{FF2B5EF4-FFF2-40B4-BE49-F238E27FC236}">
                <a16:creationId xmlns:a16="http://schemas.microsoft.com/office/drawing/2014/main" id="{A412E5DA-E0EF-ADAA-69AD-56F200254505}"/>
              </a:ext>
            </a:extLst>
          </p:cNvPr>
          <p:cNvSpPr/>
          <p:nvPr/>
        </p:nvSpPr>
        <p:spPr>
          <a:xfrm>
            <a:off x="4773168" y="3200400"/>
            <a:ext cx="6611112" cy="804672"/>
          </a:xfrm>
          <a:prstGeom prst="roundRect">
            <a:avLst/>
          </a:prstGeom>
          <a:solidFill>
            <a:srgbClr val="E8F3E8"/>
          </a:solidFill>
          <a:ln w="12700">
            <a:solidFill>
              <a:srgbClr val="087A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3" name="CuadroTexto 32">
            <a:extLst>
              <a:ext uri="{FF2B5EF4-FFF2-40B4-BE49-F238E27FC236}">
                <a16:creationId xmlns:a16="http://schemas.microsoft.com/office/drawing/2014/main" id="{FE6EFE1D-6131-D409-4A58-BE41BCCE616B}"/>
              </a:ext>
            </a:extLst>
          </p:cNvPr>
          <p:cNvSpPr txBox="1"/>
          <p:nvPr/>
        </p:nvSpPr>
        <p:spPr>
          <a:xfrm>
            <a:off x="4992624" y="3300984"/>
            <a:ext cx="2286000" cy="646331"/>
          </a:xfrm>
          <a:prstGeom prst="rect">
            <a:avLst/>
          </a:prstGeom>
          <a:noFill/>
        </p:spPr>
        <p:txBody>
          <a:bodyPr vert="horz" wrap="square" lIns="36576" tIns="36576" rIns="36576" bIns="36576" rtlCol="0" anchor="t">
            <a:noAutofit/>
          </a:bodyPr>
          <a:lstStyle/>
          <a:p>
            <a:r>
              <a:rPr lang="es-MX" sz="1000" b="1">
                <a:solidFill>
                  <a:srgbClr val="087A2B"/>
                </a:solidFill>
                <a:latin typeface="Aptos" panose="020B0004020202020204" pitchFamily="34" charset="0"/>
              </a:rPr>
              <a:t>VARIABLES X · RFM + conducta</a:t>
            </a:r>
          </a:p>
        </p:txBody>
      </p:sp>
      <p:sp>
        <p:nvSpPr>
          <p:cNvPr id="34" name="CuadroTexto 33">
            <a:extLst>
              <a:ext uri="{FF2B5EF4-FFF2-40B4-BE49-F238E27FC236}">
                <a16:creationId xmlns:a16="http://schemas.microsoft.com/office/drawing/2014/main" id="{B8A3D30B-5868-2CA5-369E-118FCDD7726A}"/>
              </a:ext>
            </a:extLst>
          </p:cNvPr>
          <p:cNvSpPr txBox="1"/>
          <p:nvPr/>
        </p:nvSpPr>
        <p:spPr>
          <a:xfrm>
            <a:off x="4974336" y="3566160"/>
            <a:ext cx="6144768" cy="646331"/>
          </a:xfrm>
          <a:prstGeom prst="rect">
            <a:avLst/>
          </a:prstGeom>
          <a:noFill/>
        </p:spPr>
        <p:txBody>
          <a:bodyPr vert="horz" wrap="square" lIns="36576" tIns="36576" rIns="36576" bIns="36576" rtlCol="0" anchor="t">
            <a:noAutofit/>
          </a:bodyPr>
          <a:lstStyle/>
          <a:p>
            <a:r>
              <a:rPr lang="es-MX" sz="980">
                <a:solidFill>
                  <a:srgbClr val="142019"/>
                </a:solidFill>
                <a:latin typeface="Aptos" panose="020B0004020202020204" pitchFamily="34" charset="0"/>
              </a:rPr>
              <a:t>recency · frequency · monetary · ticket · diversidad · favoritos · reseñas · afinidad por línea</a:t>
            </a:r>
          </a:p>
        </p:txBody>
      </p:sp>
      <p:sp>
        <p:nvSpPr>
          <p:cNvPr id="35" name="Rectángulo: esquinas redondeadas 34">
            <a:extLst>
              <a:ext uri="{FF2B5EF4-FFF2-40B4-BE49-F238E27FC236}">
                <a16:creationId xmlns:a16="http://schemas.microsoft.com/office/drawing/2014/main" id="{908ED822-DDBD-AA54-D70D-DD833201D67C}"/>
              </a:ext>
            </a:extLst>
          </p:cNvPr>
          <p:cNvSpPr/>
          <p:nvPr/>
        </p:nvSpPr>
        <p:spPr>
          <a:xfrm>
            <a:off x="4773168" y="4315968"/>
            <a:ext cx="1536192" cy="347472"/>
          </a:xfrm>
          <a:prstGeom prst="roundRect">
            <a:avLst/>
          </a:prstGeom>
          <a:solidFill>
            <a:srgbClr val="E8F3E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6" name="CuadroTexto 35">
            <a:extLst>
              <a:ext uri="{FF2B5EF4-FFF2-40B4-BE49-F238E27FC236}">
                <a16:creationId xmlns:a16="http://schemas.microsoft.com/office/drawing/2014/main" id="{177654E7-CE21-BE1F-B409-7A6C8C909602}"/>
              </a:ext>
            </a:extLst>
          </p:cNvPr>
          <p:cNvSpPr txBox="1"/>
          <p:nvPr/>
        </p:nvSpPr>
        <p:spPr>
          <a:xfrm>
            <a:off x="4809744" y="4315968"/>
            <a:ext cx="1463040" cy="646331"/>
          </a:xfrm>
          <a:prstGeom prst="rect">
            <a:avLst/>
          </a:prstGeom>
          <a:noFill/>
        </p:spPr>
        <p:txBody>
          <a:bodyPr vert="horz" wrap="square" lIns="36576" tIns="36576" rIns="36576" bIns="36576" rtlCol="0" anchor="t">
            <a:noAutofit/>
          </a:bodyPr>
          <a:lstStyle/>
          <a:p>
            <a:pPr algn="ctr"/>
            <a:r>
              <a:rPr lang="es-MX" sz="920" b="1">
                <a:solidFill>
                  <a:srgbClr val="145B33"/>
                </a:solidFill>
                <a:latin typeface="Aptos" panose="020B0004020202020204" pitchFamily="34" charset="0"/>
              </a:rPr>
              <a:t>Leales / alto valor</a:t>
            </a:r>
          </a:p>
        </p:txBody>
      </p:sp>
      <p:sp>
        <p:nvSpPr>
          <p:cNvPr id="37" name="Rectángulo: esquinas redondeadas 36">
            <a:extLst>
              <a:ext uri="{FF2B5EF4-FFF2-40B4-BE49-F238E27FC236}">
                <a16:creationId xmlns:a16="http://schemas.microsoft.com/office/drawing/2014/main" id="{08ED8A92-D006-B503-433E-1E04C03997BE}"/>
              </a:ext>
            </a:extLst>
          </p:cNvPr>
          <p:cNvSpPr/>
          <p:nvPr/>
        </p:nvSpPr>
        <p:spPr>
          <a:xfrm>
            <a:off x="6446520" y="4315968"/>
            <a:ext cx="1737360" cy="347472"/>
          </a:xfrm>
          <a:prstGeom prst="roundRect">
            <a:avLst/>
          </a:prstGeom>
          <a:solidFill>
            <a:srgbClr val="E9F0F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8" name="CuadroTexto 37">
            <a:extLst>
              <a:ext uri="{FF2B5EF4-FFF2-40B4-BE49-F238E27FC236}">
                <a16:creationId xmlns:a16="http://schemas.microsoft.com/office/drawing/2014/main" id="{3BEE6F90-387B-7502-4683-6C32D33C5086}"/>
              </a:ext>
            </a:extLst>
          </p:cNvPr>
          <p:cNvSpPr txBox="1"/>
          <p:nvPr/>
        </p:nvSpPr>
        <p:spPr>
          <a:xfrm>
            <a:off x="6483096" y="4315968"/>
            <a:ext cx="1664208" cy="646331"/>
          </a:xfrm>
          <a:prstGeom prst="rect">
            <a:avLst/>
          </a:prstGeom>
          <a:noFill/>
        </p:spPr>
        <p:txBody>
          <a:bodyPr vert="horz" wrap="square" lIns="36576" tIns="36576" rIns="36576" bIns="36576" rtlCol="0" anchor="t">
            <a:noAutofit/>
          </a:bodyPr>
          <a:lstStyle/>
          <a:p>
            <a:pPr algn="ctr"/>
            <a:r>
              <a:rPr lang="es-MX" sz="920" b="1">
                <a:solidFill>
                  <a:srgbClr val="234C7A"/>
                </a:solidFill>
                <a:latin typeface="Aptos" panose="020B0004020202020204" pitchFamily="34" charset="0"/>
              </a:rPr>
              <a:t>Nuevos / prometedores</a:t>
            </a:r>
          </a:p>
        </p:txBody>
      </p:sp>
      <p:sp>
        <p:nvSpPr>
          <p:cNvPr id="39" name="Rectángulo: esquinas redondeadas 38">
            <a:extLst>
              <a:ext uri="{FF2B5EF4-FFF2-40B4-BE49-F238E27FC236}">
                <a16:creationId xmlns:a16="http://schemas.microsoft.com/office/drawing/2014/main" id="{6CC7831C-2E19-1BCE-AC41-8046DE66140D}"/>
              </a:ext>
            </a:extLst>
          </p:cNvPr>
          <p:cNvSpPr/>
          <p:nvPr/>
        </p:nvSpPr>
        <p:spPr>
          <a:xfrm>
            <a:off x="8321040" y="4315968"/>
            <a:ext cx="1828800" cy="347472"/>
          </a:xfrm>
          <a:prstGeom prst="roundRect">
            <a:avLst/>
          </a:prstGeom>
          <a:solidFill>
            <a:srgbClr val="F0EAF6"/>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0" name="CuadroTexto 39">
            <a:extLst>
              <a:ext uri="{FF2B5EF4-FFF2-40B4-BE49-F238E27FC236}">
                <a16:creationId xmlns:a16="http://schemas.microsoft.com/office/drawing/2014/main" id="{76137CF6-2D65-B0CE-0613-D63C82AFD022}"/>
              </a:ext>
            </a:extLst>
          </p:cNvPr>
          <p:cNvSpPr txBox="1"/>
          <p:nvPr/>
        </p:nvSpPr>
        <p:spPr>
          <a:xfrm>
            <a:off x="8357616" y="4315968"/>
            <a:ext cx="1755648" cy="646331"/>
          </a:xfrm>
          <a:prstGeom prst="rect">
            <a:avLst/>
          </a:prstGeom>
          <a:noFill/>
        </p:spPr>
        <p:txBody>
          <a:bodyPr vert="horz" wrap="square" lIns="36576" tIns="36576" rIns="36576" bIns="36576" rtlCol="0" anchor="t">
            <a:noAutofit/>
          </a:bodyPr>
          <a:lstStyle/>
          <a:p>
            <a:pPr algn="ctr"/>
            <a:r>
              <a:rPr lang="es-MX" sz="920" b="1">
                <a:solidFill>
                  <a:srgbClr val="70449A"/>
                </a:solidFill>
                <a:latin typeface="Aptos" panose="020B0004020202020204" pitchFamily="34" charset="0"/>
              </a:rPr>
              <a:t>Ocasionales / promoción</a:t>
            </a:r>
          </a:p>
        </p:txBody>
      </p:sp>
      <p:sp>
        <p:nvSpPr>
          <p:cNvPr id="41" name="Rectángulo: esquinas redondeadas 40">
            <a:extLst>
              <a:ext uri="{FF2B5EF4-FFF2-40B4-BE49-F238E27FC236}">
                <a16:creationId xmlns:a16="http://schemas.microsoft.com/office/drawing/2014/main" id="{471B3271-6227-497F-B9DC-B79020F208F1}"/>
              </a:ext>
            </a:extLst>
          </p:cNvPr>
          <p:cNvSpPr/>
          <p:nvPr/>
        </p:nvSpPr>
        <p:spPr>
          <a:xfrm>
            <a:off x="10287000" y="4315968"/>
            <a:ext cx="932688" cy="347472"/>
          </a:xfrm>
          <a:prstGeom prst="roundRect">
            <a:avLst/>
          </a:prstGeom>
          <a:solidFill>
            <a:srgbClr val="FBEAE7"/>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2" name="CuadroTexto 41">
            <a:extLst>
              <a:ext uri="{FF2B5EF4-FFF2-40B4-BE49-F238E27FC236}">
                <a16:creationId xmlns:a16="http://schemas.microsoft.com/office/drawing/2014/main" id="{E3774A08-5192-0123-4515-FA6B35638D5D}"/>
              </a:ext>
            </a:extLst>
          </p:cNvPr>
          <p:cNvSpPr txBox="1"/>
          <p:nvPr/>
        </p:nvSpPr>
        <p:spPr>
          <a:xfrm>
            <a:off x="10323576" y="4315968"/>
            <a:ext cx="859536" cy="646331"/>
          </a:xfrm>
          <a:prstGeom prst="rect">
            <a:avLst/>
          </a:prstGeom>
          <a:noFill/>
        </p:spPr>
        <p:txBody>
          <a:bodyPr vert="horz" wrap="square" lIns="36576" tIns="36576" rIns="36576" bIns="36576" rtlCol="0" anchor="t">
            <a:noAutofit/>
          </a:bodyPr>
          <a:lstStyle/>
          <a:p>
            <a:pPr algn="ctr"/>
            <a:r>
              <a:rPr lang="es-MX" sz="920" b="1">
                <a:solidFill>
                  <a:srgbClr val="D9685F"/>
                </a:solidFill>
                <a:latin typeface="Aptos" panose="020B0004020202020204" pitchFamily="34" charset="0"/>
              </a:rPr>
              <a:t>En riesgo</a:t>
            </a:r>
          </a:p>
        </p:txBody>
      </p:sp>
      <p:sp>
        <p:nvSpPr>
          <p:cNvPr id="43" name="Rectángulo: esquinas redondeadas 42">
            <a:extLst>
              <a:ext uri="{FF2B5EF4-FFF2-40B4-BE49-F238E27FC236}">
                <a16:creationId xmlns:a16="http://schemas.microsoft.com/office/drawing/2014/main" id="{4863D0C8-9499-D3BE-FDA7-8DE049DA30D4}"/>
              </a:ext>
            </a:extLst>
          </p:cNvPr>
          <p:cNvSpPr/>
          <p:nvPr/>
        </p:nvSpPr>
        <p:spPr>
          <a:xfrm>
            <a:off x="4773168" y="4928616"/>
            <a:ext cx="6611112" cy="713232"/>
          </a:xfrm>
          <a:prstGeom prst="roundRect">
            <a:avLst/>
          </a:prstGeom>
          <a:solidFill>
            <a:srgbClr val="FFF4DC"/>
          </a:solidFill>
          <a:ln w="12700">
            <a:solidFill>
              <a:srgbClr val="E7A2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4" name="CuadroTexto 43">
            <a:extLst>
              <a:ext uri="{FF2B5EF4-FFF2-40B4-BE49-F238E27FC236}">
                <a16:creationId xmlns:a16="http://schemas.microsoft.com/office/drawing/2014/main" id="{2FEED7D4-541C-E13C-DB3D-10FBBE65FCB5}"/>
              </a:ext>
            </a:extLst>
          </p:cNvPr>
          <p:cNvSpPr txBox="1"/>
          <p:nvPr/>
        </p:nvSpPr>
        <p:spPr>
          <a:xfrm>
            <a:off x="4992624" y="5056632"/>
            <a:ext cx="6153912" cy="646331"/>
          </a:xfrm>
          <a:prstGeom prst="rect">
            <a:avLst/>
          </a:prstGeom>
          <a:noFill/>
        </p:spPr>
        <p:txBody>
          <a:bodyPr vert="horz" wrap="square" lIns="36576" tIns="36576" rIns="36576" bIns="36576" rtlCol="0" anchor="t">
            <a:noAutofit/>
          </a:bodyPr>
          <a:lstStyle/>
          <a:p>
            <a:pPr algn="ctr"/>
            <a:r>
              <a:rPr lang="es-MX" sz="1120" b="1">
                <a:solidFill>
                  <a:srgbClr val="142019"/>
                </a:solidFill>
                <a:latin typeface="Aptos" panose="020B0004020202020204" pitchFamily="34" charset="0"/>
              </a:rPr>
              <a:t>SIN VARIABLE Y · los grupos se descubren y se interpretan después; no son clases preasignadas.</a:t>
            </a:r>
          </a:p>
        </p:txBody>
      </p:sp>
      <p:sp>
        <p:nvSpPr>
          <p:cNvPr id="45" name="CuadroTexto 44">
            <a:extLst>
              <a:ext uri="{FF2B5EF4-FFF2-40B4-BE49-F238E27FC236}">
                <a16:creationId xmlns:a16="http://schemas.microsoft.com/office/drawing/2014/main" id="{56FBAF39-4224-2601-272C-3E27043C894C}"/>
              </a:ext>
            </a:extLst>
          </p:cNvPr>
          <p:cNvSpPr txBox="1"/>
          <p:nvPr/>
        </p:nvSpPr>
        <p:spPr>
          <a:xfrm>
            <a:off x="4791456" y="5769864"/>
            <a:ext cx="6583680" cy="646331"/>
          </a:xfrm>
          <a:prstGeom prst="rect">
            <a:avLst/>
          </a:prstGeom>
          <a:noFill/>
        </p:spPr>
        <p:txBody>
          <a:bodyPr vert="horz" wrap="square" lIns="36576" tIns="36576" rIns="36576" bIns="36576" rtlCol="0" anchor="t">
            <a:noAutofit/>
          </a:bodyPr>
          <a:lstStyle/>
          <a:p>
            <a:r>
              <a:rPr lang="es-MX" sz="880">
                <a:solidFill>
                  <a:srgbClr val="5F6F65"/>
                </a:solidFill>
                <a:latin typeface="Aptos" panose="020B0004020202020204" pitchFamily="34" charset="0"/>
              </a:rPr>
              <a:t>K=2 obtuvo el mejor silhouette preliminar; K=4 ofrece perfiles comerciales más accionables y debe validarse.</a:t>
            </a:r>
          </a:p>
        </p:txBody>
      </p:sp>
      <p:sp>
        <p:nvSpPr>
          <p:cNvPr id="46" name="CuadroTexto 45">
            <a:extLst>
              <a:ext uri="{FF2B5EF4-FFF2-40B4-BE49-F238E27FC236}">
                <a16:creationId xmlns:a16="http://schemas.microsoft.com/office/drawing/2014/main" id="{8F95CD3D-2BC0-424A-D775-AF52A5669946}"/>
              </a:ext>
            </a:extLst>
          </p:cNvPr>
          <p:cNvSpPr txBox="1"/>
          <p:nvPr/>
        </p:nvSpPr>
        <p:spPr>
          <a:xfrm>
            <a:off x="530352" y="6547104"/>
            <a:ext cx="8046720" cy="369332"/>
          </a:xfrm>
          <a:prstGeom prst="rect">
            <a:avLst/>
          </a:prstGeom>
          <a:noFill/>
        </p:spPr>
        <p:txBody>
          <a:bodyPr vert="horz" wrap="square" lIns="36576" tIns="36576" rIns="36576" bIns="36576" rtlCol="0" anchor="t">
            <a:noAutofit/>
          </a:bodyPr>
          <a:lstStyle/>
          <a:p>
            <a:r>
              <a:rPr lang="es-MX" sz="800">
                <a:solidFill>
                  <a:srgbClr val="5F6F65"/>
                </a:solidFill>
                <a:latin typeface="Aptos" panose="020B0004020202020204" pitchFamily="34" charset="0"/>
              </a:rPr>
              <a:t>INHALEX · Propuestas de aprendizaje automático</a:t>
            </a:r>
          </a:p>
        </p:txBody>
      </p:sp>
    </p:spTree>
    <p:extLst>
      <p:ext uri="{BB962C8B-B14F-4D97-AF65-F5344CB8AC3E}">
        <p14:creationId xmlns:p14="http://schemas.microsoft.com/office/powerpoint/2010/main" val="1472001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0362D16-5134-3BD1-D814-72D8EE460E82}"/>
              </a:ext>
            </a:extLst>
          </p:cNvPr>
          <p:cNvSpPr txBox="1"/>
          <p:nvPr/>
        </p:nvSpPr>
        <p:spPr>
          <a:xfrm>
            <a:off x="502920" y="201168"/>
            <a:ext cx="5303520" cy="646331"/>
          </a:xfrm>
          <a:prstGeom prst="rect">
            <a:avLst/>
          </a:prstGeom>
          <a:noFill/>
        </p:spPr>
        <p:txBody>
          <a:bodyPr vert="horz" wrap="square" lIns="36576" tIns="36576" rIns="36576" bIns="36576" rtlCol="0" anchor="t">
            <a:noAutofit/>
          </a:bodyPr>
          <a:lstStyle/>
          <a:p>
            <a:r>
              <a:rPr lang="es-MX" sz="950" b="1">
                <a:solidFill>
                  <a:srgbClr val="087A2B"/>
                </a:solidFill>
                <a:latin typeface="Aptos" panose="020B0004020202020204" pitchFamily="34" charset="0"/>
              </a:rPr>
              <a:t>PANEL ADMINISTRATIVO · USUARIOS Y PROMOCIONES</a:t>
            </a:r>
          </a:p>
        </p:txBody>
      </p:sp>
      <p:sp>
        <p:nvSpPr>
          <p:cNvPr id="3" name="CuadroTexto 2">
            <a:extLst>
              <a:ext uri="{FF2B5EF4-FFF2-40B4-BE49-F238E27FC236}">
                <a16:creationId xmlns:a16="http://schemas.microsoft.com/office/drawing/2014/main" id="{037365DD-4F70-0B4C-9F72-367BA631BF21}"/>
              </a:ext>
            </a:extLst>
          </p:cNvPr>
          <p:cNvSpPr txBox="1"/>
          <p:nvPr/>
        </p:nvSpPr>
        <p:spPr>
          <a:xfrm>
            <a:off x="502920" y="438912"/>
            <a:ext cx="9784080" cy="369332"/>
          </a:xfrm>
          <a:prstGeom prst="rect">
            <a:avLst/>
          </a:prstGeom>
          <a:noFill/>
        </p:spPr>
        <p:txBody>
          <a:bodyPr vert="horz" wrap="square" lIns="36576" tIns="36576" rIns="36576" bIns="36576" rtlCol="0" anchor="t">
            <a:noAutofit/>
          </a:bodyPr>
          <a:lstStyle/>
          <a:p>
            <a:r>
              <a:rPr lang="es-MX" sz="2700" b="1">
                <a:solidFill>
                  <a:srgbClr val="142019"/>
                </a:solidFill>
                <a:latin typeface="Aptos" panose="020B0004020202020204" pitchFamily="34" charset="0"/>
              </a:rPr>
              <a:t>¿Dónde se implementaría? · Segmentos de clientes</a:t>
            </a:r>
          </a:p>
        </p:txBody>
      </p:sp>
      <p:sp>
        <p:nvSpPr>
          <p:cNvPr id="4" name="Rectángulo 3">
            <a:extLst>
              <a:ext uri="{FF2B5EF4-FFF2-40B4-BE49-F238E27FC236}">
                <a16:creationId xmlns:a16="http://schemas.microsoft.com/office/drawing/2014/main" id="{AD0F50B3-DD31-0F73-CE0A-5CB1B596537F}"/>
              </a:ext>
            </a:extLst>
          </p:cNvPr>
          <p:cNvSpPr/>
          <p:nvPr/>
        </p:nvSpPr>
        <p:spPr>
          <a:xfrm>
            <a:off x="502920" y="987552"/>
            <a:ext cx="11155680" cy="16459"/>
          </a:xfrm>
          <a:prstGeom prst="rect">
            <a:avLst/>
          </a:prstGeom>
          <a:solidFill>
            <a:srgbClr val="D9E3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Elipse 4">
            <a:extLst>
              <a:ext uri="{FF2B5EF4-FFF2-40B4-BE49-F238E27FC236}">
                <a16:creationId xmlns:a16="http://schemas.microsoft.com/office/drawing/2014/main" id="{E129DAD4-C821-E292-B512-A0FC7D1A51C2}"/>
              </a:ext>
            </a:extLst>
          </p:cNvPr>
          <p:cNvSpPr/>
          <p:nvPr/>
        </p:nvSpPr>
        <p:spPr>
          <a:xfrm>
            <a:off x="11283696" y="283464"/>
            <a:ext cx="356616" cy="356616"/>
          </a:xfrm>
          <a:prstGeom prst="ellipse">
            <a:avLst/>
          </a:prstGeom>
          <a:solidFill>
            <a:srgbClr val="087A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390C229D-C248-E4A6-BC33-7A88FED96523}"/>
              </a:ext>
            </a:extLst>
          </p:cNvPr>
          <p:cNvSpPr txBox="1"/>
          <p:nvPr/>
        </p:nvSpPr>
        <p:spPr>
          <a:xfrm>
            <a:off x="11311128" y="301752"/>
            <a:ext cx="329184" cy="369332"/>
          </a:xfrm>
          <a:prstGeom prst="rect">
            <a:avLst/>
          </a:prstGeom>
          <a:noFill/>
        </p:spPr>
        <p:txBody>
          <a:bodyPr vert="horz" wrap="square" lIns="36576" tIns="36576" rIns="36576" bIns="36576" rtlCol="0" anchor="t">
            <a:noAutofit/>
          </a:bodyPr>
          <a:lstStyle/>
          <a:p>
            <a:pPr algn="ctr"/>
            <a:r>
              <a:rPr lang="es-MX" sz="1100" b="1">
                <a:solidFill>
                  <a:srgbClr val="FFFFFF"/>
                </a:solidFill>
                <a:latin typeface="Aptos" panose="020B0004020202020204" pitchFamily="34" charset="0"/>
              </a:rPr>
              <a:t>7</a:t>
            </a:r>
          </a:p>
        </p:txBody>
      </p:sp>
      <p:sp>
        <p:nvSpPr>
          <p:cNvPr id="7" name="Rectángulo: esquinas redondeadas 6">
            <a:extLst>
              <a:ext uri="{FF2B5EF4-FFF2-40B4-BE49-F238E27FC236}">
                <a16:creationId xmlns:a16="http://schemas.microsoft.com/office/drawing/2014/main" id="{2FC16753-05C3-68B4-9A5A-EA9A4EC5D234}"/>
              </a:ext>
            </a:extLst>
          </p:cNvPr>
          <p:cNvSpPr/>
          <p:nvPr/>
        </p:nvSpPr>
        <p:spPr>
          <a:xfrm>
            <a:off x="9829800" y="484632"/>
            <a:ext cx="1572768" cy="283464"/>
          </a:xfrm>
          <a:prstGeom prst="roundRect">
            <a:avLst/>
          </a:prstGeom>
          <a:solidFill>
            <a:srgbClr val="FFF4DC"/>
          </a:solidFill>
          <a:ln w="8890">
            <a:solidFill>
              <a:srgbClr val="E7A2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CuadroTexto 7">
            <a:extLst>
              <a:ext uri="{FF2B5EF4-FFF2-40B4-BE49-F238E27FC236}">
                <a16:creationId xmlns:a16="http://schemas.microsoft.com/office/drawing/2014/main" id="{3AE45A84-7F62-168C-46EA-ED53BF191121}"/>
              </a:ext>
            </a:extLst>
          </p:cNvPr>
          <p:cNvSpPr txBox="1"/>
          <p:nvPr/>
        </p:nvSpPr>
        <p:spPr>
          <a:xfrm>
            <a:off x="9866376" y="484632"/>
            <a:ext cx="1499616" cy="923330"/>
          </a:xfrm>
          <a:prstGeom prst="rect">
            <a:avLst/>
          </a:prstGeom>
          <a:noFill/>
        </p:spPr>
        <p:txBody>
          <a:bodyPr vert="horz" wrap="square" lIns="36576" tIns="36576" rIns="36576" bIns="36576" rtlCol="0" anchor="t">
            <a:noAutofit/>
          </a:bodyPr>
          <a:lstStyle/>
          <a:p>
            <a:pPr algn="ctr"/>
            <a:r>
              <a:rPr lang="es-MX" sz="860" b="1">
                <a:solidFill>
                  <a:srgbClr val="E7A227"/>
                </a:solidFill>
                <a:latin typeface="Aptos" panose="020B0004020202020204" pitchFamily="34" charset="0"/>
              </a:rPr>
              <a:t>DISEÑO CONCEPTUAL</a:t>
            </a:r>
          </a:p>
        </p:txBody>
      </p:sp>
      <p:sp>
        <p:nvSpPr>
          <p:cNvPr id="9" name="Rectángulo: esquinas redondeadas 8">
            <a:extLst>
              <a:ext uri="{FF2B5EF4-FFF2-40B4-BE49-F238E27FC236}">
                <a16:creationId xmlns:a16="http://schemas.microsoft.com/office/drawing/2014/main" id="{4C5902CB-C737-38B0-D96A-9E32B0E9BA8D}"/>
              </a:ext>
            </a:extLst>
          </p:cNvPr>
          <p:cNvSpPr/>
          <p:nvPr/>
        </p:nvSpPr>
        <p:spPr>
          <a:xfrm>
            <a:off x="502920" y="1170432"/>
            <a:ext cx="11173968" cy="5184648"/>
          </a:xfrm>
          <a:prstGeom prst="roundRect">
            <a:avLst/>
          </a:prstGeom>
          <a:solidFill>
            <a:srgbClr val="FFFFFF"/>
          </a:solidFill>
          <a:ln w="12700">
            <a:solidFill>
              <a:srgbClr val="D9E3DA"/>
            </a:solidFill>
          </a:ln>
          <a:effectLst>
            <a:outerShdw blurRad="101600" dist="28398" dir="3806086" rotWithShape="0">
              <a:scrgbClr r="0" g="0" b="0">
                <a:alpha val="18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1" name="Imagen 10">
            <a:extLst>
              <a:ext uri="{FF2B5EF4-FFF2-40B4-BE49-F238E27FC236}">
                <a16:creationId xmlns:a16="http://schemas.microsoft.com/office/drawing/2014/main" id="{BD76A326-7AE2-8456-76F5-16BC5AFB9A1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664208" y="1280160"/>
            <a:ext cx="8823960" cy="4965192"/>
          </a:xfrm>
          <a:prstGeom prst="rect">
            <a:avLst/>
          </a:prstGeom>
        </p:spPr>
      </p:pic>
      <p:sp>
        <p:nvSpPr>
          <p:cNvPr id="12" name="Rectángulo: esquinas redondeadas 11">
            <a:extLst>
              <a:ext uri="{FF2B5EF4-FFF2-40B4-BE49-F238E27FC236}">
                <a16:creationId xmlns:a16="http://schemas.microsoft.com/office/drawing/2014/main" id="{421F11DA-4EBD-9F25-3B15-730953B25EEA}"/>
              </a:ext>
            </a:extLst>
          </p:cNvPr>
          <p:cNvSpPr/>
          <p:nvPr/>
        </p:nvSpPr>
        <p:spPr>
          <a:xfrm>
            <a:off x="3172968" y="1764792"/>
            <a:ext cx="1234440" cy="310896"/>
          </a:xfrm>
          <a:prstGeom prst="roundRect">
            <a:avLst/>
          </a:prstGeom>
          <a:solidFill>
            <a:srgbClr val="E8F3E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CuadroTexto 12">
            <a:extLst>
              <a:ext uri="{FF2B5EF4-FFF2-40B4-BE49-F238E27FC236}">
                <a16:creationId xmlns:a16="http://schemas.microsoft.com/office/drawing/2014/main" id="{39585F6A-414D-584A-C95A-A6B969597BD9}"/>
              </a:ext>
            </a:extLst>
          </p:cNvPr>
          <p:cNvSpPr txBox="1"/>
          <p:nvPr/>
        </p:nvSpPr>
        <p:spPr>
          <a:xfrm>
            <a:off x="3209544" y="1764792"/>
            <a:ext cx="1161288" cy="646331"/>
          </a:xfrm>
          <a:prstGeom prst="rect">
            <a:avLst/>
          </a:prstGeom>
          <a:noFill/>
        </p:spPr>
        <p:txBody>
          <a:bodyPr vert="horz" wrap="square" lIns="36576" tIns="36576" rIns="36576" bIns="36576" rtlCol="0" anchor="t">
            <a:noAutofit/>
          </a:bodyPr>
          <a:lstStyle/>
          <a:p>
            <a:pPr algn="ctr"/>
            <a:r>
              <a:rPr lang="es-MX" sz="900" b="1">
                <a:solidFill>
                  <a:srgbClr val="145B33"/>
                </a:solidFill>
                <a:latin typeface="Aptos" panose="020B0004020202020204" pitchFamily="34" charset="0"/>
              </a:rPr>
              <a:t>Leales · 77</a:t>
            </a:r>
          </a:p>
        </p:txBody>
      </p:sp>
      <p:sp>
        <p:nvSpPr>
          <p:cNvPr id="14" name="Rectángulo: esquinas redondeadas 13">
            <a:extLst>
              <a:ext uri="{FF2B5EF4-FFF2-40B4-BE49-F238E27FC236}">
                <a16:creationId xmlns:a16="http://schemas.microsoft.com/office/drawing/2014/main" id="{4794F18F-C9DF-B804-9985-2C68F6AF055A}"/>
              </a:ext>
            </a:extLst>
          </p:cNvPr>
          <p:cNvSpPr/>
          <p:nvPr/>
        </p:nvSpPr>
        <p:spPr>
          <a:xfrm>
            <a:off x="5212080" y="1764792"/>
            <a:ext cx="1234440" cy="310896"/>
          </a:xfrm>
          <a:prstGeom prst="roundRect">
            <a:avLst/>
          </a:prstGeom>
          <a:solidFill>
            <a:srgbClr val="E9F0F8"/>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CuadroTexto 14">
            <a:extLst>
              <a:ext uri="{FF2B5EF4-FFF2-40B4-BE49-F238E27FC236}">
                <a16:creationId xmlns:a16="http://schemas.microsoft.com/office/drawing/2014/main" id="{9924E655-56E8-2E7A-F3E1-CF1FEADBCE2D}"/>
              </a:ext>
            </a:extLst>
          </p:cNvPr>
          <p:cNvSpPr txBox="1"/>
          <p:nvPr/>
        </p:nvSpPr>
        <p:spPr>
          <a:xfrm>
            <a:off x="5248656" y="1764792"/>
            <a:ext cx="1161288" cy="646331"/>
          </a:xfrm>
          <a:prstGeom prst="rect">
            <a:avLst/>
          </a:prstGeom>
          <a:noFill/>
        </p:spPr>
        <p:txBody>
          <a:bodyPr vert="horz" wrap="square" lIns="36576" tIns="36576" rIns="36576" bIns="36576" rtlCol="0" anchor="t">
            <a:noAutofit/>
          </a:bodyPr>
          <a:lstStyle/>
          <a:p>
            <a:pPr algn="ctr"/>
            <a:r>
              <a:rPr lang="es-MX" sz="900" b="1">
                <a:solidFill>
                  <a:srgbClr val="234C7A"/>
                </a:solidFill>
                <a:latin typeface="Aptos" panose="020B0004020202020204" pitchFamily="34" charset="0"/>
              </a:rPr>
              <a:t>Nuevos · 62</a:t>
            </a:r>
          </a:p>
        </p:txBody>
      </p:sp>
      <p:sp>
        <p:nvSpPr>
          <p:cNvPr id="16" name="Rectángulo: esquinas redondeadas 15">
            <a:extLst>
              <a:ext uri="{FF2B5EF4-FFF2-40B4-BE49-F238E27FC236}">
                <a16:creationId xmlns:a16="http://schemas.microsoft.com/office/drawing/2014/main" id="{44FA1093-EEC8-4F17-5EAE-4284B9BDDDA3}"/>
              </a:ext>
            </a:extLst>
          </p:cNvPr>
          <p:cNvSpPr/>
          <p:nvPr/>
        </p:nvSpPr>
        <p:spPr>
          <a:xfrm>
            <a:off x="7232904" y="1764792"/>
            <a:ext cx="1481328" cy="310896"/>
          </a:xfrm>
          <a:prstGeom prst="roundRect">
            <a:avLst/>
          </a:prstGeom>
          <a:solidFill>
            <a:srgbClr val="F0EAF6"/>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CuadroTexto 16">
            <a:extLst>
              <a:ext uri="{FF2B5EF4-FFF2-40B4-BE49-F238E27FC236}">
                <a16:creationId xmlns:a16="http://schemas.microsoft.com/office/drawing/2014/main" id="{CA32C844-D092-885A-6231-9DEC14E2C40A}"/>
              </a:ext>
            </a:extLst>
          </p:cNvPr>
          <p:cNvSpPr txBox="1"/>
          <p:nvPr/>
        </p:nvSpPr>
        <p:spPr>
          <a:xfrm>
            <a:off x="7269480" y="1764792"/>
            <a:ext cx="1408176" cy="646331"/>
          </a:xfrm>
          <a:prstGeom prst="rect">
            <a:avLst/>
          </a:prstGeom>
          <a:noFill/>
        </p:spPr>
        <p:txBody>
          <a:bodyPr vert="horz" wrap="square" lIns="36576" tIns="36576" rIns="36576" bIns="36576" rtlCol="0" anchor="t">
            <a:noAutofit/>
          </a:bodyPr>
          <a:lstStyle/>
          <a:p>
            <a:pPr algn="ctr"/>
            <a:r>
              <a:rPr lang="es-MX" sz="900" b="1">
                <a:solidFill>
                  <a:srgbClr val="70449A"/>
                </a:solidFill>
                <a:latin typeface="Aptos" panose="020B0004020202020204" pitchFamily="34" charset="0"/>
              </a:rPr>
              <a:t>Ocasionales · 104</a:t>
            </a:r>
          </a:p>
        </p:txBody>
      </p:sp>
      <p:sp>
        <p:nvSpPr>
          <p:cNvPr id="18" name="Rectángulo: esquinas redondeadas 17">
            <a:extLst>
              <a:ext uri="{FF2B5EF4-FFF2-40B4-BE49-F238E27FC236}">
                <a16:creationId xmlns:a16="http://schemas.microsoft.com/office/drawing/2014/main" id="{623E0C92-0799-4CF2-4A69-1829364E1CB1}"/>
              </a:ext>
            </a:extLst>
          </p:cNvPr>
          <p:cNvSpPr/>
          <p:nvPr/>
        </p:nvSpPr>
        <p:spPr>
          <a:xfrm>
            <a:off x="9262872" y="1764792"/>
            <a:ext cx="1115567" cy="310896"/>
          </a:xfrm>
          <a:prstGeom prst="roundRect">
            <a:avLst/>
          </a:prstGeom>
          <a:solidFill>
            <a:srgbClr val="FFF4DC"/>
          </a:solidFill>
          <a:ln w="8890">
            <a:solidFill>
              <a:srgbClr val="D9E3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CuadroTexto 18">
            <a:extLst>
              <a:ext uri="{FF2B5EF4-FFF2-40B4-BE49-F238E27FC236}">
                <a16:creationId xmlns:a16="http://schemas.microsoft.com/office/drawing/2014/main" id="{29EA53B5-6ECF-AD59-3C47-8F4A5065DABA}"/>
              </a:ext>
            </a:extLst>
          </p:cNvPr>
          <p:cNvSpPr txBox="1"/>
          <p:nvPr/>
        </p:nvSpPr>
        <p:spPr>
          <a:xfrm>
            <a:off x="9299448" y="1764792"/>
            <a:ext cx="1042416" cy="923330"/>
          </a:xfrm>
          <a:prstGeom prst="rect">
            <a:avLst/>
          </a:prstGeom>
          <a:noFill/>
        </p:spPr>
        <p:txBody>
          <a:bodyPr vert="horz" wrap="square" lIns="36576" tIns="36576" rIns="36576" bIns="36576" rtlCol="0" anchor="t">
            <a:noAutofit/>
          </a:bodyPr>
          <a:lstStyle/>
          <a:p>
            <a:pPr algn="ctr"/>
            <a:r>
              <a:rPr lang="es-MX" sz="900" b="1">
                <a:solidFill>
                  <a:srgbClr val="E7A227"/>
                </a:solidFill>
                <a:latin typeface="Aptos" panose="020B0004020202020204" pitchFamily="34" charset="0"/>
              </a:rPr>
              <a:t>En riesgo · 57</a:t>
            </a:r>
          </a:p>
        </p:txBody>
      </p:sp>
      <p:sp>
        <p:nvSpPr>
          <p:cNvPr id="20" name="Rectángulo: esquinas redondeadas 19">
            <a:extLst>
              <a:ext uri="{FF2B5EF4-FFF2-40B4-BE49-F238E27FC236}">
                <a16:creationId xmlns:a16="http://schemas.microsoft.com/office/drawing/2014/main" id="{723B5DE8-6CF0-002E-C42C-0BBF508987A3}"/>
              </a:ext>
            </a:extLst>
          </p:cNvPr>
          <p:cNvSpPr/>
          <p:nvPr/>
        </p:nvSpPr>
        <p:spPr>
          <a:xfrm>
            <a:off x="7808976" y="3282696"/>
            <a:ext cx="530352" cy="228600"/>
          </a:xfrm>
          <a:prstGeom prst="roundRect">
            <a:avLst/>
          </a:prstGeom>
          <a:solidFill>
            <a:srgbClr val="FFFFFF"/>
          </a:solidFill>
          <a:ln w="889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CuadroTexto 20">
            <a:extLst>
              <a:ext uri="{FF2B5EF4-FFF2-40B4-BE49-F238E27FC236}">
                <a16:creationId xmlns:a16="http://schemas.microsoft.com/office/drawing/2014/main" id="{8D075B63-578B-FC94-09A5-72E28D39DC5B}"/>
              </a:ext>
            </a:extLst>
          </p:cNvPr>
          <p:cNvSpPr txBox="1"/>
          <p:nvPr/>
        </p:nvSpPr>
        <p:spPr>
          <a:xfrm>
            <a:off x="7845552" y="3282696"/>
            <a:ext cx="457200" cy="923330"/>
          </a:xfrm>
          <a:prstGeom prst="rect">
            <a:avLst/>
          </a:prstGeom>
          <a:noFill/>
        </p:spPr>
        <p:txBody>
          <a:bodyPr vert="horz" wrap="square" lIns="36576" tIns="36576" rIns="36576" bIns="36576" rtlCol="0" anchor="t">
            <a:noAutofit/>
          </a:bodyPr>
          <a:lstStyle/>
          <a:p>
            <a:pPr algn="ctr"/>
            <a:r>
              <a:rPr lang="es-MX" sz="760" b="1">
                <a:solidFill>
                  <a:srgbClr val="145B33"/>
                </a:solidFill>
                <a:latin typeface="Aptos" panose="020B0004020202020204" pitchFamily="34" charset="0"/>
              </a:rPr>
              <a:t>25.7 %</a:t>
            </a:r>
          </a:p>
        </p:txBody>
      </p:sp>
      <p:sp>
        <p:nvSpPr>
          <p:cNvPr id="22" name="Rectángulo: esquinas redondeadas 21">
            <a:extLst>
              <a:ext uri="{FF2B5EF4-FFF2-40B4-BE49-F238E27FC236}">
                <a16:creationId xmlns:a16="http://schemas.microsoft.com/office/drawing/2014/main" id="{BB19E467-BC20-6923-16A7-B56A8A4D8AA9}"/>
              </a:ext>
            </a:extLst>
          </p:cNvPr>
          <p:cNvSpPr/>
          <p:nvPr/>
        </p:nvSpPr>
        <p:spPr>
          <a:xfrm>
            <a:off x="7808976" y="3529584"/>
            <a:ext cx="530352" cy="228600"/>
          </a:xfrm>
          <a:prstGeom prst="roundRect">
            <a:avLst/>
          </a:prstGeom>
          <a:solidFill>
            <a:srgbClr val="FFFFFF"/>
          </a:solidFill>
          <a:ln w="889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CuadroTexto 22">
            <a:extLst>
              <a:ext uri="{FF2B5EF4-FFF2-40B4-BE49-F238E27FC236}">
                <a16:creationId xmlns:a16="http://schemas.microsoft.com/office/drawing/2014/main" id="{1C95400B-7487-AC4C-E20E-15AAAB2D97D5}"/>
              </a:ext>
            </a:extLst>
          </p:cNvPr>
          <p:cNvSpPr txBox="1"/>
          <p:nvPr/>
        </p:nvSpPr>
        <p:spPr>
          <a:xfrm>
            <a:off x="7845552" y="3529584"/>
            <a:ext cx="457200" cy="923330"/>
          </a:xfrm>
          <a:prstGeom prst="rect">
            <a:avLst/>
          </a:prstGeom>
          <a:noFill/>
        </p:spPr>
        <p:txBody>
          <a:bodyPr vert="horz" wrap="square" lIns="36576" tIns="36576" rIns="36576" bIns="36576" rtlCol="0" anchor="t">
            <a:noAutofit/>
          </a:bodyPr>
          <a:lstStyle/>
          <a:p>
            <a:pPr algn="ctr"/>
            <a:r>
              <a:rPr lang="es-MX" sz="760" b="1">
                <a:solidFill>
                  <a:srgbClr val="69C6A7"/>
                </a:solidFill>
                <a:latin typeface="Aptos" panose="020B0004020202020204" pitchFamily="34" charset="0"/>
              </a:rPr>
              <a:t>20.7 %</a:t>
            </a:r>
          </a:p>
        </p:txBody>
      </p:sp>
      <p:sp>
        <p:nvSpPr>
          <p:cNvPr id="24" name="Rectángulo: esquinas redondeadas 23">
            <a:extLst>
              <a:ext uri="{FF2B5EF4-FFF2-40B4-BE49-F238E27FC236}">
                <a16:creationId xmlns:a16="http://schemas.microsoft.com/office/drawing/2014/main" id="{676D84E1-BB41-7407-6AD7-275E15DE70F3}"/>
              </a:ext>
            </a:extLst>
          </p:cNvPr>
          <p:cNvSpPr/>
          <p:nvPr/>
        </p:nvSpPr>
        <p:spPr>
          <a:xfrm>
            <a:off x="7808976" y="3776472"/>
            <a:ext cx="530352" cy="228600"/>
          </a:xfrm>
          <a:prstGeom prst="roundRect">
            <a:avLst/>
          </a:prstGeom>
          <a:solidFill>
            <a:srgbClr val="FFFFFF"/>
          </a:solidFill>
          <a:ln w="889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5" name="CuadroTexto 24">
            <a:extLst>
              <a:ext uri="{FF2B5EF4-FFF2-40B4-BE49-F238E27FC236}">
                <a16:creationId xmlns:a16="http://schemas.microsoft.com/office/drawing/2014/main" id="{0AE9C229-B36B-0A42-EA8E-B822998C4377}"/>
              </a:ext>
            </a:extLst>
          </p:cNvPr>
          <p:cNvSpPr txBox="1"/>
          <p:nvPr/>
        </p:nvSpPr>
        <p:spPr>
          <a:xfrm>
            <a:off x="7845552" y="3776472"/>
            <a:ext cx="457200" cy="923330"/>
          </a:xfrm>
          <a:prstGeom prst="rect">
            <a:avLst/>
          </a:prstGeom>
          <a:noFill/>
        </p:spPr>
        <p:txBody>
          <a:bodyPr vert="horz" wrap="square" lIns="36576" tIns="36576" rIns="36576" bIns="36576" rtlCol="0" anchor="t">
            <a:noAutofit/>
          </a:bodyPr>
          <a:lstStyle/>
          <a:p>
            <a:pPr algn="ctr"/>
            <a:r>
              <a:rPr lang="es-MX" sz="760" b="1">
                <a:solidFill>
                  <a:srgbClr val="70449A"/>
                </a:solidFill>
                <a:latin typeface="Aptos" panose="020B0004020202020204" pitchFamily="34" charset="0"/>
              </a:rPr>
              <a:t>34.7 %</a:t>
            </a:r>
          </a:p>
        </p:txBody>
      </p:sp>
      <p:sp>
        <p:nvSpPr>
          <p:cNvPr id="26" name="Rectángulo: esquinas redondeadas 25">
            <a:extLst>
              <a:ext uri="{FF2B5EF4-FFF2-40B4-BE49-F238E27FC236}">
                <a16:creationId xmlns:a16="http://schemas.microsoft.com/office/drawing/2014/main" id="{231D43E5-3D18-1F8B-5665-F82C6E19E1CA}"/>
              </a:ext>
            </a:extLst>
          </p:cNvPr>
          <p:cNvSpPr/>
          <p:nvPr/>
        </p:nvSpPr>
        <p:spPr>
          <a:xfrm>
            <a:off x="7808976" y="4023360"/>
            <a:ext cx="530352" cy="228600"/>
          </a:xfrm>
          <a:prstGeom prst="roundRect">
            <a:avLst/>
          </a:prstGeom>
          <a:solidFill>
            <a:srgbClr val="FFFFFF"/>
          </a:solidFill>
          <a:ln w="889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CuadroTexto 26">
            <a:extLst>
              <a:ext uri="{FF2B5EF4-FFF2-40B4-BE49-F238E27FC236}">
                <a16:creationId xmlns:a16="http://schemas.microsoft.com/office/drawing/2014/main" id="{B2C2728B-EBE1-6ED2-4FDD-FBF8215A05C2}"/>
              </a:ext>
            </a:extLst>
          </p:cNvPr>
          <p:cNvSpPr txBox="1"/>
          <p:nvPr/>
        </p:nvSpPr>
        <p:spPr>
          <a:xfrm>
            <a:off x="7845552" y="4023360"/>
            <a:ext cx="457200" cy="923330"/>
          </a:xfrm>
          <a:prstGeom prst="rect">
            <a:avLst/>
          </a:prstGeom>
          <a:noFill/>
        </p:spPr>
        <p:txBody>
          <a:bodyPr vert="horz" wrap="square" lIns="36576" tIns="36576" rIns="36576" bIns="36576" rtlCol="0" anchor="t">
            <a:noAutofit/>
          </a:bodyPr>
          <a:lstStyle/>
          <a:p>
            <a:pPr algn="ctr"/>
            <a:r>
              <a:rPr lang="es-MX" sz="760" b="1">
                <a:solidFill>
                  <a:srgbClr val="E7A227"/>
                </a:solidFill>
                <a:latin typeface="Aptos" panose="020B0004020202020204" pitchFamily="34" charset="0"/>
              </a:rPr>
              <a:t>19.0 %</a:t>
            </a:r>
          </a:p>
        </p:txBody>
      </p:sp>
      <p:sp>
        <p:nvSpPr>
          <p:cNvPr id="28" name="Rectángulo: esquinas redondeadas 27">
            <a:extLst>
              <a:ext uri="{FF2B5EF4-FFF2-40B4-BE49-F238E27FC236}">
                <a16:creationId xmlns:a16="http://schemas.microsoft.com/office/drawing/2014/main" id="{C677291D-600F-94C2-1A59-CE3D44DDE30B}"/>
              </a:ext>
            </a:extLst>
          </p:cNvPr>
          <p:cNvSpPr/>
          <p:nvPr/>
        </p:nvSpPr>
        <p:spPr>
          <a:xfrm>
            <a:off x="8293608" y="4709160"/>
            <a:ext cx="1993392" cy="1024128"/>
          </a:xfrm>
          <a:prstGeom prst="roundRect">
            <a:avLst/>
          </a:prstGeom>
          <a:solidFill>
            <a:srgbClr val="FFFFFF">
              <a:alpha val="96000"/>
            </a:srgbClr>
          </a:solidFill>
          <a:ln w="12700">
            <a:solidFill>
              <a:srgbClr val="087A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9" name="CuadroTexto 28">
            <a:extLst>
              <a:ext uri="{FF2B5EF4-FFF2-40B4-BE49-F238E27FC236}">
                <a16:creationId xmlns:a16="http://schemas.microsoft.com/office/drawing/2014/main" id="{B2F501A1-7CC3-B9B7-E3F0-99B83D92DB43}"/>
              </a:ext>
            </a:extLst>
          </p:cNvPr>
          <p:cNvSpPr txBox="1"/>
          <p:nvPr/>
        </p:nvSpPr>
        <p:spPr>
          <a:xfrm>
            <a:off x="8467344" y="4809744"/>
            <a:ext cx="1664208" cy="646331"/>
          </a:xfrm>
          <a:prstGeom prst="rect">
            <a:avLst/>
          </a:prstGeom>
          <a:noFill/>
        </p:spPr>
        <p:txBody>
          <a:bodyPr vert="horz" wrap="square" lIns="36576" tIns="36576" rIns="36576" bIns="36576" rtlCol="0" anchor="t">
            <a:noAutofit/>
          </a:bodyPr>
          <a:lstStyle/>
          <a:p>
            <a:pPr algn="ctr"/>
            <a:r>
              <a:rPr lang="es-MX" sz="1030" b="1">
                <a:solidFill>
                  <a:srgbClr val="145B33"/>
                </a:solidFill>
                <a:latin typeface="Aptos" panose="020B0004020202020204" pitchFamily="34" charset="0"/>
              </a:rPr>
              <a:t>Acciones por segmento</a:t>
            </a:r>
          </a:p>
        </p:txBody>
      </p:sp>
      <p:sp>
        <p:nvSpPr>
          <p:cNvPr id="30" name="CuadroTexto 29">
            <a:extLst>
              <a:ext uri="{FF2B5EF4-FFF2-40B4-BE49-F238E27FC236}">
                <a16:creationId xmlns:a16="http://schemas.microsoft.com/office/drawing/2014/main" id="{3D7F3296-98F9-417B-5E17-0318A7A080A6}"/>
              </a:ext>
            </a:extLst>
          </p:cNvPr>
          <p:cNvSpPr txBox="1"/>
          <p:nvPr/>
        </p:nvSpPr>
        <p:spPr>
          <a:xfrm>
            <a:off x="8467344" y="5084064"/>
            <a:ext cx="1664208" cy="1200329"/>
          </a:xfrm>
          <a:prstGeom prst="rect">
            <a:avLst/>
          </a:prstGeom>
          <a:noFill/>
        </p:spPr>
        <p:txBody>
          <a:bodyPr vert="horz" wrap="square" lIns="36576" tIns="36576" rIns="36576" bIns="36576" rtlCol="0" anchor="t">
            <a:noAutofit/>
          </a:bodyPr>
          <a:lstStyle/>
          <a:p>
            <a:pPr algn="ctr"/>
            <a:r>
              <a:rPr lang="es-MX" sz="930">
                <a:solidFill>
                  <a:srgbClr val="142019"/>
                </a:solidFill>
                <a:latin typeface="Aptos" panose="020B0004020202020204" pitchFamily="34" charset="0"/>
              </a:rPr>
              <a:t>Ver clientes
Crear promoción dirigida</a:t>
            </a:r>
          </a:p>
        </p:txBody>
      </p:sp>
      <p:sp>
        <p:nvSpPr>
          <p:cNvPr id="31" name="CuadroTexto 30">
            <a:extLst>
              <a:ext uri="{FF2B5EF4-FFF2-40B4-BE49-F238E27FC236}">
                <a16:creationId xmlns:a16="http://schemas.microsoft.com/office/drawing/2014/main" id="{F8CC157E-2B55-D5CF-39C6-6748ED847BD8}"/>
              </a:ext>
            </a:extLst>
          </p:cNvPr>
          <p:cNvSpPr txBox="1"/>
          <p:nvPr/>
        </p:nvSpPr>
        <p:spPr>
          <a:xfrm>
            <a:off x="1965960" y="5989320"/>
            <a:ext cx="8686800" cy="369332"/>
          </a:xfrm>
          <a:prstGeom prst="rect">
            <a:avLst/>
          </a:prstGeom>
          <a:noFill/>
        </p:spPr>
        <p:txBody>
          <a:bodyPr vert="horz" wrap="square" lIns="36576" tIns="36576" rIns="36576" bIns="36576" rtlCol="0" anchor="t">
            <a:noAutofit/>
          </a:bodyPr>
          <a:lstStyle/>
          <a:p>
            <a:pPr algn="ctr"/>
            <a:r>
              <a:rPr lang="es-MX" sz="910">
                <a:solidFill>
                  <a:srgbClr val="142019"/>
                </a:solidFill>
                <a:latin typeface="Aptos" panose="020B0004020202020204" pitchFamily="34" charset="0"/>
              </a:rPr>
              <a:t>K=4 preliminar · uso interno · segmentación conductual · actualización periódica</a:t>
            </a:r>
          </a:p>
        </p:txBody>
      </p:sp>
      <p:sp>
        <p:nvSpPr>
          <p:cNvPr id="32" name="CuadroTexto 31">
            <a:extLst>
              <a:ext uri="{FF2B5EF4-FFF2-40B4-BE49-F238E27FC236}">
                <a16:creationId xmlns:a16="http://schemas.microsoft.com/office/drawing/2014/main" id="{905C6640-D09A-97FB-9D2F-83172B1F57DB}"/>
              </a:ext>
            </a:extLst>
          </p:cNvPr>
          <p:cNvSpPr txBox="1"/>
          <p:nvPr/>
        </p:nvSpPr>
        <p:spPr>
          <a:xfrm>
            <a:off x="530352" y="6547104"/>
            <a:ext cx="8046720" cy="369332"/>
          </a:xfrm>
          <a:prstGeom prst="rect">
            <a:avLst/>
          </a:prstGeom>
          <a:noFill/>
        </p:spPr>
        <p:txBody>
          <a:bodyPr vert="horz" wrap="square" lIns="36576" tIns="36576" rIns="36576" bIns="36576" rtlCol="0" anchor="t">
            <a:noAutofit/>
          </a:bodyPr>
          <a:lstStyle/>
          <a:p>
            <a:r>
              <a:rPr lang="es-MX" sz="800">
                <a:solidFill>
                  <a:srgbClr val="5F6F65"/>
                </a:solidFill>
                <a:latin typeface="Aptos" panose="020B0004020202020204" pitchFamily="34" charset="0"/>
              </a:rPr>
              <a:t>INHALEX · Propuestas de aprendizaje automático</a:t>
            </a:r>
          </a:p>
        </p:txBody>
      </p:sp>
    </p:spTree>
    <p:extLst>
      <p:ext uri="{BB962C8B-B14F-4D97-AF65-F5344CB8AC3E}">
        <p14:creationId xmlns:p14="http://schemas.microsoft.com/office/powerpoint/2010/main" val="316758907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1576</Words>
  <Application>Microsoft Office PowerPoint</Application>
  <PresentationFormat>Personalizado</PresentationFormat>
  <Paragraphs>196</Paragraphs>
  <Slides>7</Slides>
  <Notes>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Cristhian David Resendez Sierra</dc:creator>
  <cp:lastModifiedBy>Cristhian David Resendez Sierra</cp:lastModifiedBy>
  <cp:revision>1</cp:revision>
  <dcterms:created xsi:type="dcterms:W3CDTF">2026-07-17T12:40:21Z</dcterms:created>
  <dcterms:modified xsi:type="dcterms:W3CDTF">2026-07-17T12:40:21Z</dcterms:modified>
</cp:coreProperties>
</file>