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3" d="100"/>
          <a:sy n="103" d="100"/>
        </p:scale>
        <p:origin x="151"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856D7-EB49-41C5-AE85-9A05907AD454}" type="datetimeFigureOut">
              <a:rPr lang="es-MX" smtClean="0"/>
              <a:t>20/07/2026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6F36A7-EC2D-4197-AE6E-FE74D3F90C7D}" type="slidenum">
              <a:rPr lang="es-MX" smtClean="0"/>
              <a:t>‹Nº›</a:t>
            </a:fld>
            <a:endParaRPr lang="es-MX"/>
          </a:p>
        </p:txBody>
      </p:sp>
    </p:spTree>
    <p:extLst>
      <p:ext uri="{BB962C8B-B14F-4D97-AF65-F5344CB8AC3E}">
        <p14:creationId xmlns:p14="http://schemas.microsoft.com/office/powerpoint/2010/main" val="3905259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Esta propuesta es una regresión supervisada con horizonte mensual. Cada fila representa un producto y un mes objetivo. Para predecir junio hacemos un corte al 31 de mayo y usamos únicamente información disponible hasta ese día.
La demanda se define como unidades solicitadas. Se calcula con items[].requestedQuantity de pedidos pending_review, confirmed o completed. No usamos ventas_agregadas.totalUnits como Y porque ese campo representa unidades surtidas, no todo lo solicitado.
En Jupyter desanidamos items[], agrupamos por producto y mes, añadimos los meses con cero pedidos y calculamos tres rezagos mensuales y su promedio. Productos aporta el catálogo y la categoría; reseñas_producto permite reconstruir rating y número de reseñas acumulados al corte.
En el ejemplo verificado de Lavanda, para junio de 2026 los tres meses anteriores tuvieron 46, 51 y 55 unidades; el promedio fue 50.67. Mayo tuvo 38 pedidos, precio promedio de 56.48 pesos y el producto acumulaba 31 reseñas con rating 4.29. La Y observada en junio fue de 55 unidades.
El dataset tiene 16 productos por 18 meses, es decir, 288 filas base. Al exigir tres meses previos completos quedan 240 filas entrenables. La división debe ser cronológica. Después de pronosticar, se compara la demanda con stockAvailable y stockMin para sugerir reabastecimiento; el stock actual no se usa como si fuera histórico.</a:t>
            </a:r>
          </a:p>
        </p:txBody>
      </p:sp>
      <p:sp>
        <p:nvSpPr>
          <p:cNvPr id="4" name="Marcador de número de diapositiva 3"/>
          <p:cNvSpPr>
            <a:spLocks noGrp="1"/>
          </p:cNvSpPr>
          <p:nvPr>
            <p:ph type="sldNum" sz="quarter" idx="5"/>
          </p:nvPr>
        </p:nvSpPr>
        <p:spPr/>
        <p:txBody>
          <a:bodyPr/>
          <a:lstStyle/>
          <a:p>
            <a:fld id="{C26F36A7-EC2D-4197-AE6E-FE74D3F90C7D}" type="slidenum">
              <a:rPr lang="es-MX" smtClean="0"/>
              <a:t>1</a:t>
            </a:fld>
            <a:endParaRPr lang="es-MX"/>
          </a:p>
        </p:txBody>
      </p:sp>
    </p:spTree>
    <p:extLst>
      <p:ext uri="{BB962C8B-B14F-4D97-AF65-F5344CB8AC3E}">
        <p14:creationId xmlns:p14="http://schemas.microsoft.com/office/powerpoint/2010/main" val="2535125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674A99-2CB6-1F4D-4E57-17A2485561B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046C239-4323-F5B6-CBDE-45328B1BDC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57D3017-CEA5-452A-78DB-2525F5618E38}"/>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5" name="Marcador de pie de página 4">
            <a:extLst>
              <a:ext uri="{FF2B5EF4-FFF2-40B4-BE49-F238E27FC236}">
                <a16:creationId xmlns:a16="http://schemas.microsoft.com/office/drawing/2014/main" id="{0E4AC05A-4BE1-3663-C990-7AF3093AA4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C447C09-FCF0-9C5B-339E-9EDA5382BD12}"/>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343445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D2E505-3C09-3E4E-AC79-1429CE72F5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507BFF5-EDE5-778D-E48B-B57F3855EF2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3985FC2-E8CC-7AD7-F278-18F2040B917B}"/>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5" name="Marcador de pie de página 4">
            <a:extLst>
              <a:ext uri="{FF2B5EF4-FFF2-40B4-BE49-F238E27FC236}">
                <a16:creationId xmlns:a16="http://schemas.microsoft.com/office/drawing/2014/main" id="{BB1F01FD-4A9C-1CED-A290-AADA48B7664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17BFE0F-5A17-9481-1B1E-C81806612833}"/>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907203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D1447-117E-7F98-1827-1E53AEFC74E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1E9AE3B-8CBE-D481-BE44-9DFFA5AD70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550B6A4-2643-8653-EAA0-55FDDA376E46}"/>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5" name="Marcador de pie de página 4">
            <a:extLst>
              <a:ext uri="{FF2B5EF4-FFF2-40B4-BE49-F238E27FC236}">
                <a16:creationId xmlns:a16="http://schemas.microsoft.com/office/drawing/2014/main" id="{82388A71-E9F0-3630-4960-428F0F1E79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BB9CE31-8CC1-8378-B65F-4B9FDEE49CB8}"/>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3055675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CBE57-2251-0921-F515-4C070A5494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A61D82C-0EBD-E12B-BDD3-A895EFAA3F8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B9ED305-28F1-68CE-2E78-CD14C5232E3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8C5478B-BE92-D8DC-0B77-16FD40C03E68}"/>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6" name="Marcador de pie de página 5">
            <a:extLst>
              <a:ext uri="{FF2B5EF4-FFF2-40B4-BE49-F238E27FC236}">
                <a16:creationId xmlns:a16="http://schemas.microsoft.com/office/drawing/2014/main" id="{DD2265C7-A480-E8BA-1625-458FB7619B5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47CBF6-6583-0ED4-27F7-F2E31C686F7F}"/>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257917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69364-2D7F-7FDB-9C32-1718F95F7BF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842871B-8880-E701-0B5E-6018591A44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7E6C68D-B29C-A0F2-A79C-3087511D444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33D47C88-CD90-D2D7-A7F3-C19BAEA97F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2E97124-D676-6DE8-F668-6305E74516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3E1F18B-3520-5E3B-3363-AFC3DD422645}"/>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8" name="Marcador de pie de página 7">
            <a:extLst>
              <a:ext uri="{FF2B5EF4-FFF2-40B4-BE49-F238E27FC236}">
                <a16:creationId xmlns:a16="http://schemas.microsoft.com/office/drawing/2014/main" id="{48146D2D-C69A-F695-5104-1F883D76EE2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335D167-E7B0-65FE-752D-146DB9D262C9}"/>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2666323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A8AEFA-62CD-4665-2AB3-6C545647C31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BCE3384-6E1B-E83E-4F71-6F11F30E01AC}"/>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4" name="Marcador de pie de página 3">
            <a:extLst>
              <a:ext uri="{FF2B5EF4-FFF2-40B4-BE49-F238E27FC236}">
                <a16:creationId xmlns:a16="http://schemas.microsoft.com/office/drawing/2014/main" id="{084E884C-B363-02CE-7442-5107007688F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28AE462-27E9-90CE-EB89-B9FDA3B19CFA}"/>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2723032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84A1B11-C3C9-589D-0B4B-0E15FEAC14BB}"/>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3" name="Marcador de pie de página 2">
            <a:extLst>
              <a:ext uri="{FF2B5EF4-FFF2-40B4-BE49-F238E27FC236}">
                <a16:creationId xmlns:a16="http://schemas.microsoft.com/office/drawing/2014/main" id="{4990AE88-1AF1-AC75-C53B-4E33BE8B795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D42817A-553A-0089-718B-393B3E756461}"/>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3061036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51AEB-07BF-EF6B-244C-0CFC2D3C2FF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E0E4944-CE81-5F22-C838-5F6DFD1E4B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AFB5668-51CC-51B9-4C8A-963E2A379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3DF42A6-F5D6-7EE9-27C8-8F86611F6D80}"/>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6" name="Marcador de pie de página 5">
            <a:extLst>
              <a:ext uri="{FF2B5EF4-FFF2-40B4-BE49-F238E27FC236}">
                <a16:creationId xmlns:a16="http://schemas.microsoft.com/office/drawing/2014/main" id="{94E59847-BF01-1F65-01EB-65B709A8E38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858AB1F-3CF8-484D-AACF-B05555CE0A81}"/>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3071087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3C4F8F-8516-6EF4-5648-D8DD2E461EB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4D0990F9-3560-5F2E-9ED6-C0B632B395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FC22681-0727-C2AA-D5DA-CE0EBAA23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6DD9CCC-1ECE-599C-20BB-F41C1F69D9D1}"/>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6" name="Marcador de pie de página 5">
            <a:extLst>
              <a:ext uri="{FF2B5EF4-FFF2-40B4-BE49-F238E27FC236}">
                <a16:creationId xmlns:a16="http://schemas.microsoft.com/office/drawing/2014/main" id="{FBA6CC6F-B9B8-1759-95D7-D758FC524A4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3314835-2DC9-36DB-3820-7E9555B81644}"/>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3368890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3E277A-BC25-D5A8-C1EB-52E43B65646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36F30B2-C006-043B-5E84-877948C4CB8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8859DBD-CCF2-AF81-B550-E71C49C50107}"/>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5" name="Marcador de pie de página 4">
            <a:extLst>
              <a:ext uri="{FF2B5EF4-FFF2-40B4-BE49-F238E27FC236}">
                <a16:creationId xmlns:a16="http://schemas.microsoft.com/office/drawing/2014/main" id="{CA1980DB-D731-F078-C5AB-9AFDCFC85B9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6D4DABF-3397-786E-77A7-ECD17ECE9F63}"/>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8633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C8BC625-23B8-0673-7154-CEF33431CC1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EA30301-F010-9B55-2940-423E0EAE1ED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567B158-3701-B279-DB5B-94ECD13E0CB7}"/>
              </a:ext>
            </a:extLst>
          </p:cNvPr>
          <p:cNvSpPr>
            <a:spLocks noGrp="1"/>
          </p:cNvSpPr>
          <p:nvPr>
            <p:ph type="dt" sz="half" idx="10"/>
          </p:nvPr>
        </p:nvSpPr>
        <p:spPr/>
        <p:txBody>
          <a:bodyPr/>
          <a:lstStyle/>
          <a:p>
            <a:fld id="{5416E7FC-A26F-482A-91E8-457F04C5B5AB}" type="datetimeFigureOut">
              <a:rPr lang="es-MX" smtClean="0"/>
              <a:t>20/07/2026</a:t>
            </a:fld>
            <a:endParaRPr lang="es-MX"/>
          </a:p>
        </p:txBody>
      </p:sp>
      <p:sp>
        <p:nvSpPr>
          <p:cNvPr id="5" name="Marcador de pie de página 4">
            <a:extLst>
              <a:ext uri="{FF2B5EF4-FFF2-40B4-BE49-F238E27FC236}">
                <a16:creationId xmlns:a16="http://schemas.microsoft.com/office/drawing/2014/main" id="{60E8D975-AAEB-CAF7-25E5-7E07814D28D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7642CE-81E0-152C-D450-9868FB92FCB7}"/>
              </a:ext>
            </a:extLst>
          </p:cNvPr>
          <p:cNvSpPr>
            <a:spLocks noGrp="1"/>
          </p:cNvSpPr>
          <p:nvPr>
            <p:ph type="sldNum" sz="quarter" idx="12"/>
          </p:nvPr>
        </p:nvSpPr>
        <p:spPr/>
        <p:txBody>
          <a:bodyPr/>
          <a:lstStyle/>
          <a:p>
            <a:fld id="{6F5DBE09-6970-4BC7-B332-0934550A42F3}" type="slidenum">
              <a:rPr lang="es-MX" smtClean="0"/>
              <a:t>‹Nº›</a:t>
            </a:fld>
            <a:endParaRPr lang="es-MX"/>
          </a:p>
        </p:txBody>
      </p:sp>
    </p:spTree>
    <p:extLst>
      <p:ext uri="{BB962C8B-B14F-4D97-AF65-F5344CB8AC3E}">
        <p14:creationId xmlns:p14="http://schemas.microsoft.com/office/powerpoint/2010/main" val="383551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B6BE34B-3178-F980-DBBA-E79C8025CA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2DDA1B6-2305-4DF6-1566-593C014217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C4784DE-40EB-8F40-09A7-6678869AAD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16E7FC-A26F-482A-91E8-457F04C5B5AB}" type="datetimeFigureOut">
              <a:rPr lang="es-MX" smtClean="0"/>
              <a:t>20/07/2026</a:t>
            </a:fld>
            <a:endParaRPr lang="es-MX"/>
          </a:p>
        </p:txBody>
      </p:sp>
      <p:sp>
        <p:nvSpPr>
          <p:cNvPr id="5" name="Marcador de pie de página 4">
            <a:extLst>
              <a:ext uri="{FF2B5EF4-FFF2-40B4-BE49-F238E27FC236}">
                <a16:creationId xmlns:a16="http://schemas.microsoft.com/office/drawing/2014/main" id="{1F490B75-C629-97E8-4B50-16AB042A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889E4C1-524B-2ADD-4AE4-15D6BA8DE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5DBE09-6970-4BC7-B332-0934550A42F3}" type="slidenum">
              <a:rPr lang="es-MX" smtClean="0"/>
              <a:t>‹Nº›</a:t>
            </a:fld>
            <a:endParaRPr lang="es-MX"/>
          </a:p>
        </p:txBody>
      </p:sp>
    </p:spTree>
    <p:extLst>
      <p:ext uri="{BB962C8B-B14F-4D97-AF65-F5344CB8AC3E}">
        <p14:creationId xmlns:p14="http://schemas.microsoft.com/office/powerpoint/2010/main" val="1576179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628AEE0-451F-F35C-AE83-8B5A19A80B8F}"/>
              </a:ext>
            </a:extLst>
          </p:cNvPr>
          <p:cNvSpPr txBox="1"/>
          <p:nvPr/>
        </p:nvSpPr>
        <p:spPr>
          <a:xfrm>
            <a:off x="502920" y="201168"/>
            <a:ext cx="7132320" cy="369332"/>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REGRESIÓN SUPERVISADA · UN PRODUCTO Y UN MES OBJETIVO</a:t>
            </a:r>
          </a:p>
        </p:txBody>
      </p:sp>
      <p:sp>
        <p:nvSpPr>
          <p:cNvPr id="3" name="CuadroTexto 2">
            <a:extLst>
              <a:ext uri="{FF2B5EF4-FFF2-40B4-BE49-F238E27FC236}">
                <a16:creationId xmlns:a16="http://schemas.microsoft.com/office/drawing/2014/main" id="{94E1F05C-194D-F81A-0DB8-90267542005E}"/>
              </a:ext>
            </a:extLst>
          </p:cNvPr>
          <p:cNvSpPr txBox="1"/>
          <p:nvPr/>
        </p:nvSpPr>
        <p:spPr>
          <a:xfrm>
            <a:off x="502920" y="438912"/>
            <a:ext cx="10424160" cy="369332"/>
          </a:xfrm>
          <a:prstGeom prst="rect">
            <a:avLst/>
          </a:prstGeom>
          <a:noFill/>
        </p:spPr>
        <p:txBody>
          <a:bodyPr vert="horz" wrap="square" lIns="36576" tIns="36576" rIns="36576" bIns="36576" rtlCol="0" anchor="t">
            <a:noAutofit/>
          </a:bodyPr>
          <a:lstStyle/>
          <a:p>
            <a:r>
              <a:rPr lang="es-MX" sz="2550" b="1">
                <a:solidFill>
                  <a:srgbClr val="142019"/>
                </a:solidFill>
                <a:latin typeface="Aptos" panose="020B0004020202020204" pitchFamily="34" charset="0"/>
              </a:rPr>
              <a:t>Propuesta 2 · Predicción mensual de demanda por producto</a:t>
            </a:r>
          </a:p>
        </p:txBody>
      </p:sp>
      <p:sp>
        <p:nvSpPr>
          <p:cNvPr id="4" name="Rectángulo 3">
            <a:extLst>
              <a:ext uri="{FF2B5EF4-FFF2-40B4-BE49-F238E27FC236}">
                <a16:creationId xmlns:a16="http://schemas.microsoft.com/office/drawing/2014/main" id="{34C03C9F-4580-F13A-5F66-AA315684BF72}"/>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B7DB36DF-7764-8DD8-FB40-1F93EA657241}"/>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39FE6D12-1C56-4C5E-726D-F8B3DC68AE19}"/>
              </a:ext>
            </a:extLst>
          </p:cNvPr>
          <p:cNvSpPr txBox="1"/>
          <p:nvPr/>
        </p:nvSpPr>
        <p:spPr>
          <a:xfrm>
            <a:off x="11297412" y="325416"/>
            <a:ext cx="329184" cy="323701"/>
          </a:xfrm>
          <a:prstGeom prst="rect">
            <a:avLst/>
          </a:prstGeom>
          <a:noFill/>
        </p:spPr>
        <p:txBody>
          <a:bodyPr vert="horz" wrap="square" lIns="36576" tIns="36576" rIns="36576" bIns="36576" rtlCol="0" anchor="t">
            <a:noAutofit/>
          </a:bodyPr>
          <a:lstStyle/>
          <a:p>
            <a:pPr algn="ctr"/>
            <a:r>
              <a:rPr lang="es-MX" sz="1100" b="1" dirty="0">
                <a:solidFill>
                  <a:srgbClr val="FFFFFF"/>
                </a:solidFill>
                <a:latin typeface="Aptos" panose="020B0004020202020204" pitchFamily="34" charset="0"/>
              </a:rPr>
              <a:t>4</a:t>
            </a:r>
          </a:p>
        </p:txBody>
      </p:sp>
      <p:sp>
        <p:nvSpPr>
          <p:cNvPr id="7" name="Rectángulo: esquinas redondeadas 6">
            <a:extLst>
              <a:ext uri="{FF2B5EF4-FFF2-40B4-BE49-F238E27FC236}">
                <a16:creationId xmlns:a16="http://schemas.microsoft.com/office/drawing/2014/main" id="{830B1A6B-DCEA-30A8-46DB-19930440F1AD}"/>
              </a:ext>
            </a:extLst>
          </p:cNvPr>
          <p:cNvSpPr/>
          <p:nvPr/>
        </p:nvSpPr>
        <p:spPr>
          <a:xfrm>
            <a:off x="8979408" y="164592"/>
            <a:ext cx="1901952" cy="292608"/>
          </a:xfrm>
          <a:prstGeom prst="roundRect">
            <a:avLst/>
          </a:prstGeom>
          <a:solidFill>
            <a:srgbClr val="F0EAF6"/>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92E7EC8B-AEA4-A8D5-E0B3-2326D5C66840}"/>
              </a:ext>
            </a:extLst>
          </p:cNvPr>
          <p:cNvSpPr txBox="1"/>
          <p:nvPr/>
        </p:nvSpPr>
        <p:spPr>
          <a:xfrm>
            <a:off x="9015984" y="164592"/>
            <a:ext cx="1828800" cy="646331"/>
          </a:xfrm>
          <a:prstGeom prst="rect">
            <a:avLst/>
          </a:prstGeom>
          <a:noFill/>
        </p:spPr>
        <p:txBody>
          <a:bodyPr vert="horz" wrap="square" lIns="36576" tIns="36576" rIns="36576" bIns="36576" rtlCol="0" anchor="t">
            <a:noAutofit/>
          </a:bodyPr>
          <a:lstStyle/>
          <a:p>
            <a:pPr algn="ctr"/>
            <a:r>
              <a:rPr lang="es-MX" sz="830" b="1">
                <a:solidFill>
                  <a:srgbClr val="70449A"/>
                </a:solidFill>
                <a:latin typeface="Aptos" panose="020B0004020202020204" pitchFamily="34" charset="0"/>
              </a:rPr>
              <a:t>288 filas base · 240 entrenables</a:t>
            </a:r>
          </a:p>
        </p:txBody>
      </p:sp>
      <p:sp>
        <p:nvSpPr>
          <p:cNvPr id="9" name="CuadroTexto 8">
            <a:extLst>
              <a:ext uri="{FF2B5EF4-FFF2-40B4-BE49-F238E27FC236}">
                <a16:creationId xmlns:a16="http://schemas.microsoft.com/office/drawing/2014/main" id="{998D4522-55F5-3FBF-ECF4-1A3AAA86DD5A}"/>
              </a:ext>
            </a:extLst>
          </p:cNvPr>
          <p:cNvSpPr txBox="1"/>
          <p:nvPr/>
        </p:nvSpPr>
        <p:spPr>
          <a:xfrm>
            <a:off x="530352" y="1022139"/>
            <a:ext cx="2697480" cy="254203"/>
          </a:xfrm>
          <a:prstGeom prst="rect">
            <a:avLst/>
          </a:prstGeom>
          <a:noFill/>
        </p:spPr>
        <p:txBody>
          <a:bodyPr vert="horz" wrap="square" lIns="36576" tIns="36576" rIns="36576" bIns="36576" rtlCol="0" anchor="t">
            <a:noAutofit/>
          </a:bodyPr>
          <a:lstStyle/>
          <a:p>
            <a:pPr algn="ctr"/>
            <a:r>
              <a:rPr lang="es-MX" sz="1020" b="1" dirty="0">
                <a:solidFill>
                  <a:srgbClr val="234C7A"/>
                </a:solidFill>
                <a:latin typeface="Aptos" panose="020B0004020202020204" pitchFamily="34" charset="0"/>
              </a:rPr>
              <a:t>COLECCIONES MONGODB</a:t>
            </a:r>
          </a:p>
        </p:txBody>
      </p:sp>
      <p:sp>
        <p:nvSpPr>
          <p:cNvPr id="10" name="Rectángulo: esquinas redondeadas 9">
            <a:extLst>
              <a:ext uri="{FF2B5EF4-FFF2-40B4-BE49-F238E27FC236}">
                <a16:creationId xmlns:a16="http://schemas.microsoft.com/office/drawing/2014/main" id="{E3790D4C-B34C-87A8-FE2C-5FFDC264C2C6}"/>
              </a:ext>
            </a:extLst>
          </p:cNvPr>
          <p:cNvSpPr/>
          <p:nvPr/>
        </p:nvSpPr>
        <p:spPr>
          <a:xfrm>
            <a:off x="568048" y="1223467"/>
            <a:ext cx="2697480" cy="1417320"/>
          </a:xfrm>
          <a:prstGeom prst="roundRect">
            <a:avLst/>
          </a:prstGeom>
          <a:solidFill>
            <a:srgbClr val="FFFFFF"/>
          </a:solidFill>
          <a:ln w="13970">
            <a:solidFill>
              <a:srgbClr val="234C7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98A7CB87-9968-F864-E328-C74FE410D701}"/>
              </a:ext>
            </a:extLst>
          </p:cNvPr>
          <p:cNvSpPr/>
          <p:nvPr/>
        </p:nvSpPr>
        <p:spPr>
          <a:xfrm>
            <a:off x="713232" y="1232689"/>
            <a:ext cx="2357472" cy="233919"/>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903818A5-413C-F709-131C-E54C8E5E6D3C}"/>
              </a:ext>
            </a:extLst>
          </p:cNvPr>
          <p:cNvSpPr txBox="1"/>
          <p:nvPr/>
        </p:nvSpPr>
        <p:spPr>
          <a:xfrm>
            <a:off x="1136973" y="1211041"/>
            <a:ext cx="1474678" cy="277213"/>
          </a:xfrm>
          <a:prstGeom prst="rect">
            <a:avLst/>
          </a:prstGeom>
          <a:noFill/>
        </p:spPr>
        <p:txBody>
          <a:bodyPr vert="horz" wrap="square" lIns="36576" tIns="36576" rIns="36576" bIns="36576" rtlCol="0" anchor="t">
            <a:noAutofit/>
          </a:bodyPr>
          <a:lstStyle/>
          <a:p>
            <a:pPr algn="ctr"/>
            <a:r>
              <a:rPr lang="es-MX" sz="1120" b="1" dirty="0">
                <a:solidFill>
                  <a:srgbClr val="FFFFFF"/>
                </a:solidFill>
                <a:latin typeface="Aptos" panose="020B0004020202020204" pitchFamily="34" charset="0"/>
              </a:rPr>
              <a:t>pedidos</a:t>
            </a:r>
          </a:p>
        </p:txBody>
      </p:sp>
      <p:sp>
        <p:nvSpPr>
          <p:cNvPr id="13" name="CuadroTexto 12">
            <a:extLst>
              <a:ext uri="{FF2B5EF4-FFF2-40B4-BE49-F238E27FC236}">
                <a16:creationId xmlns:a16="http://schemas.microsoft.com/office/drawing/2014/main" id="{FF800ED7-FEE2-BDA8-E43A-67B1047B53E4}"/>
              </a:ext>
            </a:extLst>
          </p:cNvPr>
          <p:cNvSpPr txBox="1"/>
          <p:nvPr/>
        </p:nvSpPr>
        <p:spPr>
          <a:xfrm>
            <a:off x="769219" y="1427379"/>
            <a:ext cx="2177765" cy="1022299"/>
          </a:xfrm>
          <a:prstGeom prst="rect">
            <a:avLst/>
          </a:prstGeom>
          <a:noFill/>
        </p:spPr>
        <p:txBody>
          <a:bodyPr vert="horz" wrap="square" lIns="36576" tIns="36576" rIns="36576" bIns="36576" rtlCol="0" anchor="t">
            <a:noAutofit/>
          </a:bodyPr>
          <a:lstStyle/>
          <a:p>
            <a:pPr marL="171450" indent="-171450">
              <a:buFont typeface="Arial" panose="020B0604020202020204" pitchFamily="34" charset="0"/>
              <a:buChar char="•"/>
            </a:pPr>
            <a:r>
              <a:rPr lang="en-US" sz="1050" dirty="0">
                <a:solidFill>
                  <a:srgbClr val="142019"/>
                </a:solidFill>
                <a:latin typeface="Aptos" panose="020B0004020202020204" pitchFamily="34" charset="0"/>
              </a:rPr>
              <a:t> status </a:t>
            </a:r>
          </a:p>
          <a:p>
            <a:pPr marL="171450" indent="-171450">
              <a:buFont typeface="Arial" panose="020B0604020202020204" pitchFamily="34" charset="0"/>
              <a:buChar char="•"/>
            </a:pPr>
            <a:r>
              <a:rPr lang="en-US" sz="1050" dirty="0" err="1">
                <a:solidFill>
                  <a:srgbClr val="142019"/>
                </a:solidFill>
                <a:latin typeface="Aptos" panose="020B0004020202020204" pitchFamily="34" charset="0"/>
              </a:rPr>
              <a:t>createdAt</a:t>
            </a:r>
            <a:r>
              <a:rPr lang="en-US" sz="1050" dirty="0">
                <a:solidFill>
                  <a:srgbClr val="142019"/>
                </a:solidFill>
                <a:latin typeface="Aptos" panose="020B0004020202020204" pitchFamily="34" charset="0"/>
              </a:rPr>
              <a:t>
id </a:t>
            </a:r>
          </a:p>
          <a:p>
            <a:pPr marL="171450" indent="-171450">
              <a:buFont typeface="Arial" panose="020B0604020202020204" pitchFamily="34" charset="0"/>
              <a:buChar char="•"/>
            </a:pPr>
            <a:r>
              <a:rPr lang="en-US" sz="1050" dirty="0">
                <a:solidFill>
                  <a:srgbClr val="142019"/>
                </a:solidFill>
                <a:latin typeface="Aptos" panose="020B0004020202020204" pitchFamily="34" charset="0"/>
              </a:rPr>
              <a:t>reference
</a:t>
            </a:r>
            <a:r>
              <a:rPr lang="en-US" sz="1050" dirty="0" err="1">
                <a:solidFill>
                  <a:srgbClr val="142019"/>
                </a:solidFill>
                <a:latin typeface="Aptos" panose="020B0004020202020204" pitchFamily="34" charset="0"/>
              </a:rPr>
              <a:t>tems</a:t>
            </a:r>
            <a:r>
              <a:rPr lang="en-US" sz="1050" dirty="0">
                <a:solidFill>
                  <a:srgbClr val="142019"/>
                </a:solidFill>
                <a:latin typeface="Aptos" panose="020B0004020202020204" pitchFamily="34" charset="0"/>
              </a:rPr>
              <a:t>[].</a:t>
            </a:r>
            <a:r>
              <a:rPr lang="en-US" sz="1050" dirty="0" err="1">
                <a:solidFill>
                  <a:srgbClr val="142019"/>
                </a:solidFill>
                <a:latin typeface="Aptos" panose="020B0004020202020204" pitchFamily="34" charset="0"/>
              </a:rPr>
              <a:t>productId</a:t>
            </a:r>
            <a:r>
              <a:rPr lang="en-US" sz="1050" dirty="0">
                <a:solidFill>
                  <a:srgbClr val="142019"/>
                </a:solidFill>
                <a:latin typeface="Aptos" panose="020B0004020202020204" pitchFamily="34" charset="0"/>
              </a:rPr>
              <a:t>
items[]: </a:t>
            </a:r>
            <a:r>
              <a:rPr lang="en-US" sz="1050" dirty="0" err="1">
                <a:solidFill>
                  <a:srgbClr val="142019"/>
                </a:solidFill>
                <a:latin typeface="Aptos" panose="020B0004020202020204" pitchFamily="34" charset="0"/>
              </a:rPr>
              <a:t>requestedQuantity</a:t>
            </a:r>
            <a:r>
              <a:rPr lang="en-US" sz="1050" dirty="0">
                <a:solidFill>
                  <a:srgbClr val="142019"/>
                </a:solidFill>
                <a:latin typeface="Aptos" panose="020B0004020202020204" pitchFamily="34" charset="0"/>
              </a:rPr>
              <a:t> </a:t>
            </a:r>
          </a:p>
          <a:p>
            <a:pPr marL="171450" indent="-171450">
              <a:buFont typeface="Arial" panose="020B0604020202020204" pitchFamily="34" charset="0"/>
              <a:buChar char="•"/>
            </a:pPr>
            <a:r>
              <a:rPr lang="en-US" sz="1050" dirty="0" err="1">
                <a:solidFill>
                  <a:srgbClr val="142019"/>
                </a:solidFill>
                <a:latin typeface="Aptos" panose="020B0004020202020204" pitchFamily="34" charset="0"/>
              </a:rPr>
              <a:t>unitPrice</a:t>
            </a:r>
            <a:endParaRPr lang="es-MX" sz="1050" dirty="0">
              <a:solidFill>
                <a:srgbClr val="142019"/>
              </a:solidFill>
              <a:latin typeface="Aptos" panose="020B0004020202020204" pitchFamily="34" charset="0"/>
            </a:endParaRPr>
          </a:p>
        </p:txBody>
      </p:sp>
      <p:sp>
        <p:nvSpPr>
          <p:cNvPr id="14" name="Rectángulo: esquinas redondeadas 13">
            <a:extLst>
              <a:ext uri="{FF2B5EF4-FFF2-40B4-BE49-F238E27FC236}">
                <a16:creationId xmlns:a16="http://schemas.microsoft.com/office/drawing/2014/main" id="{3A70B43C-F2A6-9F9A-FF72-3D7FD84804AF}"/>
              </a:ext>
            </a:extLst>
          </p:cNvPr>
          <p:cNvSpPr/>
          <p:nvPr/>
        </p:nvSpPr>
        <p:spPr>
          <a:xfrm>
            <a:off x="530352" y="2834639"/>
            <a:ext cx="2697480" cy="1309847"/>
          </a:xfrm>
          <a:prstGeom prst="roundRect">
            <a:avLst/>
          </a:prstGeom>
          <a:solidFill>
            <a:srgbClr val="FFFFFF"/>
          </a:solidFill>
          <a:ln w="13970">
            <a:solidFill>
              <a:srgbClr val="234C7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esquinas redondeadas 14">
            <a:extLst>
              <a:ext uri="{FF2B5EF4-FFF2-40B4-BE49-F238E27FC236}">
                <a16:creationId xmlns:a16="http://schemas.microsoft.com/office/drawing/2014/main" id="{A8DB3A34-4608-44AB-CF29-518AAFE54370}"/>
              </a:ext>
            </a:extLst>
          </p:cNvPr>
          <p:cNvSpPr/>
          <p:nvPr/>
        </p:nvSpPr>
        <p:spPr>
          <a:xfrm>
            <a:off x="713232" y="2834640"/>
            <a:ext cx="2313432" cy="292608"/>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564AE135-D192-C050-C9B7-2ED84535921D}"/>
              </a:ext>
            </a:extLst>
          </p:cNvPr>
          <p:cNvSpPr txBox="1"/>
          <p:nvPr/>
        </p:nvSpPr>
        <p:spPr>
          <a:xfrm>
            <a:off x="1043039" y="2863858"/>
            <a:ext cx="1672105" cy="252460"/>
          </a:xfrm>
          <a:prstGeom prst="rect">
            <a:avLst/>
          </a:prstGeom>
          <a:noFill/>
        </p:spPr>
        <p:txBody>
          <a:bodyPr vert="horz" wrap="square" lIns="36576" tIns="36576" rIns="36576" bIns="36576" rtlCol="0" anchor="t">
            <a:noAutofit/>
          </a:bodyPr>
          <a:lstStyle/>
          <a:p>
            <a:pPr algn="ctr"/>
            <a:r>
              <a:rPr lang="es-MX" sz="1120" b="1">
                <a:solidFill>
                  <a:srgbClr val="FFFFFF"/>
                </a:solidFill>
                <a:latin typeface="Aptos" panose="020B0004020202020204" pitchFamily="34" charset="0"/>
              </a:rPr>
              <a:t>productos</a:t>
            </a:r>
          </a:p>
        </p:txBody>
      </p:sp>
      <p:sp>
        <p:nvSpPr>
          <p:cNvPr id="17" name="CuadroTexto 16">
            <a:extLst>
              <a:ext uri="{FF2B5EF4-FFF2-40B4-BE49-F238E27FC236}">
                <a16:creationId xmlns:a16="http://schemas.microsoft.com/office/drawing/2014/main" id="{6952FF8D-9474-833A-F39A-81DB03ED5CB8}"/>
              </a:ext>
            </a:extLst>
          </p:cNvPr>
          <p:cNvSpPr txBox="1"/>
          <p:nvPr/>
        </p:nvSpPr>
        <p:spPr>
          <a:xfrm>
            <a:off x="640080" y="3182112"/>
            <a:ext cx="2478024" cy="813816"/>
          </a:xfrm>
          <a:prstGeom prst="rect">
            <a:avLst/>
          </a:prstGeom>
          <a:noFill/>
          <a:effectLst>
            <a:outerShdw blurRad="63500" sx="102000" sy="102000" algn="ctr" rotWithShape="0">
              <a:prstClr val="black">
                <a:alpha val="40000"/>
              </a:prstClr>
            </a:outerShdw>
          </a:effectLst>
        </p:spPr>
        <p:txBody>
          <a:bodyPr vert="horz" wrap="square" lIns="36576" tIns="36576" rIns="36576" bIns="36576" rtlCol="0" anchor="t">
            <a:noAutofit/>
          </a:bodyPr>
          <a:lstStyle/>
          <a:p>
            <a:pPr marL="171450" indent="-171450">
              <a:buFont typeface="Arial" panose="020B0604020202020204" pitchFamily="34" charset="0"/>
              <a:buChar char="•"/>
            </a:pPr>
            <a:r>
              <a:rPr lang="en-US" sz="1050" dirty="0">
                <a:solidFill>
                  <a:srgbClr val="142019"/>
                </a:solidFill>
                <a:latin typeface="Aptos" panose="020B0004020202020204" pitchFamily="34" charset="0"/>
              </a:rPr>
              <a:t>_id </a:t>
            </a:r>
          </a:p>
          <a:p>
            <a:pPr marL="171450" indent="-171450">
              <a:buFont typeface="Arial" panose="020B0604020202020204" pitchFamily="34" charset="0"/>
              <a:buChar char="•"/>
            </a:pPr>
            <a:r>
              <a:rPr lang="en-US" sz="1050" dirty="0">
                <a:solidFill>
                  <a:srgbClr val="142019"/>
                </a:solidFill>
                <a:latin typeface="Aptos" panose="020B0004020202020204" pitchFamily="34" charset="0"/>
              </a:rPr>
              <a:t>name </a:t>
            </a:r>
          </a:p>
          <a:p>
            <a:pPr marL="171450" indent="-171450">
              <a:buFont typeface="Arial" panose="020B0604020202020204" pitchFamily="34" charset="0"/>
              <a:buChar char="•"/>
            </a:pPr>
            <a:r>
              <a:rPr lang="en-US" sz="1050" dirty="0">
                <a:solidFill>
                  <a:srgbClr val="142019"/>
                </a:solidFill>
                <a:latin typeface="Aptos" panose="020B0004020202020204" pitchFamily="34" charset="0"/>
              </a:rPr>
              <a:t>category
status </a:t>
            </a:r>
          </a:p>
          <a:p>
            <a:pPr marL="171450" indent="-171450">
              <a:buFont typeface="Arial" panose="020B0604020202020204" pitchFamily="34" charset="0"/>
              <a:buChar char="•"/>
            </a:pPr>
            <a:r>
              <a:rPr lang="en-US" sz="1050" dirty="0" err="1">
                <a:solidFill>
                  <a:srgbClr val="142019"/>
                </a:solidFill>
                <a:latin typeface="Aptos" panose="020B0004020202020204" pitchFamily="34" charset="0"/>
              </a:rPr>
              <a:t>createdAt</a:t>
            </a:r>
            <a:endParaRPr lang="es-MX" sz="1050" dirty="0">
              <a:solidFill>
                <a:srgbClr val="142019"/>
              </a:solidFill>
              <a:latin typeface="Aptos" panose="020B0004020202020204" pitchFamily="34" charset="0"/>
            </a:endParaRPr>
          </a:p>
        </p:txBody>
      </p:sp>
      <p:sp>
        <p:nvSpPr>
          <p:cNvPr id="18" name="Rectángulo: esquinas redondeadas 17">
            <a:extLst>
              <a:ext uri="{FF2B5EF4-FFF2-40B4-BE49-F238E27FC236}">
                <a16:creationId xmlns:a16="http://schemas.microsoft.com/office/drawing/2014/main" id="{7866571A-3EC8-BD59-6BE0-051F2789B7E6}"/>
              </a:ext>
            </a:extLst>
          </p:cNvPr>
          <p:cNvSpPr/>
          <p:nvPr/>
        </p:nvSpPr>
        <p:spPr>
          <a:xfrm>
            <a:off x="514142" y="4347488"/>
            <a:ext cx="2697480" cy="932688"/>
          </a:xfrm>
          <a:prstGeom prst="roundRect">
            <a:avLst/>
          </a:prstGeom>
          <a:solidFill>
            <a:srgbClr val="FFFFFF"/>
          </a:solidFill>
          <a:ln w="13970">
            <a:solidFill>
              <a:srgbClr val="234C7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F5124B3A-B649-FA30-B75D-32BBD49068E7}"/>
              </a:ext>
            </a:extLst>
          </p:cNvPr>
          <p:cNvSpPr/>
          <p:nvPr/>
        </p:nvSpPr>
        <p:spPr>
          <a:xfrm>
            <a:off x="806750" y="4366198"/>
            <a:ext cx="2155906" cy="292608"/>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C561F1C1-8279-0285-39EF-B6CE7BAC4358}"/>
              </a:ext>
            </a:extLst>
          </p:cNvPr>
          <p:cNvSpPr txBox="1"/>
          <p:nvPr/>
        </p:nvSpPr>
        <p:spPr>
          <a:xfrm>
            <a:off x="1151624" y="4371310"/>
            <a:ext cx="1531828" cy="207419"/>
          </a:xfrm>
          <a:prstGeom prst="rect">
            <a:avLst/>
          </a:prstGeom>
          <a:noFill/>
        </p:spPr>
        <p:txBody>
          <a:bodyPr vert="horz" wrap="square" lIns="36576" tIns="36576" rIns="36576" bIns="36576" rtlCol="0" anchor="t">
            <a:noAutofit/>
          </a:bodyPr>
          <a:lstStyle/>
          <a:p>
            <a:pPr algn="ctr"/>
            <a:r>
              <a:rPr lang="es-MX" sz="1120" b="1" dirty="0" err="1">
                <a:solidFill>
                  <a:srgbClr val="FFFFFF"/>
                </a:solidFill>
                <a:latin typeface="Aptos" panose="020B0004020202020204" pitchFamily="34" charset="0"/>
              </a:rPr>
              <a:t>reseñas_producto</a:t>
            </a:r>
            <a:endParaRPr lang="es-MX" sz="1120" b="1" dirty="0">
              <a:solidFill>
                <a:srgbClr val="FFFFFF"/>
              </a:solidFill>
              <a:latin typeface="Aptos" panose="020B0004020202020204" pitchFamily="34" charset="0"/>
            </a:endParaRPr>
          </a:p>
        </p:txBody>
      </p:sp>
      <p:sp>
        <p:nvSpPr>
          <p:cNvPr id="21" name="CuadroTexto 20">
            <a:extLst>
              <a:ext uri="{FF2B5EF4-FFF2-40B4-BE49-F238E27FC236}">
                <a16:creationId xmlns:a16="http://schemas.microsoft.com/office/drawing/2014/main" id="{93349BCE-D713-0BFF-8932-7FB6AF66A06E}"/>
              </a:ext>
            </a:extLst>
          </p:cNvPr>
          <p:cNvSpPr txBox="1"/>
          <p:nvPr/>
        </p:nvSpPr>
        <p:spPr>
          <a:xfrm>
            <a:off x="623870" y="4694960"/>
            <a:ext cx="2478024" cy="646331"/>
          </a:xfrm>
          <a:prstGeom prst="rect">
            <a:avLst/>
          </a:prstGeom>
          <a:noFill/>
        </p:spPr>
        <p:txBody>
          <a:bodyPr vert="horz" wrap="square" lIns="36576" tIns="36576" rIns="36576" bIns="36576" rtlCol="0" anchor="t">
            <a:noAutofit/>
          </a:bodyPr>
          <a:lstStyle/>
          <a:p>
            <a:r>
              <a:rPr lang="es-MX" sz="880">
                <a:solidFill>
                  <a:srgbClr val="142019"/>
                </a:solidFill>
                <a:latin typeface="Aptos" panose="020B0004020202020204" pitchFamily="34" charset="0"/>
              </a:rPr>
              <a:t>• productId / rating
• status / createdAt</a:t>
            </a:r>
          </a:p>
        </p:txBody>
      </p:sp>
      <p:sp>
        <p:nvSpPr>
          <p:cNvPr id="22" name="Rectángulo: esquinas redondeadas 21">
            <a:extLst>
              <a:ext uri="{FF2B5EF4-FFF2-40B4-BE49-F238E27FC236}">
                <a16:creationId xmlns:a16="http://schemas.microsoft.com/office/drawing/2014/main" id="{EF3DA8B8-EE6F-AFE5-D684-073FE858846E}"/>
              </a:ext>
            </a:extLst>
          </p:cNvPr>
          <p:cNvSpPr/>
          <p:nvPr/>
        </p:nvSpPr>
        <p:spPr>
          <a:xfrm>
            <a:off x="530352" y="5388556"/>
            <a:ext cx="2697480" cy="932688"/>
          </a:xfrm>
          <a:prstGeom prst="roundRect">
            <a:avLst/>
          </a:prstGeom>
          <a:solidFill>
            <a:srgbClr val="E9F0F8"/>
          </a:solidFill>
          <a:ln w="1016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A1E9F1C4-D5AC-065D-FC69-884571F2D104}"/>
              </a:ext>
            </a:extLst>
          </p:cNvPr>
          <p:cNvSpPr txBox="1"/>
          <p:nvPr/>
        </p:nvSpPr>
        <p:spPr>
          <a:xfrm>
            <a:off x="713232" y="5489141"/>
            <a:ext cx="2258568" cy="256032"/>
          </a:xfrm>
          <a:prstGeom prst="rect">
            <a:avLst/>
          </a:prstGeom>
          <a:noFill/>
        </p:spPr>
        <p:txBody>
          <a:bodyPr vert="horz" wrap="square" lIns="36576" tIns="36576" rIns="36576" bIns="36576" rtlCol="0" anchor="t">
            <a:noAutofit/>
          </a:bodyPr>
          <a:lstStyle/>
          <a:p>
            <a:pPr algn="ctr"/>
            <a:r>
              <a:rPr lang="es-MX" sz="870" b="1" dirty="0">
                <a:solidFill>
                  <a:srgbClr val="234C7A"/>
                </a:solidFill>
                <a:latin typeface="Aptos" panose="020B0004020202020204" pitchFamily="34" charset="0"/>
              </a:rPr>
              <a:t>DECISIÓN DE TRAZABILIDAD</a:t>
            </a:r>
          </a:p>
        </p:txBody>
      </p:sp>
      <p:sp>
        <p:nvSpPr>
          <p:cNvPr id="24" name="CuadroTexto 23">
            <a:extLst>
              <a:ext uri="{FF2B5EF4-FFF2-40B4-BE49-F238E27FC236}">
                <a16:creationId xmlns:a16="http://schemas.microsoft.com/office/drawing/2014/main" id="{C7B42E9D-39C6-728B-EDDC-09B609D83F5F}"/>
              </a:ext>
            </a:extLst>
          </p:cNvPr>
          <p:cNvSpPr txBox="1"/>
          <p:nvPr/>
        </p:nvSpPr>
        <p:spPr>
          <a:xfrm>
            <a:off x="713232" y="5763460"/>
            <a:ext cx="2313432" cy="472595"/>
          </a:xfrm>
          <a:prstGeom prst="rect">
            <a:avLst/>
          </a:prstGeom>
          <a:noFill/>
        </p:spPr>
        <p:txBody>
          <a:bodyPr vert="horz" wrap="square" lIns="36576" tIns="36576" rIns="36576" bIns="36576" rtlCol="0" anchor="t">
            <a:noAutofit/>
          </a:bodyPr>
          <a:lstStyle/>
          <a:p>
            <a:pPr algn="ctr"/>
            <a:r>
              <a:rPr lang="es-MX" sz="810">
                <a:solidFill>
                  <a:srgbClr val="142019"/>
                </a:solidFill>
                <a:latin typeface="Aptos" panose="020B0004020202020204" pitchFamily="34" charset="0"/>
              </a:rPr>
              <a:t>Promoción e inventario histórico no entran en X.
El stock actual se consulta después del pronóstico.</a:t>
            </a:r>
          </a:p>
        </p:txBody>
      </p:sp>
      <p:sp>
        <p:nvSpPr>
          <p:cNvPr id="25" name="Flecha: a la derecha 24">
            <a:extLst>
              <a:ext uri="{FF2B5EF4-FFF2-40B4-BE49-F238E27FC236}">
                <a16:creationId xmlns:a16="http://schemas.microsoft.com/office/drawing/2014/main" id="{1D1F001B-265F-08C8-37C5-C5D06C117408}"/>
              </a:ext>
            </a:extLst>
          </p:cNvPr>
          <p:cNvSpPr/>
          <p:nvPr/>
        </p:nvSpPr>
        <p:spPr>
          <a:xfrm>
            <a:off x="3310128" y="2234581"/>
            <a:ext cx="1243584" cy="1785334"/>
          </a:xfrm>
          <a:prstGeom prst="rightArrow">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CuadroTexto 25">
            <a:extLst>
              <a:ext uri="{FF2B5EF4-FFF2-40B4-BE49-F238E27FC236}">
                <a16:creationId xmlns:a16="http://schemas.microsoft.com/office/drawing/2014/main" id="{99A16E7D-1F0D-8A84-2A91-F24929B96B39}"/>
              </a:ext>
            </a:extLst>
          </p:cNvPr>
          <p:cNvSpPr txBox="1"/>
          <p:nvPr/>
        </p:nvSpPr>
        <p:spPr>
          <a:xfrm>
            <a:off x="3421934" y="2690174"/>
            <a:ext cx="832104" cy="1064268"/>
          </a:xfrm>
          <a:prstGeom prst="rect">
            <a:avLst/>
          </a:prstGeom>
          <a:noFill/>
        </p:spPr>
        <p:txBody>
          <a:bodyPr vert="horz" wrap="square" lIns="36576" tIns="36576" rIns="36576" bIns="36576" rtlCol="0" anchor="t">
            <a:noAutofit/>
          </a:bodyPr>
          <a:lstStyle/>
          <a:p>
            <a:pPr algn="ctr"/>
            <a:r>
              <a:rPr lang="es-MX" sz="735" b="1">
                <a:solidFill>
                  <a:srgbClr val="FFFFFF"/>
                </a:solidFill>
                <a:latin typeface="Aptos" panose="020B0004020202020204" pitchFamily="34" charset="0"/>
              </a:rPr>
              <a:t>FILTRAR PEDIDOS
DESANIDAR ITEMS[]
AGRUPAR POR MES
CREAR LAGS</a:t>
            </a:r>
          </a:p>
        </p:txBody>
      </p:sp>
      <p:sp>
        <p:nvSpPr>
          <p:cNvPr id="27" name="CuadroTexto 26">
            <a:extLst>
              <a:ext uri="{FF2B5EF4-FFF2-40B4-BE49-F238E27FC236}">
                <a16:creationId xmlns:a16="http://schemas.microsoft.com/office/drawing/2014/main" id="{39C435D7-046B-B782-EF8F-2BEDF28E3F1B}"/>
              </a:ext>
            </a:extLst>
          </p:cNvPr>
          <p:cNvSpPr txBox="1"/>
          <p:nvPr/>
        </p:nvSpPr>
        <p:spPr>
          <a:xfrm>
            <a:off x="3273552" y="3950208"/>
            <a:ext cx="1261872" cy="1477328"/>
          </a:xfrm>
          <a:prstGeom prst="rect">
            <a:avLst/>
          </a:prstGeom>
          <a:noFill/>
        </p:spPr>
        <p:txBody>
          <a:bodyPr vert="horz" wrap="square" lIns="36576" tIns="36576" rIns="36576" bIns="36576" rtlCol="0" anchor="t">
            <a:noAutofit/>
          </a:bodyPr>
          <a:lstStyle/>
          <a:p>
            <a:pPr algn="ctr"/>
            <a:r>
              <a:rPr lang="en-US" sz="770" b="1">
                <a:solidFill>
                  <a:srgbClr val="5F6F65"/>
                </a:solidFill>
                <a:latin typeface="Aptos" panose="020B0004020202020204" pitchFamily="34" charset="0"/>
              </a:rPr>
              <a:t>Válidos:
pending_review
confirmed
completed</a:t>
            </a:r>
            <a:endParaRPr lang="es-MX" sz="770" b="1">
              <a:solidFill>
                <a:srgbClr val="5F6F65"/>
              </a:solidFill>
              <a:latin typeface="Aptos" panose="020B0004020202020204" pitchFamily="34" charset="0"/>
            </a:endParaRPr>
          </a:p>
        </p:txBody>
      </p:sp>
      <p:sp>
        <p:nvSpPr>
          <p:cNvPr id="29" name="Rectángulo: esquinas redondeadas 28">
            <a:extLst>
              <a:ext uri="{FF2B5EF4-FFF2-40B4-BE49-F238E27FC236}">
                <a16:creationId xmlns:a16="http://schemas.microsoft.com/office/drawing/2014/main" id="{16CDEC3A-5AC9-B69B-45B7-B78A1A92F9BD}"/>
              </a:ext>
            </a:extLst>
          </p:cNvPr>
          <p:cNvSpPr/>
          <p:nvPr/>
        </p:nvSpPr>
        <p:spPr>
          <a:xfrm>
            <a:off x="4553712" y="1225296"/>
            <a:ext cx="7114032" cy="5111496"/>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CuadroTexto 29">
            <a:extLst>
              <a:ext uri="{FF2B5EF4-FFF2-40B4-BE49-F238E27FC236}">
                <a16:creationId xmlns:a16="http://schemas.microsoft.com/office/drawing/2014/main" id="{71D300C4-5BEF-08E5-7258-D2DF3AB9C0C0}"/>
              </a:ext>
            </a:extLst>
          </p:cNvPr>
          <p:cNvSpPr txBox="1"/>
          <p:nvPr/>
        </p:nvSpPr>
        <p:spPr>
          <a:xfrm>
            <a:off x="5106924" y="1366634"/>
            <a:ext cx="5056632" cy="347472"/>
          </a:xfrm>
          <a:prstGeom prst="rect">
            <a:avLst/>
          </a:prstGeom>
          <a:noFill/>
        </p:spPr>
        <p:txBody>
          <a:bodyPr vert="horz" wrap="square" lIns="36576" tIns="36576" rIns="36576" bIns="36576" rtlCol="0" anchor="t">
            <a:noAutofit/>
          </a:bodyPr>
          <a:lstStyle/>
          <a:p>
            <a:r>
              <a:rPr lang="es-MX" sz="1440" b="1" dirty="0" err="1">
                <a:solidFill>
                  <a:srgbClr val="145B33"/>
                </a:solidFill>
                <a:latin typeface="Aptos" panose="020B0004020202020204" pitchFamily="34" charset="0"/>
              </a:rPr>
              <a:t>Dataset</a:t>
            </a:r>
            <a:r>
              <a:rPr lang="es-MX" sz="1440" b="1" dirty="0">
                <a:solidFill>
                  <a:srgbClr val="145B33"/>
                </a:solidFill>
                <a:latin typeface="Aptos" panose="020B0004020202020204" pitchFamily="34" charset="0"/>
              </a:rPr>
              <a:t> mensual · una fila por producto y mes objetivo</a:t>
            </a:r>
          </a:p>
        </p:txBody>
      </p:sp>
      <p:sp>
        <p:nvSpPr>
          <p:cNvPr id="31" name="Rectángulo: esquinas redondeadas 30">
            <a:extLst>
              <a:ext uri="{FF2B5EF4-FFF2-40B4-BE49-F238E27FC236}">
                <a16:creationId xmlns:a16="http://schemas.microsoft.com/office/drawing/2014/main" id="{337B9494-B1DC-7556-FFA8-43F9A5C1A340}"/>
              </a:ext>
            </a:extLst>
          </p:cNvPr>
          <p:cNvSpPr/>
          <p:nvPr/>
        </p:nvSpPr>
        <p:spPr>
          <a:xfrm>
            <a:off x="4773168" y="1700784"/>
            <a:ext cx="3931920" cy="274320"/>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EC4AFC3B-266D-396E-9840-C1411799D7EC}"/>
              </a:ext>
            </a:extLst>
          </p:cNvPr>
          <p:cNvSpPr txBox="1"/>
          <p:nvPr/>
        </p:nvSpPr>
        <p:spPr>
          <a:xfrm>
            <a:off x="4809744" y="1700784"/>
            <a:ext cx="3858768" cy="923330"/>
          </a:xfrm>
          <a:prstGeom prst="rect">
            <a:avLst/>
          </a:prstGeom>
          <a:noFill/>
        </p:spPr>
        <p:txBody>
          <a:bodyPr vert="horz" wrap="square" lIns="36576" tIns="36576" rIns="36576" bIns="36576" rtlCol="0" anchor="t">
            <a:noAutofit/>
          </a:bodyPr>
          <a:lstStyle/>
          <a:p>
            <a:pPr algn="ctr"/>
            <a:r>
              <a:rPr lang="es-MX" sz="790" b="1">
                <a:solidFill>
                  <a:srgbClr val="234C7A"/>
                </a:solidFill>
                <a:latin typeface="Aptos" panose="020B0004020202020204" pitchFamily="34" charset="0"/>
              </a:rPr>
              <a:t>Ejemplo verificado · corte 31/05/2026 → mes objetivo junio 2026</a:t>
            </a:r>
          </a:p>
        </p:txBody>
      </p:sp>
      <p:sp>
        <p:nvSpPr>
          <p:cNvPr id="33" name="CuadroTexto 32">
            <a:extLst>
              <a:ext uri="{FF2B5EF4-FFF2-40B4-BE49-F238E27FC236}">
                <a16:creationId xmlns:a16="http://schemas.microsoft.com/office/drawing/2014/main" id="{02360807-16F1-A4F7-0007-A89122A4821C}"/>
              </a:ext>
            </a:extLst>
          </p:cNvPr>
          <p:cNvSpPr txBox="1"/>
          <p:nvPr/>
        </p:nvSpPr>
        <p:spPr>
          <a:xfrm>
            <a:off x="8833104" y="1728216"/>
            <a:ext cx="2359152" cy="923330"/>
          </a:xfrm>
          <a:prstGeom prst="rect">
            <a:avLst/>
          </a:prstGeom>
          <a:noFill/>
        </p:spPr>
        <p:txBody>
          <a:bodyPr vert="horz" wrap="square" lIns="36576" tIns="36576" rIns="36576" bIns="36576" rtlCol="0" anchor="t">
            <a:noAutofit/>
          </a:bodyPr>
          <a:lstStyle/>
          <a:p>
            <a:pPr algn="r"/>
            <a:r>
              <a:rPr lang="es-MX" sz="780">
                <a:solidFill>
                  <a:srgbClr val="5F6F65"/>
                </a:solidFill>
                <a:latin typeface="Aptos" panose="020B0004020202020204" pitchFamily="34" charset="0"/>
              </a:rPr>
              <a:t>Variables de identificación e historial de demanda</a:t>
            </a:r>
          </a:p>
        </p:txBody>
      </p:sp>
      <p:graphicFrame>
        <p:nvGraphicFramePr>
          <p:cNvPr id="34" name="Tabla 33">
            <a:extLst>
              <a:ext uri="{FF2B5EF4-FFF2-40B4-BE49-F238E27FC236}">
                <a16:creationId xmlns:a16="http://schemas.microsoft.com/office/drawing/2014/main" id="{05FC4D3C-3336-06EA-6D79-3F42EF5A0C82}"/>
              </a:ext>
            </a:extLst>
          </p:cNvPr>
          <p:cNvGraphicFramePr>
            <a:graphicFrameLocks noGrp="1"/>
          </p:cNvGraphicFramePr>
          <p:nvPr>
            <p:extLst>
              <p:ext uri="{D42A27DB-BD31-4B8C-83A1-F6EECF244321}">
                <p14:modId xmlns:p14="http://schemas.microsoft.com/office/powerpoint/2010/main" val="2112876595"/>
              </p:ext>
            </p:extLst>
          </p:nvPr>
        </p:nvGraphicFramePr>
        <p:xfrm>
          <a:off x="4773168" y="2066544"/>
          <a:ext cx="6629400" cy="768096"/>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1142690367"/>
                    </a:ext>
                  </a:extLst>
                </a:gridCol>
                <a:gridCol w="960120">
                  <a:extLst>
                    <a:ext uri="{9D8B030D-6E8A-4147-A177-3AD203B41FA5}">
                      <a16:colId xmlns:a16="http://schemas.microsoft.com/office/drawing/2014/main" val="3054951493"/>
                    </a:ext>
                  </a:extLst>
                </a:gridCol>
                <a:gridCol w="1371600">
                  <a:extLst>
                    <a:ext uri="{9D8B030D-6E8A-4147-A177-3AD203B41FA5}">
                      <a16:colId xmlns:a16="http://schemas.microsoft.com/office/drawing/2014/main" val="3517573721"/>
                    </a:ext>
                  </a:extLst>
                </a:gridCol>
                <a:gridCol w="731520">
                  <a:extLst>
                    <a:ext uri="{9D8B030D-6E8A-4147-A177-3AD203B41FA5}">
                      <a16:colId xmlns:a16="http://schemas.microsoft.com/office/drawing/2014/main" val="1414453026"/>
                    </a:ext>
                  </a:extLst>
                </a:gridCol>
                <a:gridCol w="731520">
                  <a:extLst>
                    <a:ext uri="{9D8B030D-6E8A-4147-A177-3AD203B41FA5}">
                      <a16:colId xmlns:a16="http://schemas.microsoft.com/office/drawing/2014/main" val="556072670"/>
                    </a:ext>
                  </a:extLst>
                </a:gridCol>
                <a:gridCol w="731520">
                  <a:extLst>
                    <a:ext uri="{9D8B030D-6E8A-4147-A177-3AD203B41FA5}">
                      <a16:colId xmlns:a16="http://schemas.microsoft.com/office/drawing/2014/main" val="2498774610"/>
                    </a:ext>
                  </a:extLst>
                </a:gridCol>
                <a:gridCol w="1097280">
                  <a:extLst>
                    <a:ext uri="{9D8B030D-6E8A-4147-A177-3AD203B41FA5}">
                      <a16:colId xmlns:a16="http://schemas.microsoft.com/office/drawing/2014/main" val="68877999"/>
                    </a:ext>
                  </a:extLst>
                </a:gridCol>
              </a:tblGrid>
              <a:tr h="384048">
                <a:tc>
                  <a:txBody>
                    <a:bodyPr/>
                    <a:lstStyle/>
                    <a:p>
                      <a:pPr algn="ctr"/>
                      <a:r>
                        <a:rPr lang="es-MX" sz="780" b="1">
                          <a:solidFill>
                            <a:srgbClr val="FFFFFF"/>
                          </a:solidFill>
                          <a:latin typeface="Aptos" panose="020B0004020202020204" pitchFamily="34" charset="0"/>
                        </a:rPr>
                        <a:t>corte → mes</a:t>
                      </a:r>
                    </a:p>
                  </a:txBody>
                  <a:tcPr marL="22860" marR="22860" marT="13716" marB="13716" anchor="ctr">
                    <a:solidFill>
                      <a:srgbClr val="145B33"/>
                    </a:solidFill>
                  </a:tcPr>
                </a:tc>
                <a:tc>
                  <a:txBody>
                    <a:bodyPr/>
                    <a:lstStyle/>
                    <a:p>
                      <a:pPr algn="ctr"/>
                      <a:r>
                        <a:rPr lang="es-MX" sz="780" b="1">
                          <a:solidFill>
                            <a:srgbClr val="FFFFFF"/>
                          </a:solidFill>
                          <a:latin typeface="Aptos" panose="020B0004020202020204" pitchFamily="34" charset="0"/>
                        </a:rPr>
                        <a:t>producto / ID</a:t>
                      </a:r>
                    </a:p>
                  </a:txBody>
                  <a:tcPr marL="22860" marR="22860" marT="13716" marB="13716" anchor="ctr">
                    <a:solidFill>
                      <a:srgbClr val="145B33"/>
                    </a:solidFill>
                  </a:tcPr>
                </a:tc>
                <a:tc>
                  <a:txBody>
                    <a:bodyPr/>
                    <a:lstStyle/>
                    <a:p>
                      <a:pPr algn="ctr"/>
                      <a:r>
                        <a:rPr lang="es-MX" sz="780" b="1">
                          <a:solidFill>
                            <a:srgbClr val="FFFFFF"/>
                          </a:solidFill>
                          <a:latin typeface="Aptos" panose="020B0004020202020204" pitchFamily="34" charset="0"/>
                        </a:rPr>
                        <a:t>categoría</a:t>
                      </a:r>
                    </a:p>
                  </a:txBody>
                  <a:tcPr marL="22860" marR="22860" marT="13716" marB="13716" anchor="ctr">
                    <a:solidFill>
                      <a:srgbClr val="145B33"/>
                    </a:solidFill>
                  </a:tcPr>
                </a:tc>
                <a:tc>
                  <a:txBody>
                    <a:bodyPr/>
                    <a:lstStyle/>
                    <a:p>
                      <a:pPr algn="ctr"/>
                      <a:r>
                        <a:rPr lang="es-MX" sz="780" b="1">
                          <a:solidFill>
                            <a:srgbClr val="FFFFFF"/>
                          </a:solidFill>
                          <a:latin typeface="Aptos" panose="020B0004020202020204" pitchFamily="34" charset="0"/>
                        </a:rPr>
                        <a:t>dem. M−1</a:t>
                      </a:r>
                    </a:p>
                  </a:txBody>
                  <a:tcPr marL="22860" marR="22860" marT="13716" marB="13716" anchor="ctr">
                    <a:solidFill>
                      <a:srgbClr val="145B33"/>
                    </a:solidFill>
                  </a:tcPr>
                </a:tc>
                <a:tc>
                  <a:txBody>
                    <a:bodyPr/>
                    <a:lstStyle/>
                    <a:p>
                      <a:pPr algn="ctr"/>
                      <a:r>
                        <a:rPr lang="es-MX" sz="780" b="1">
                          <a:solidFill>
                            <a:srgbClr val="FFFFFF"/>
                          </a:solidFill>
                          <a:latin typeface="Aptos" panose="020B0004020202020204" pitchFamily="34" charset="0"/>
                        </a:rPr>
                        <a:t>dem. M−2</a:t>
                      </a:r>
                    </a:p>
                  </a:txBody>
                  <a:tcPr marL="22860" marR="22860" marT="13716" marB="13716" anchor="ctr">
                    <a:solidFill>
                      <a:srgbClr val="145B33"/>
                    </a:solidFill>
                  </a:tcPr>
                </a:tc>
                <a:tc>
                  <a:txBody>
                    <a:bodyPr/>
                    <a:lstStyle/>
                    <a:p>
                      <a:pPr algn="ctr"/>
                      <a:r>
                        <a:rPr lang="es-MX" sz="780" b="1">
                          <a:solidFill>
                            <a:srgbClr val="FFFFFF"/>
                          </a:solidFill>
                          <a:latin typeface="Aptos" panose="020B0004020202020204" pitchFamily="34" charset="0"/>
                        </a:rPr>
                        <a:t>dem. M−3</a:t>
                      </a:r>
                    </a:p>
                  </a:txBody>
                  <a:tcPr marL="22860" marR="22860" marT="13716" marB="13716" anchor="ctr">
                    <a:solidFill>
                      <a:srgbClr val="145B33"/>
                    </a:solidFill>
                  </a:tcPr>
                </a:tc>
                <a:tc>
                  <a:txBody>
                    <a:bodyPr/>
                    <a:lstStyle/>
                    <a:p>
                      <a:pPr algn="ctr"/>
                      <a:r>
                        <a:rPr lang="es-MX" sz="780" b="1">
                          <a:solidFill>
                            <a:srgbClr val="FFFFFF"/>
                          </a:solidFill>
                          <a:latin typeface="Aptos" panose="020B0004020202020204" pitchFamily="34" charset="0"/>
                        </a:rPr>
                        <a:t>prom. 3M</a:t>
                      </a:r>
                    </a:p>
                  </a:txBody>
                  <a:tcPr marL="22860" marR="22860" marT="13716" marB="13716" anchor="ctr">
                    <a:solidFill>
                      <a:srgbClr val="145B33"/>
                    </a:solidFill>
                  </a:tcPr>
                </a:tc>
                <a:extLst>
                  <a:ext uri="{0D108BD9-81ED-4DB2-BD59-A6C34878D82A}">
                    <a16:rowId xmlns:a16="http://schemas.microsoft.com/office/drawing/2014/main" val="3191367387"/>
                  </a:ext>
                </a:extLst>
              </a:tr>
              <a:tr h="384048">
                <a:tc>
                  <a:txBody>
                    <a:bodyPr/>
                    <a:lstStyle/>
                    <a:p>
                      <a:pPr algn="ctr"/>
                      <a:r>
                        <a:rPr lang="es-MX" sz="780">
                          <a:solidFill>
                            <a:srgbClr val="142019"/>
                          </a:solidFill>
                          <a:latin typeface="Aptos" panose="020B0004020202020204" pitchFamily="34" charset="0"/>
                        </a:rPr>
                        <a:t>31/05
→ 2026-06</a:t>
                      </a:r>
                    </a:p>
                  </a:txBody>
                  <a:tcPr marL="22860" marR="22860" marT="13716" marB="13716" anchor="ctr">
                    <a:solidFill>
                      <a:srgbClr val="FFFFFF"/>
                    </a:solidFill>
                  </a:tcPr>
                </a:tc>
                <a:tc>
                  <a:txBody>
                    <a:bodyPr/>
                    <a:lstStyle/>
                    <a:p>
                      <a:pPr algn="ctr"/>
                      <a:r>
                        <a:rPr lang="es-MX" sz="780">
                          <a:solidFill>
                            <a:srgbClr val="142019"/>
                          </a:solidFill>
                          <a:latin typeface="Aptos" panose="020B0004020202020204" pitchFamily="34" charset="0"/>
                        </a:rPr>
                        <a:t>Lavanda
SYN-PROD-006</a:t>
                      </a:r>
                    </a:p>
                  </a:txBody>
                  <a:tcPr marL="22860" marR="22860" marT="13716" marB="13716" anchor="ctr">
                    <a:solidFill>
                      <a:srgbClr val="FFFFFF"/>
                    </a:solidFill>
                  </a:tcPr>
                </a:tc>
                <a:tc>
                  <a:txBody>
                    <a:bodyPr/>
                    <a:lstStyle/>
                    <a:p>
                      <a:pPr algn="ctr"/>
                      <a:r>
                        <a:rPr lang="es-MX" sz="780">
                          <a:solidFill>
                            <a:srgbClr val="142019"/>
                          </a:solidFill>
                          <a:latin typeface="Aptos" panose="020B0004020202020204" pitchFamily="34" charset="0"/>
                        </a:rPr>
                        <a:t>línea-insomnio</a:t>
                      </a:r>
                    </a:p>
                  </a:txBody>
                  <a:tcPr marL="22860" marR="22860" marT="13716" marB="13716" anchor="ctr">
                    <a:solidFill>
                      <a:srgbClr val="FFFFFF"/>
                    </a:solidFill>
                  </a:tcPr>
                </a:tc>
                <a:tc>
                  <a:txBody>
                    <a:bodyPr/>
                    <a:lstStyle/>
                    <a:p>
                      <a:pPr algn="ctr"/>
                      <a:r>
                        <a:rPr lang="es-MX" sz="780">
                          <a:solidFill>
                            <a:srgbClr val="142019"/>
                          </a:solidFill>
                          <a:latin typeface="Aptos" panose="020B0004020202020204" pitchFamily="34" charset="0"/>
                        </a:rPr>
                        <a:t>46</a:t>
                      </a:r>
                    </a:p>
                  </a:txBody>
                  <a:tcPr marL="22860" marR="22860" marT="13716" marB="13716" anchor="ctr">
                    <a:solidFill>
                      <a:srgbClr val="FFFFFF"/>
                    </a:solidFill>
                  </a:tcPr>
                </a:tc>
                <a:tc>
                  <a:txBody>
                    <a:bodyPr/>
                    <a:lstStyle/>
                    <a:p>
                      <a:pPr algn="ctr"/>
                      <a:r>
                        <a:rPr lang="es-MX" sz="780">
                          <a:solidFill>
                            <a:srgbClr val="142019"/>
                          </a:solidFill>
                          <a:latin typeface="Aptos" panose="020B0004020202020204" pitchFamily="34" charset="0"/>
                        </a:rPr>
                        <a:t>51</a:t>
                      </a:r>
                    </a:p>
                  </a:txBody>
                  <a:tcPr marL="22860" marR="22860" marT="13716" marB="13716" anchor="ctr">
                    <a:solidFill>
                      <a:srgbClr val="FFFFFF"/>
                    </a:solidFill>
                  </a:tcPr>
                </a:tc>
                <a:tc>
                  <a:txBody>
                    <a:bodyPr/>
                    <a:lstStyle/>
                    <a:p>
                      <a:pPr algn="ctr"/>
                      <a:r>
                        <a:rPr lang="es-MX" sz="780">
                          <a:solidFill>
                            <a:srgbClr val="142019"/>
                          </a:solidFill>
                          <a:latin typeface="Aptos" panose="020B0004020202020204" pitchFamily="34" charset="0"/>
                        </a:rPr>
                        <a:t>55</a:t>
                      </a:r>
                    </a:p>
                  </a:txBody>
                  <a:tcPr marL="22860" marR="22860" marT="13716" marB="13716" anchor="ctr">
                    <a:solidFill>
                      <a:srgbClr val="FFFFFF"/>
                    </a:solidFill>
                  </a:tcPr>
                </a:tc>
                <a:tc>
                  <a:txBody>
                    <a:bodyPr/>
                    <a:lstStyle/>
                    <a:p>
                      <a:pPr algn="ctr"/>
                      <a:r>
                        <a:rPr lang="es-MX" sz="780">
                          <a:solidFill>
                            <a:srgbClr val="142019"/>
                          </a:solidFill>
                          <a:latin typeface="Aptos" panose="020B0004020202020204" pitchFamily="34" charset="0"/>
                        </a:rPr>
                        <a:t>50.67</a:t>
                      </a:r>
                    </a:p>
                  </a:txBody>
                  <a:tcPr marL="22860" marR="22860" marT="13716" marB="13716" anchor="ctr">
                    <a:solidFill>
                      <a:srgbClr val="FFFFFF"/>
                    </a:solidFill>
                  </a:tcPr>
                </a:tc>
                <a:extLst>
                  <a:ext uri="{0D108BD9-81ED-4DB2-BD59-A6C34878D82A}">
                    <a16:rowId xmlns:a16="http://schemas.microsoft.com/office/drawing/2014/main" val="3940525513"/>
                  </a:ext>
                </a:extLst>
              </a:tr>
            </a:tbl>
          </a:graphicData>
        </a:graphic>
      </p:graphicFrame>
      <p:graphicFrame>
        <p:nvGraphicFramePr>
          <p:cNvPr id="35" name="Tabla 34">
            <a:extLst>
              <a:ext uri="{FF2B5EF4-FFF2-40B4-BE49-F238E27FC236}">
                <a16:creationId xmlns:a16="http://schemas.microsoft.com/office/drawing/2014/main" id="{0E09362C-4622-7B55-B16B-41D5EE24698F}"/>
              </a:ext>
            </a:extLst>
          </p:cNvPr>
          <p:cNvGraphicFramePr>
            <a:graphicFrameLocks noGrp="1"/>
          </p:cNvGraphicFramePr>
          <p:nvPr>
            <p:extLst>
              <p:ext uri="{D42A27DB-BD31-4B8C-83A1-F6EECF244321}">
                <p14:modId xmlns:p14="http://schemas.microsoft.com/office/powerpoint/2010/main" val="3754807833"/>
              </p:ext>
            </p:extLst>
          </p:nvPr>
        </p:nvGraphicFramePr>
        <p:xfrm>
          <a:off x="4773168" y="2944368"/>
          <a:ext cx="6629400" cy="713232"/>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323286155"/>
                    </a:ext>
                  </a:extLst>
                </a:gridCol>
                <a:gridCol w="1143000">
                  <a:extLst>
                    <a:ext uri="{9D8B030D-6E8A-4147-A177-3AD203B41FA5}">
                      <a16:colId xmlns:a16="http://schemas.microsoft.com/office/drawing/2014/main" val="2525125868"/>
                    </a:ext>
                  </a:extLst>
                </a:gridCol>
                <a:gridCol w="1005840">
                  <a:extLst>
                    <a:ext uri="{9D8B030D-6E8A-4147-A177-3AD203B41FA5}">
                      <a16:colId xmlns:a16="http://schemas.microsoft.com/office/drawing/2014/main" val="3961335835"/>
                    </a:ext>
                  </a:extLst>
                </a:gridCol>
                <a:gridCol w="1005840">
                  <a:extLst>
                    <a:ext uri="{9D8B030D-6E8A-4147-A177-3AD203B41FA5}">
                      <a16:colId xmlns:a16="http://schemas.microsoft.com/office/drawing/2014/main" val="3824846402"/>
                    </a:ext>
                  </a:extLst>
                </a:gridCol>
                <a:gridCol w="1005840">
                  <a:extLst>
                    <a:ext uri="{9D8B030D-6E8A-4147-A177-3AD203B41FA5}">
                      <a16:colId xmlns:a16="http://schemas.microsoft.com/office/drawing/2014/main" val="3327899967"/>
                    </a:ext>
                  </a:extLst>
                </a:gridCol>
                <a:gridCol w="1325880">
                  <a:extLst>
                    <a:ext uri="{9D8B030D-6E8A-4147-A177-3AD203B41FA5}">
                      <a16:colId xmlns:a16="http://schemas.microsoft.com/office/drawing/2014/main" val="979368243"/>
                    </a:ext>
                  </a:extLst>
                </a:gridCol>
              </a:tblGrid>
              <a:tr h="356616">
                <a:tc>
                  <a:txBody>
                    <a:bodyPr/>
                    <a:lstStyle/>
                    <a:p>
                      <a:pPr algn="ctr"/>
                      <a:r>
                        <a:rPr lang="es-MX" sz="810" b="1">
                          <a:solidFill>
                            <a:srgbClr val="FFFFFF"/>
                          </a:solidFill>
                          <a:latin typeface="Aptos" panose="020B0004020202020204" pitchFamily="34" charset="0"/>
                        </a:rPr>
                        <a:t>pedidos M−1</a:t>
                      </a:r>
                    </a:p>
                  </a:txBody>
                  <a:tcPr marL="22860" marR="22860" marT="13716" marB="13716" anchor="ctr">
                    <a:solidFill>
                      <a:srgbClr val="145B33"/>
                    </a:solidFill>
                  </a:tcPr>
                </a:tc>
                <a:tc>
                  <a:txBody>
                    <a:bodyPr/>
                    <a:lstStyle/>
                    <a:p>
                      <a:pPr algn="ctr"/>
                      <a:r>
                        <a:rPr lang="es-MX" sz="810" b="1">
                          <a:solidFill>
                            <a:srgbClr val="FFFFFF"/>
                          </a:solidFill>
                          <a:latin typeface="Aptos" panose="020B0004020202020204" pitchFamily="34" charset="0"/>
                        </a:rPr>
                        <a:t>precio M−1</a:t>
                      </a:r>
                    </a:p>
                  </a:txBody>
                  <a:tcPr marL="22860" marR="22860" marT="13716" marB="13716" anchor="ctr">
                    <a:solidFill>
                      <a:srgbClr val="145B33"/>
                    </a:solidFill>
                  </a:tcPr>
                </a:tc>
                <a:tc>
                  <a:txBody>
                    <a:bodyPr/>
                    <a:lstStyle/>
                    <a:p>
                      <a:pPr algn="ctr"/>
                      <a:r>
                        <a:rPr lang="es-MX" sz="810" b="1">
                          <a:solidFill>
                            <a:srgbClr val="FFFFFF"/>
                          </a:solidFill>
                          <a:latin typeface="Aptos" panose="020B0004020202020204" pitchFamily="34" charset="0"/>
                        </a:rPr>
                        <a:t>rating al corte</a:t>
                      </a:r>
                    </a:p>
                  </a:txBody>
                  <a:tcPr marL="22860" marR="22860" marT="13716" marB="13716" anchor="ctr">
                    <a:solidFill>
                      <a:srgbClr val="145B33"/>
                    </a:solidFill>
                  </a:tcPr>
                </a:tc>
                <a:tc>
                  <a:txBody>
                    <a:bodyPr/>
                    <a:lstStyle/>
                    <a:p>
                      <a:pPr algn="ctr"/>
                      <a:r>
                        <a:rPr lang="es-MX" sz="810" b="1">
                          <a:solidFill>
                            <a:srgbClr val="FFFFFF"/>
                          </a:solidFill>
                          <a:latin typeface="Aptos" panose="020B0004020202020204" pitchFamily="34" charset="0"/>
                        </a:rPr>
                        <a:t>reseñas al corte</a:t>
                      </a:r>
                    </a:p>
                  </a:txBody>
                  <a:tcPr marL="22860" marR="22860" marT="13716" marB="13716" anchor="ctr">
                    <a:solidFill>
                      <a:srgbClr val="145B33"/>
                    </a:solidFill>
                  </a:tcPr>
                </a:tc>
                <a:tc>
                  <a:txBody>
                    <a:bodyPr/>
                    <a:lstStyle/>
                    <a:p>
                      <a:pPr algn="ctr"/>
                      <a:r>
                        <a:rPr lang="es-MX" sz="810" b="1">
                          <a:solidFill>
                            <a:srgbClr val="FFFFFF"/>
                          </a:solidFill>
                          <a:latin typeface="Aptos" panose="020B0004020202020204" pitchFamily="34" charset="0"/>
                        </a:rPr>
                        <a:t>núm. mes</a:t>
                      </a:r>
                    </a:p>
                  </a:txBody>
                  <a:tcPr marL="22860" marR="22860" marT="13716" marB="13716" anchor="ctr">
                    <a:solidFill>
                      <a:srgbClr val="145B33"/>
                    </a:solidFill>
                  </a:tcPr>
                </a:tc>
                <a:tc>
                  <a:txBody>
                    <a:bodyPr/>
                    <a:lstStyle/>
                    <a:p>
                      <a:pPr algn="ctr"/>
                      <a:r>
                        <a:rPr lang="es-MX" sz="810" b="1">
                          <a:solidFill>
                            <a:srgbClr val="FFFFFF"/>
                          </a:solidFill>
                          <a:latin typeface="Aptos" panose="020B0004020202020204" pitchFamily="34" charset="0"/>
                        </a:rPr>
                        <a:t>Y: unidades mes</a:t>
                      </a:r>
                    </a:p>
                  </a:txBody>
                  <a:tcPr marL="22860" marR="22860" marT="13716" marB="13716" anchor="ctr">
                    <a:solidFill>
                      <a:srgbClr val="70449A"/>
                    </a:solidFill>
                  </a:tcPr>
                </a:tc>
                <a:extLst>
                  <a:ext uri="{0D108BD9-81ED-4DB2-BD59-A6C34878D82A}">
                    <a16:rowId xmlns:a16="http://schemas.microsoft.com/office/drawing/2014/main" val="4182811252"/>
                  </a:ext>
                </a:extLst>
              </a:tr>
              <a:tr h="356616">
                <a:tc>
                  <a:txBody>
                    <a:bodyPr/>
                    <a:lstStyle/>
                    <a:p>
                      <a:pPr algn="ctr"/>
                      <a:r>
                        <a:rPr lang="es-MX" sz="810">
                          <a:solidFill>
                            <a:srgbClr val="142019"/>
                          </a:solidFill>
                          <a:latin typeface="Aptos" panose="020B0004020202020204" pitchFamily="34" charset="0"/>
                        </a:rPr>
                        <a:t>38</a:t>
                      </a:r>
                    </a:p>
                  </a:txBody>
                  <a:tcPr marL="22860" marR="22860" marT="13716" marB="13716" anchor="ctr">
                    <a:solidFill>
                      <a:srgbClr val="FFFFFF"/>
                    </a:solidFill>
                  </a:tcPr>
                </a:tc>
                <a:tc>
                  <a:txBody>
                    <a:bodyPr/>
                    <a:lstStyle/>
                    <a:p>
                      <a:pPr algn="ctr"/>
                      <a:r>
                        <a:rPr lang="es-MX" sz="810">
                          <a:solidFill>
                            <a:srgbClr val="142019"/>
                          </a:solidFill>
                          <a:latin typeface="Aptos" panose="020B0004020202020204" pitchFamily="34" charset="0"/>
                        </a:rPr>
                        <a:t>$56.48</a:t>
                      </a:r>
                    </a:p>
                  </a:txBody>
                  <a:tcPr marL="22860" marR="22860" marT="13716" marB="13716" anchor="ctr">
                    <a:solidFill>
                      <a:srgbClr val="FFFFFF"/>
                    </a:solidFill>
                  </a:tcPr>
                </a:tc>
                <a:tc>
                  <a:txBody>
                    <a:bodyPr/>
                    <a:lstStyle/>
                    <a:p>
                      <a:pPr algn="ctr"/>
                      <a:r>
                        <a:rPr lang="es-MX" sz="810">
                          <a:solidFill>
                            <a:srgbClr val="142019"/>
                          </a:solidFill>
                          <a:latin typeface="Aptos" panose="020B0004020202020204" pitchFamily="34" charset="0"/>
                        </a:rPr>
                        <a:t>4.29</a:t>
                      </a:r>
                    </a:p>
                  </a:txBody>
                  <a:tcPr marL="22860" marR="22860" marT="13716" marB="13716" anchor="ctr">
                    <a:solidFill>
                      <a:srgbClr val="FFFFFF"/>
                    </a:solidFill>
                  </a:tcPr>
                </a:tc>
                <a:tc>
                  <a:txBody>
                    <a:bodyPr/>
                    <a:lstStyle/>
                    <a:p>
                      <a:pPr algn="ctr"/>
                      <a:r>
                        <a:rPr lang="es-MX" sz="810">
                          <a:solidFill>
                            <a:srgbClr val="142019"/>
                          </a:solidFill>
                          <a:latin typeface="Aptos" panose="020B0004020202020204" pitchFamily="34" charset="0"/>
                        </a:rPr>
                        <a:t>31</a:t>
                      </a:r>
                    </a:p>
                  </a:txBody>
                  <a:tcPr marL="22860" marR="22860" marT="13716" marB="13716" anchor="ctr">
                    <a:solidFill>
                      <a:srgbClr val="FFFFFF"/>
                    </a:solidFill>
                  </a:tcPr>
                </a:tc>
                <a:tc>
                  <a:txBody>
                    <a:bodyPr/>
                    <a:lstStyle/>
                    <a:p>
                      <a:pPr algn="ctr"/>
                      <a:r>
                        <a:rPr lang="es-MX" sz="810">
                          <a:solidFill>
                            <a:srgbClr val="142019"/>
                          </a:solidFill>
                          <a:latin typeface="Aptos" panose="020B0004020202020204" pitchFamily="34" charset="0"/>
                        </a:rPr>
                        <a:t>6</a:t>
                      </a:r>
                    </a:p>
                  </a:txBody>
                  <a:tcPr marL="22860" marR="22860" marT="13716" marB="13716" anchor="ctr">
                    <a:solidFill>
                      <a:srgbClr val="FFFFFF"/>
                    </a:solidFill>
                  </a:tcPr>
                </a:tc>
                <a:tc>
                  <a:txBody>
                    <a:bodyPr/>
                    <a:lstStyle/>
                    <a:p>
                      <a:pPr algn="ctr"/>
                      <a:r>
                        <a:rPr lang="es-MX" sz="810" b="1">
                          <a:solidFill>
                            <a:srgbClr val="142019"/>
                          </a:solidFill>
                          <a:latin typeface="Aptos" panose="020B0004020202020204" pitchFamily="34" charset="0"/>
                        </a:rPr>
                        <a:t>55</a:t>
                      </a:r>
                    </a:p>
                  </a:txBody>
                  <a:tcPr marL="22860" marR="22860" marT="13716" marB="13716" anchor="ctr">
                    <a:solidFill>
                      <a:srgbClr val="F0EAF6"/>
                    </a:solidFill>
                  </a:tcPr>
                </a:tc>
                <a:extLst>
                  <a:ext uri="{0D108BD9-81ED-4DB2-BD59-A6C34878D82A}">
                    <a16:rowId xmlns:a16="http://schemas.microsoft.com/office/drawing/2014/main" val="104389723"/>
                  </a:ext>
                </a:extLst>
              </a:tr>
            </a:tbl>
          </a:graphicData>
        </a:graphic>
      </p:graphicFrame>
      <p:sp>
        <p:nvSpPr>
          <p:cNvPr id="36" name="Rectángulo: esquinas redondeadas 35">
            <a:extLst>
              <a:ext uri="{FF2B5EF4-FFF2-40B4-BE49-F238E27FC236}">
                <a16:creationId xmlns:a16="http://schemas.microsoft.com/office/drawing/2014/main" id="{21E9B8EA-080B-8494-BD32-F074C9385BAC}"/>
              </a:ext>
            </a:extLst>
          </p:cNvPr>
          <p:cNvSpPr/>
          <p:nvPr/>
        </p:nvSpPr>
        <p:spPr>
          <a:xfrm>
            <a:off x="4773168" y="3886200"/>
            <a:ext cx="4160520" cy="1024128"/>
          </a:xfrm>
          <a:prstGeom prst="roundRect">
            <a:avLst/>
          </a:prstGeom>
          <a:solidFill>
            <a:srgbClr val="E8F3E8"/>
          </a:solidFill>
          <a:ln w="13335">
            <a:solidFill>
              <a:srgbClr val="087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7" name="CuadroTexto 36">
            <a:extLst>
              <a:ext uri="{FF2B5EF4-FFF2-40B4-BE49-F238E27FC236}">
                <a16:creationId xmlns:a16="http://schemas.microsoft.com/office/drawing/2014/main" id="{9E6A920C-35EC-7B39-3254-25C99829E485}"/>
              </a:ext>
            </a:extLst>
          </p:cNvPr>
          <p:cNvSpPr txBox="1"/>
          <p:nvPr/>
        </p:nvSpPr>
        <p:spPr>
          <a:xfrm>
            <a:off x="4983480" y="3995928"/>
            <a:ext cx="3611880" cy="646331"/>
          </a:xfrm>
          <a:prstGeom prst="rect">
            <a:avLst/>
          </a:prstGeom>
          <a:noFill/>
        </p:spPr>
        <p:txBody>
          <a:bodyPr vert="horz" wrap="square" lIns="36576" tIns="36576" rIns="36576" bIns="36576" rtlCol="0" anchor="t">
            <a:noAutofit/>
          </a:bodyPr>
          <a:lstStyle/>
          <a:p>
            <a:r>
              <a:rPr lang="es-MX" sz="880" b="1">
                <a:solidFill>
                  <a:srgbClr val="087A2B"/>
                </a:solidFill>
                <a:latin typeface="Aptos" panose="020B0004020202020204" pitchFamily="34" charset="0"/>
              </a:rPr>
              <a:t>VARIABLES X · conocidas al 31 de mayo</a:t>
            </a:r>
          </a:p>
        </p:txBody>
      </p:sp>
      <p:sp>
        <p:nvSpPr>
          <p:cNvPr id="38" name="CuadroTexto 37">
            <a:extLst>
              <a:ext uri="{FF2B5EF4-FFF2-40B4-BE49-F238E27FC236}">
                <a16:creationId xmlns:a16="http://schemas.microsoft.com/office/drawing/2014/main" id="{81CF8A51-0EEB-23A1-BFDB-EB41E83E3747}"/>
              </a:ext>
            </a:extLst>
          </p:cNvPr>
          <p:cNvSpPr txBox="1"/>
          <p:nvPr/>
        </p:nvSpPr>
        <p:spPr>
          <a:xfrm>
            <a:off x="4983480" y="4315968"/>
            <a:ext cx="3703320" cy="1200329"/>
          </a:xfrm>
          <a:prstGeom prst="rect">
            <a:avLst/>
          </a:prstGeom>
          <a:noFill/>
        </p:spPr>
        <p:txBody>
          <a:bodyPr vert="horz" wrap="square" lIns="36576" tIns="36576" rIns="36576" bIns="36576" rtlCol="0" anchor="t">
            <a:noAutofit/>
          </a:bodyPr>
          <a:lstStyle/>
          <a:p>
            <a:r>
              <a:rPr lang="es-MX" sz="880">
                <a:solidFill>
                  <a:srgbClr val="142019"/>
                </a:solidFill>
                <a:latin typeface="Aptos" panose="020B0004020202020204" pitchFamily="34" charset="0"/>
              </a:rPr>
              <a:t>categoría · demanda M−1/M−2/M−3 · promedio 3M
pedidos · precio · rating/reseñas · número de mes</a:t>
            </a:r>
          </a:p>
        </p:txBody>
      </p:sp>
      <p:sp>
        <p:nvSpPr>
          <p:cNvPr id="39" name="Rectángulo: esquinas redondeadas 38">
            <a:extLst>
              <a:ext uri="{FF2B5EF4-FFF2-40B4-BE49-F238E27FC236}">
                <a16:creationId xmlns:a16="http://schemas.microsoft.com/office/drawing/2014/main" id="{80C88766-56DD-8549-5304-1F2516C89987}"/>
              </a:ext>
            </a:extLst>
          </p:cNvPr>
          <p:cNvSpPr/>
          <p:nvPr/>
        </p:nvSpPr>
        <p:spPr>
          <a:xfrm>
            <a:off x="9107424" y="3886200"/>
            <a:ext cx="2295144" cy="1024128"/>
          </a:xfrm>
          <a:prstGeom prst="roundRect">
            <a:avLst/>
          </a:prstGeom>
          <a:solidFill>
            <a:srgbClr val="F0EAF6"/>
          </a:solidFill>
          <a:ln w="13335">
            <a:solidFill>
              <a:srgbClr val="7044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CuadroTexto 39">
            <a:extLst>
              <a:ext uri="{FF2B5EF4-FFF2-40B4-BE49-F238E27FC236}">
                <a16:creationId xmlns:a16="http://schemas.microsoft.com/office/drawing/2014/main" id="{9FF47D36-B045-9E33-FD64-27C345AB79BF}"/>
              </a:ext>
            </a:extLst>
          </p:cNvPr>
          <p:cNvSpPr txBox="1"/>
          <p:nvPr/>
        </p:nvSpPr>
        <p:spPr>
          <a:xfrm>
            <a:off x="9290304" y="3995928"/>
            <a:ext cx="1901952" cy="646331"/>
          </a:xfrm>
          <a:prstGeom prst="rect">
            <a:avLst/>
          </a:prstGeom>
          <a:noFill/>
        </p:spPr>
        <p:txBody>
          <a:bodyPr vert="horz" wrap="square" lIns="36576" tIns="36576" rIns="36576" bIns="36576" rtlCol="0" anchor="t">
            <a:noAutofit/>
          </a:bodyPr>
          <a:lstStyle/>
          <a:p>
            <a:pPr algn="ctr"/>
            <a:r>
              <a:rPr lang="es-MX" sz="860" b="1">
                <a:solidFill>
                  <a:srgbClr val="70449A"/>
                </a:solidFill>
                <a:latin typeface="Aptos" panose="020B0004020202020204" pitchFamily="34" charset="0"/>
              </a:rPr>
              <a:t>VARIABLE Y · REGRESIÓN</a:t>
            </a:r>
          </a:p>
        </p:txBody>
      </p:sp>
      <p:sp>
        <p:nvSpPr>
          <p:cNvPr id="41" name="CuadroTexto 40">
            <a:extLst>
              <a:ext uri="{FF2B5EF4-FFF2-40B4-BE49-F238E27FC236}">
                <a16:creationId xmlns:a16="http://schemas.microsoft.com/office/drawing/2014/main" id="{8F3D074F-5E30-144F-267E-9D99F79ECC18}"/>
              </a:ext>
            </a:extLst>
          </p:cNvPr>
          <p:cNvSpPr txBox="1"/>
          <p:nvPr/>
        </p:nvSpPr>
        <p:spPr>
          <a:xfrm>
            <a:off x="9290304" y="4315968"/>
            <a:ext cx="1901952" cy="923330"/>
          </a:xfrm>
          <a:prstGeom prst="rect">
            <a:avLst/>
          </a:prstGeom>
          <a:noFill/>
        </p:spPr>
        <p:txBody>
          <a:bodyPr vert="horz" wrap="square" lIns="36576" tIns="36576" rIns="36576" bIns="36576" rtlCol="0" anchor="t">
            <a:noAutofit/>
          </a:bodyPr>
          <a:lstStyle/>
          <a:p>
            <a:pPr algn="ctr"/>
            <a:r>
              <a:rPr lang="es-MX" sz="1020" b="1">
                <a:solidFill>
                  <a:srgbClr val="142019"/>
                </a:solidFill>
                <a:latin typeface="Aptos" panose="020B0004020202020204" pitchFamily="34" charset="0"/>
              </a:rPr>
              <a:t>55 unidades solicitadas
en junio de 2026</a:t>
            </a:r>
          </a:p>
        </p:txBody>
      </p:sp>
      <p:sp>
        <p:nvSpPr>
          <p:cNvPr id="42" name="Rectángulo: esquinas redondeadas 41">
            <a:extLst>
              <a:ext uri="{FF2B5EF4-FFF2-40B4-BE49-F238E27FC236}">
                <a16:creationId xmlns:a16="http://schemas.microsoft.com/office/drawing/2014/main" id="{9C9F9CC1-C04A-3531-3F53-AE488EF10696}"/>
              </a:ext>
            </a:extLst>
          </p:cNvPr>
          <p:cNvSpPr/>
          <p:nvPr/>
        </p:nvSpPr>
        <p:spPr>
          <a:xfrm>
            <a:off x="4773168" y="5111496"/>
            <a:ext cx="1664208" cy="292608"/>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CuadroTexto 42">
            <a:extLst>
              <a:ext uri="{FF2B5EF4-FFF2-40B4-BE49-F238E27FC236}">
                <a16:creationId xmlns:a16="http://schemas.microsoft.com/office/drawing/2014/main" id="{D4C59132-3DC7-5CA7-B7A8-F3EC6653D2E0}"/>
              </a:ext>
            </a:extLst>
          </p:cNvPr>
          <p:cNvSpPr txBox="1"/>
          <p:nvPr/>
        </p:nvSpPr>
        <p:spPr>
          <a:xfrm>
            <a:off x="4809744" y="5111496"/>
            <a:ext cx="1591056" cy="646331"/>
          </a:xfrm>
          <a:prstGeom prst="rect">
            <a:avLst/>
          </a:prstGeom>
          <a:noFill/>
        </p:spPr>
        <p:txBody>
          <a:bodyPr vert="horz" wrap="square" lIns="36576" tIns="36576" rIns="36576" bIns="36576" rtlCol="0" anchor="t">
            <a:noAutofit/>
          </a:bodyPr>
          <a:lstStyle/>
          <a:p>
            <a:pPr algn="ctr"/>
            <a:r>
              <a:rPr lang="es-MX" sz="820" b="1">
                <a:solidFill>
                  <a:srgbClr val="234C7A"/>
                </a:solidFill>
                <a:latin typeface="Aptos" panose="020B0004020202020204" pitchFamily="34" charset="0"/>
              </a:rPr>
              <a:t>16 productos × 18 meses</a:t>
            </a:r>
          </a:p>
        </p:txBody>
      </p:sp>
      <p:sp>
        <p:nvSpPr>
          <p:cNvPr id="44" name="Rectángulo: esquinas redondeadas 43">
            <a:extLst>
              <a:ext uri="{FF2B5EF4-FFF2-40B4-BE49-F238E27FC236}">
                <a16:creationId xmlns:a16="http://schemas.microsoft.com/office/drawing/2014/main" id="{8099C2B7-C8A3-F1E2-6272-D0636009AA34}"/>
              </a:ext>
            </a:extLst>
          </p:cNvPr>
          <p:cNvSpPr/>
          <p:nvPr/>
        </p:nvSpPr>
        <p:spPr>
          <a:xfrm>
            <a:off x="6574536" y="5111496"/>
            <a:ext cx="1600200" cy="292608"/>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5" name="CuadroTexto 44">
            <a:extLst>
              <a:ext uri="{FF2B5EF4-FFF2-40B4-BE49-F238E27FC236}">
                <a16:creationId xmlns:a16="http://schemas.microsoft.com/office/drawing/2014/main" id="{19D3891B-5B69-C82E-C5E3-E2FBBD142D37}"/>
              </a:ext>
            </a:extLst>
          </p:cNvPr>
          <p:cNvSpPr txBox="1"/>
          <p:nvPr/>
        </p:nvSpPr>
        <p:spPr>
          <a:xfrm>
            <a:off x="6611112" y="5111496"/>
            <a:ext cx="1527048" cy="923330"/>
          </a:xfrm>
          <a:prstGeom prst="rect">
            <a:avLst/>
          </a:prstGeom>
          <a:noFill/>
        </p:spPr>
        <p:txBody>
          <a:bodyPr vert="horz" wrap="square" lIns="36576" tIns="36576" rIns="36576" bIns="36576" rtlCol="0" anchor="t">
            <a:noAutofit/>
          </a:bodyPr>
          <a:lstStyle/>
          <a:p>
            <a:pPr algn="ctr"/>
            <a:r>
              <a:rPr lang="es-MX" sz="820" b="1">
                <a:solidFill>
                  <a:srgbClr val="234C7A"/>
                </a:solidFill>
                <a:latin typeface="Aptos" panose="020B0004020202020204" pitchFamily="34" charset="0"/>
              </a:rPr>
              <a:t>288 filas producto–mes</a:t>
            </a:r>
          </a:p>
        </p:txBody>
      </p:sp>
      <p:sp>
        <p:nvSpPr>
          <p:cNvPr id="46" name="Rectángulo: esquinas redondeadas 45">
            <a:extLst>
              <a:ext uri="{FF2B5EF4-FFF2-40B4-BE49-F238E27FC236}">
                <a16:creationId xmlns:a16="http://schemas.microsoft.com/office/drawing/2014/main" id="{32C8A76E-D0F9-CE2E-F4ED-3E27C7263FBE}"/>
              </a:ext>
            </a:extLst>
          </p:cNvPr>
          <p:cNvSpPr/>
          <p:nvPr/>
        </p:nvSpPr>
        <p:spPr>
          <a:xfrm>
            <a:off x="8311896" y="5111496"/>
            <a:ext cx="1517904" cy="292608"/>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7" name="CuadroTexto 46">
            <a:extLst>
              <a:ext uri="{FF2B5EF4-FFF2-40B4-BE49-F238E27FC236}">
                <a16:creationId xmlns:a16="http://schemas.microsoft.com/office/drawing/2014/main" id="{5D354245-A362-C744-19E0-B89C4B24C899}"/>
              </a:ext>
            </a:extLst>
          </p:cNvPr>
          <p:cNvSpPr txBox="1"/>
          <p:nvPr/>
        </p:nvSpPr>
        <p:spPr>
          <a:xfrm>
            <a:off x="8348472" y="5111496"/>
            <a:ext cx="1444752" cy="646331"/>
          </a:xfrm>
          <a:prstGeom prst="rect">
            <a:avLst/>
          </a:prstGeom>
          <a:noFill/>
        </p:spPr>
        <p:txBody>
          <a:bodyPr vert="horz" wrap="square" lIns="36576" tIns="36576" rIns="36576" bIns="36576" rtlCol="0" anchor="t">
            <a:noAutofit/>
          </a:bodyPr>
          <a:lstStyle/>
          <a:p>
            <a:pPr algn="ctr"/>
            <a:r>
              <a:rPr lang="es-MX" sz="820" b="1">
                <a:solidFill>
                  <a:srgbClr val="234C7A"/>
                </a:solidFill>
                <a:latin typeface="Aptos" panose="020B0004020202020204" pitchFamily="34" charset="0"/>
              </a:rPr>
              <a:t>240 filas entrenables</a:t>
            </a:r>
          </a:p>
        </p:txBody>
      </p:sp>
      <p:sp>
        <p:nvSpPr>
          <p:cNvPr id="48" name="Rectángulo: esquinas redondeadas 47">
            <a:extLst>
              <a:ext uri="{FF2B5EF4-FFF2-40B4-BE49-F238E27FC236}">
                <a16:creationId xmlns:a16="http://schemas.microsoft.com/office/drawing/2014/main" id="{859B034D-4456-D70B-FAB8-E6AB60C1CE67}"/>
              </a:ext>
            </a:extLst>
          </p:cNvPr>
          <p:cNvSpPr/>
          <p:nvPr/>
        </p:nvSpPr>
        <p:spPr>
          <a:xfrm>
            <a:off x="9966960" y="5111496"/>
            <a:ext cx="1435608" cy="292608"/>
          </a:xfrm>
          <a:prstGeom prst="roundRect">
            <a:avLst/>
          </a:prstGeom>
          <a:solidFill>
            <a:srgbClr val="FFF4DC"/>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CuadroTexto 48">
            <a:extLst>
              <a:ext uri="{FF2B5EF4-FFF2-40B4-BE49-F238E27FC236}">
                <a16:creationId xmlns:a16="http://schemas.microsoft.com/office/drawing/2014/main" id="{02354808-D80F-7796-6700-34947ABE61FA}"/>
              </a:ext>
            </a:extLst>
          </p:cNvPr>
          <p:cNvSpPr txBox="1"/>
          <p:nvPr/>
        </p:nvSpPr>
        <p:spPr>
          <a:xfrm>
            <a:off x="10003536" y="5111496"/>
            <a:ext cx="1362456" cy="646331"/>
          </a:xfrm>
          <a:prstGeom prst="rect">
            <a:avLst/>
          </a:prstGeom>
          <a:noFill/>
        </p:spPr>
        <p:txBody>
          <a:bodyPr vert="horz" wrap="square" lIns="36576" tIns="36576" rIns="36576" bIns="36576" rtlCol="0" anchor="t">
            <a:noAutofit/>
          </a:bodyPr>
          <a:lstStyle/>
          <a:p>
            <a:pPr algn="ctr"/>
            <a:r>
              <a:rPr lang="es-MX" sz="820" b="1">
                <a:solidFill>
                  <a:srgbClr val="E7A227"/>
                </a:solidFill>
                <a:latin typeface="Aptos" panose="020B0004020202020204" pitchFamily="34" charset="0"/>
              </a:rPr>
              <a:t>corte cronológico</a:t>
            </a:r>
          </a:p>
        </p:txBody>
      </p:sp>
      <p:sp>
        <p:nvSpPr>
          <p:cNvPr id="50" name="Rectángulo: esquinas redondeadas 49">
            <a:extLst>
              <a:ext uri="{FF2B5EF4-FFF2-40B4-BE49-F238E27FC236}">
                <a16:creationId xmlns:a16="http://schemas.microsoft.com/office/drawing/2014/main" id="{20175A0C-1FFD-5097-BDDE-99FA824ABAF9}"/>
              </a:ext>
            </a:extLst>
          </p:cNvPr>
          <p:cNvSpPr/>
          <p:nvPr/>
        </p:nvSpPr>
        <p:spPr>
          <a:xfrm>
            <a:off x="4773168" y="5559552"/>
            <a:ext cx="6629400" cy="457200"/>
          </a:xfrm>
          <a:prstGeom prst="roundRect">
            <a:avLst/>
          </a:prstGeom>
          <a:solidFill>
            <a:srgbClr val="FFF4DC"/>
          </a:solidFill>
          <a:ln w="10795">
            <a:solidFill>
              <a:srgbClr val="E7A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1" name="CuadroTexto 50">
            <a:extLst>
              <a:ext uri="{FF2B5EF4-FFF2-40B4-BE49-F238E27FC236}">
                <a16:creationId xmlns:a16="http://schemas.microsoft.com/office/drawing/2014/main" id="{ECE806A4-50CA-829C-9373-02D35E58E878}"/>
              </a:ext>
            </a:extLst>
          </p:cNvPr>
          <p:cNvSpPr txBox="1"/>
          <p:nvPr/>
        </p:nvSpPr>
        <p:spPr>
          <a:xfrm>
            <a:off x="4956048" y="5623560"/>
            <a:ext cx="6263640" cy="646331"/>
          </a:xfrm>
          <a:prstGeom prst="rect">
            <a:avLst/>
          </a:prstGeom>
          <a:noFill/>
        </p:spPr>
        <p:txBody>
          <a:bodyPr vert="horz" wrap="square" lIns="36576" tIns="36576" rIns="36576" bIns="36576" rtlCol="0" anchor="t">
            <a:noAutofit/>
          </a:bodyPr>
          <a:lstStyle/>
          <a:p>
            <a:pPr algn="ctr"/>
            <a:r>
              <a:rPr lang="es-MX" sz="940" b="1">
                <a:solidFill>
                  <a:srgbClr val="142019"/>
                </a:solidFill>
                <a:latin typeface="Aptos" panose="020B0004020202020204" pitchFamily="34" charset="0"/>
              </a:rPr>
              <a:t>UTILIDAD · anticipar la demanda del próximo mes y planear el reabastecimiento.</a:t>
            </a:r>
          </a:p>
        </p:txBody>
      </p:sp>
      <p:sp>
        <p:nvSpPr>
          <p:cNvPr id="52" name="CuadroTexto 51">
            <a:extLst>
              <a:ext uri="{FF2B5EF4-FFF2-40B4-BE49-F238E27FC236}">
                <a16:creationId xmlns:a16="http://schemas.microsoft.com/office/drawing/2014/main" id="{4492ECFF-98B0-DFE6-7296-17B795982EEB}"/>
              </a:ext>
            </a:extLst>
          </p:cNvPr>
          <p:cNvSpPr txBox="1"/>
          <p:nvPr/>
        </p:nvSpPr>
        <p:spPr>
          <a:xfrm>
            <a:off x="4818888" y="6117336"/>
            <a:ext cx="6537960" cy="646331"/>
          </a:xfrm>
          <a:prstGeom prst="rect">
            <a:avLst/>
          </a:prstGeom>
          <a:noFill/>
        </p:spPr>
        <p:txBody>
          <a:bodyPr vert="horz" wrap="square" lIns="36576" tIns="36576" rIns="36576" bIns="36576" rtlCol="0" anchor="t">
            <a:noAutofit/>
          </a:bodyPr>
          <a:lstStyle/>
          <a:p>
            <a:pPr algn="ctr"/>
            <a:r>
              <a:rPr lang="es-MX" sz="725">
                <a:solidFill>
                  <a:srgbClr val="D9685F"/>
                </a:solidFill>
                <a:latin typeface="Aptos" panose="020B0004020202020204" pitchFamily="34" charset="0"/>
              </a:rPr>
              <a:t>MongoDB aporta hechos históricos; Jupyter agrega por mes y calcula lags, promedios y Y sin usar información futura.</a:t>
            </a:r>
          </a:p>
        </p:txBody>
      </p:sp>
      <p:sp>
        <p:nvSpPr>
          <p:cNvPr id="53" name="CuadroTexto 52">
            <a:extLst>
              <a:ext uri="{FF2B5EF4-FFF2-40B4-BE49-F238E27FC236}">
                <a16:creationId xmlns:a16="http://schemas.microsoft.com/office/drawing/2014/main" id="{6BB970FF-8F98-142A-8713-AFA923C51A4A}"/>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 de aprendizaje automático</a:t>
            </a:r>
          </a:p>
        </p:txBody>
      </p:sp>
    </p:spTree>
    <p:extLst>
      <p:ext uri="{BB962C8B-B14F-4D97-AF65-F5344CB8AC3E}">
        <p14:creationId xmlns:p14="http://schemas.microsoft.com/office/powerpoint/2010/main" val="18623628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563</Words>
  <Application>Microsoft Office PowerPoint</Application>
  <PresentationFormat>Panorámica</PresentationFormat>
  <Paragraphs>63</Paragraphs>
  <Slides>1</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Cristhian David Resendez Sierra</dc:creator>
  <cp:lastModifiedBy>Cristhian David Resendez Sierra</cp:lastModifiedBy>
  <cp:revision>2</cp:revision>
  <dcterms:created xsi:type="dcterms:W3CDTF">2026-07-20T17:58:09Z</dcterms:created>
  <dcterms:modified xsi:type="dcterms:W3CDTF">2026-07-21T01:03:28Z</dcterms:modified>
</cp:coreProperties>
</file>