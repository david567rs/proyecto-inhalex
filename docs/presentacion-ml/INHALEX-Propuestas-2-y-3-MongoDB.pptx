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1" d="100"/>
          <a:sy n="101" d="100"/>
        </p:scale>
        <p:origin x="243" y="3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AB0981-2BB7-4437-B932-F24F8FBE2430}" type="datetimeFigureOut">
              <a:rPr lang="es-MX" smtClean="0"/>
              <a:t>20/07/2026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58DA2C-C978-401F-9A0E-99BB4F9962E4}" type="slidenum">
              <a:rPr lang="es-MX" smtClean="0"/>
              <a:t>‹Nº›</a:t>
            </a:fld>
            <a:endParaRPr lang="es-MX"/>
          </a:p>
        </p:txBody>
      </p:sp>
    </p:spTree>
    <p:extLst>
      <p:ext uri="{BB962C8B-B14F-4D97-AF65-F5344CB8AC3E}">
        <p14:creationId xmlns:p14="http://schemas.microsoft.com/office/powerpoint/2010/main" val="1954496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Esta propuesta es regresión numérica porque la salida es una cantidad de unidades. MongoDB guarda cada pedido como un documento y sus productos dentro del arreglo items; por eso no existe una tabla detallepedidos. En Jupyter filtramos pending_review, confirmed y completed, desanidamos items, agrupamos requestedQuantity por producto y mes, completamos los meses sin solicitudes con cero y calculamos los tres rezagos. productId es texto y se relaciona con String(productos._id). Cada fila representa un producto y un mes objetivo. Las columnas de control no entran como números al modelo. Las X del modelo base son M-1, M-2 y M-3. La Y es el total solicitado en pedidos válidos durante el mes objetivo. El ejemplo de Lavanda para junio usa 46, 51 y 55 unidades anteriores, y su Y histórica observada fue 55; no es una predicción ya generada. Los datos son sintéticos y reproducibles.</a:t>
            </a:r>
          </a:p>
        </p:txBody>
      </p:sp>
      <p:sp>
        <p:nvSpPr>
          <p:cNvPr id="4" name="Marcador de número de diapositiva 3"/>
          <p:cNvSpPr>
            <a:spLocks noGrp="1"/>
          </p:cNvSpPr>
          <p:nvPr>
            <p:ph type="sldNum" sz="quarter" idx="5"/>
          </p:nvPr>
        </p:nvSpPr>
        <p:spPr/>
        <p:txBody>
          <a:bodyPr/>
          <a:lstStyle/>
          <a:p>
            <a:fld id="{4E58DA2C-C978-401F-9A0E-99BB4F9962E4}" type="slidenum">
              <a:rPr lang="es-MX" smtClean="0"/>
              <a:t>1</a:t>
            </a:fld>
            <a:endParaRPr lang="es-MX"/>
          </a:p>
        </p:txBody>
      </p:sp>
    </p:spTree>
    <p:extLst>
      <p:ext uri="{BB962C8B-B14F-4D97-AF65-F5344CB8AC3E}">
        <p14:creationId xmlns:p14="http://schemas.microsoft.com/office/powerpoint/2010/main" val="2384267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  Esta propuesta utiliza clustering no supervisado. Usuarios aporta el identificador y pedidos aporta customerUserId, status, createdAt y subtotal. Como usuarios._id es ObjectId y customerUserId es string, la unión productiva compara usuarios._id.toString() con customerUserId. Conservamos pedidos completed que tienen usuario registrado, agrupamos por cliente y calculamos RFM. Recencia son los días desde createdAt del último pedido que actualmente está completed hasta el 30 de junio de 2026. Frecuencia es la cantidad de pedidos completed. En el CSV sintético, monto suma orders.total; en MongoDB se usará su equivalente pedidos.subtotal. customer_key solo identifica y se excluye de K-Means. Antes de agrupar aplicamos log1p y StandardScaler. No existe variable Y ni etiquetas previas: K-Means produce clústeres numéricos y después interpretamos sus promedios para nombrarlos. Los cuatro perfiles son esperados y k todavía debe validarse. Los valores mostrados proceden del dataset sintético actual.</a:t>
            </a:r>
          </a:p>
        </p:txBody>
      </p:sp>
      <p:sp>
        <p:nvSpPr>
          <p:cNvPr id="4" name="Marcador de número de diapositiva 3"/>
          <p:cNvSpPr>
            <a:spLocks noGrp="1"/>
          </p:cNvSpPr>
          <p:nvPr>
            <p:ph type="sldNum" sz="quarter" idx="5"/>
          </p:nvPr>
        </p:nvSpPr>
        <p:spPr/>
        <p:txBody>
          <a:bodyPr/>
          <a:lstStyle/>
          <a:p>
            <a:fld id="{4E58DA2C-C978-401F-9A0E-99BB4F9962E4}" type="slidenum">
              <a:rPr lang="es-MX" smtClean="0"/>
              <a:t>2</a:t>
            </a:fld>
            <a:endParaRPr lang="es-MX"/>
          </a:p>
        </p:txBody>
      </p:sp>
    </p:spTree>
    <p:extLst>
      <p:ext uri="{BB962C8B-B14F-4D97-AF65-F5344CB8AC3E}">
        <p14:creationId xmlns:p14="http://schemas.microsoft.com/office/powerpoint/2010/main" val="20950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00A7E5-63F7-A2FD-DC5E-10E3AEC4481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A60667B3-18A5-E800-46D7-C0E61F739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668496A4-0DB4-C5E7-BDB6-671428F644D3}"/>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5" name="Marcador de pie de página 4">
            <a:extLst>
              <a:ext uri="{FF2B5EF4-FFF2-40B4-BE49-F238E27FC236}">
                <a16:creationId xmlns:a16="http://schemas.microsoft.com/office/drawing/2014/main" id="{938EEFB7-AB3B-C4B9-C08C-E0348B06660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2775251-FF61-4AB9-03AD-DAF48F4A88F1}"/>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3299672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C118B8-1C90-FDE6-74C1-9D8453DD81F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D7D276B-B6B8-F24A-D092-13041213C33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477D9B3-322B-56D5-D88C-8391A9C2EF49}"/>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5" name="Marcador de pie de página 4">
            <a:extLst>
              <a:ext uri="{FF2B5EF4-FFF2-40B4-BE49-F238E27FC236}">
                <a16:creationId xmlns:a16="http://schemas.microsoft.com/office/drawing/2014/main" id="{FFF4DFF7-1A6B-6145-08A6-E490F8CEA78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2BF7CB0-7FB1-CC3F-A3E4-157A0302517F}"/>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318246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0ADAE5-8CF3-E030-5EDC-732DE4D8D9C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431C406-0C90-2D56-B369-C60309A966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03F07D-09F8-C463-6584-C2FB50A9AA1C}"/>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5" name="Marcador de pie de página 4">
            <a:extLst>
              <a:ext uri="{FF2B5EF4-FFF2-40B4-BE49-F238E27FC236}">
                <a16:creationId xmlns:a16="http://schemas.microsoft.com/office/drawing/2014/main" id="{90DA2AC9-2265-9BBF-B1CA-17527399F3A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A5206B6-256A-6535-B04E-2654AEFFEDE0}"/>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2266730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590E30-DFC0-81A5-393E-FE488199DE6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4BDFBFF-AAF5-BA48-97AE-20AEE2D4252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64CA7E7-3B28-7374-3FD6-3A8580FF9BD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1C01AFC4-4860-A894-035B-DF358FE3DB5A}"/>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6" name="Marcador de pie de página 5">
            <a:extLst>
              <a:ext uri="{FF2B5EF4-FFF2-40B4-BE49-F238E27FC236}">
                <a16:creationId xmlns:a16="http://schemas.microsoft.com/office/drawing/2014/main" id="{00EDF3CF-622B-04EF-E1DF-6D351AFD1D9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9732751-1160-B484-9FFA-723CF0320EF3}"/>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2474732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BA7654-4832-DA87-EB0C-3903FAE8453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7141802-6DD8-4127-1F1E-686BA50685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8295610-FAEC-694B-EE69-FA3FF11E9E9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D3D2DA7-51CC-138A-2A1E-10263E23A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90F8AD1-D645-0396-2F01-D72BDD595EE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C7F0C3BA-C743-B239-B7BE-1B69B4A358A0}"/>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8" name="Marcador de pie de página 7">
            <a:extLst>
              <a:ext uri="{FF2B5EF4-FFF2-40B4-BE49-F238E27FC236}">
                <a16:creationId xmlns:a16="http://schemas.microsoft.com/office/drawing/2014/main" id="{B4545F45-E1AB-5662-5498-AB0DF4014BF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A4ECEBC-385A-9E80-6970-185847099F72}"/>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2677627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FFA506-C137-75B8-AD7F-CC6A73D43E6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4ADAC61-9DFC-C8FC-6A5B-BAFAADB8866F}"/>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4" name="Marcador de pie de página 3">
            <a:extLst>
              <a:ext uri="{FF2B5EF4-FFF2-40B4-BE49-F238E27FC236}">
                <a16:creationId xmlns:a16="http://schemas.microsoft.com/office/drawing/2014/main" id="{6172D1E3-A5A3-289D-9BBD-2D4134DCD76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31C08A9-5360-81FE-50D9-715A814D6F4E}"/>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3556067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BD1752F-6CB7-343E-AC51-79541E4EEAF7}"/>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3" name="Marcador de pie de página 2">
            <a:extLst>
              <a:ext uri="{FF2B5EF4-FFF2-40B4-BE49-F238E27FC236}">
                <a16:creationId xmlns:a16="http://schemas.microsoft.com/office/drawing/2014/main" id="{5E6B0D02-73F8-4720-2D07-C58E786B4FCC}"/>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519DBD6-8977-59AA-3E14-F4C09287FAAD}"/>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3227377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9F5E73-BBF0-05E0-0CA2-B7DD3C3708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E7114CA-1154-6C4F-8FA0-71781A69A4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7A197CBD-F5BE-6DCA-9A2F-287B7398D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507ABC-D72F-D986-4436-58334361CD5E}"/>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6" name="Marcador de pie de página 5">
            <a:extLst>
              <a:ext uri="{FF2B5EF4-FFF2-40B4-BE49-F238E27FC236}">
                <a16:creationId xmlns:a16="http://schemas.microsoft.com/office/drawing/2014/main" id="{0782EA7B-FA76-A580-FD2C-C5839B0A284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4063EE9-4CBC-24A8-3FBA-74732CD780FD}"/>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15963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1C2B0-452A-3A77-A452-3419D5E5B43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AB2F019-8F19-ABD4-B85C-48D0542229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F97E09B-B935-7118-F84F-D3BA038179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CC76154-41BA-4669-A624-9B8BDA22199F}"/>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6" name="Marcador de pie de página 5">
            <a:extLst>
              <a:ext uri="{FF2B5EF4-FFF2-40B4-BE49-F238E27FC236}">
                <a16:creationId xmlns:a16="http://schemas.microsoft.com/office/drawing/2014/main" id="{D0D039C9-0A0D-F387-CBFC-825C0E4C5E0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99CC367-AC64-2E2C-05B5-0363B7D3831D}"/>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2718457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D9978D-FBFF-34AB-0BE2-98CC1701440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BF18B52-4945-F3A5-1CF7-24F39639211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EECB96D-8D83-8334-A06D-5007E48780D1}"/>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5" name="Marcador de pie de página 4">
            <a:extLst>
              <a:ext uri="{FF2B5EF4-FFF2-40B4-BE49-F238E27FC236}">
                <a16:creationId xmlns:a16="http://schemas.microsoft.com/office/drawing/2014/main" id="{1633DF73-C978-92E9-4FE9-EB5B69D2D2C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679AE4E-E33C-9A6F-5896-D39ECE584DD7}"/>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1128404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74E399F-4799-4314-FE8A-57B295AD80E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A5B1E7C-A5E5-464C-B698-468ABBBC92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7EAA2CF-2E5E-6522-7036-63D72EBD071D}"/>
              </a:ext>
            </a:extLst>
          </p:cNvPr>
          <p:cNvSpPr>
            <a:spLocks noGrp="1"/>
          </p:cNvSpPr>
          <p:nvPr>
            <p:ph type="dt" sz="half" idx="10"/>
          </p:nvPr>
        </p:nvSpPr>
        <p:spPr/>
        <p:txBody>
          <a:bodyPr/>
          <a:lstStyle/>
          <a:p>
            <a:fld id="{03906976-AC3E-45FF-9715-4118E05DA4D0}" type="datetimeFigureOut">
              <a:rPr lang="es-MX" smtClean="0"/>
              <a:t>20/07/2026</a:t>
            </a:fld>
            <a:endParaRPr lang="es-MX"/>
          </a:p>
        </p:txBody>
      </p:sp>
      <p:sp>
        <p:nvSpPr>
          <p:cNvPr id="5" name="Marcador de pie de página 4">
            <a:extLst>
              <a:ext uri="{FF2B5EF4-FFF2-40B4-BE49-F238E27FC236}">
                <a16:creationId xmlns:a16="http://schemas.microsoft.com/office/drawing/2014/main" id="{29F6C65A-89F6-96A8-3DD9-5C943025974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926CC12-AE61-E24B-910E-BC4ED070F45F}"/>
              </a:ext>
            </a:extLst>
          </p:cNvPr>
          <p:cNvSpPr>
            <a:spLocks noGrp="1"/>
          </p:cNvSpPr>
          <p:nvPr>
            <p:ph type="sldNum" sz="quarter" idx="12"/>
          </p:nvPr>
        </p:nvSpPr>
        <p:spPr/>
        <p:txBody>
          <a:bodyPr/>
          <a:lstStyle/>
          <a:p>
            <a:fld id="{44D06400-C67A-4004-AA67-A55377AFAA8D}" type="slidenum">
              <a:rPr lang="es-MX" smtClean="0"/>
              <a:t>‹Nº›</a:t>
            </a:fld>
            <a:endParaRPr lang="es-MX"/>
          </a:p>
        </p:txBody>
      </p:sp>
    </p:spTree>
    <p:extLst>
      <p:ext uri="{BB962C8B-B14F-4D97-AF65-F5344CB8AC3E}">
        <p14:creationId xmlns:p14="http://schemas.microsoft.com/office/powerpoint/2010/main" val="2132676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438F340-0D6B-7F54-2927-7105438E9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C7A9616-AA5D-C9CB-64C9-CB18B86AB8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12436F3-12CE-84CA-7047-04D3424396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906976-AC3E-45FF-9715-4118E05DA4D0}" type="datetimeFigureOut">
              <a:rPr lang="es-MX" smtClean="0"/>
              <a:t>20/07/2026</a:t>
            </a:fld>
            <a:endParaRPr lang="es-MX"/>
          </a:p>
        </p:txBody>
      </p:sp>
      <p:sp>
        <p:nvSpPr>
          <p:cNvPr id="5" name="Marcador de pie de página 4">
            <a:extLst>
              <a:ext uri="{FF2B5EF4-FFF2-40B4-BE49-F238E27FC236}">
                <a16:creationId xmlns:a16="http://schemas.microsoft.com/office/drawing/2014/main" id="{C3A3AD3C-F6B7-2BB8-C6B9-F810F168F2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54473345-078B-72A9-1CFE-4487C795AD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D06400-C67A-4004-AA67-A55377AFAA8D}" type="slidenum">
              <a:rPr lang="es-MX" smtClean="0"/>
              <a:t>‹Nº›</a:t>
            </a:fld>
            <a:endParaRPr lang="es-MX"/>
          </a:p>
        </p:txBody>
      </p:sp>
    </p:spTree>
    <p:extLst>
      <p:ext uri="{BB962C8B-B14F-4D97-AF65-F5344CB8AC3E}">
        <p14:creationId xmlns:p14="http://schemas.microsoft.com/office/powerpoint/2010/main" val="3367343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3D71B5B2-32B0-B0CD-9F2B-422A798B90A9}"/>
              </a:ext>
            </a:extLst>
          </p:cNvPr>
          <p:cNvSpPr/>
          <p:nvPr/>
        </p:nvSpPr>
        <p:spPr>
          <a:xfrm>
            <a:off x="438912" y="201168"/>
            <a:ext cx="438912" cy="438912"/>
          </a:xfrm>
          <a:prstGeom prst="roundRect">
            <a:avLst/>
          </a:prstGeom>
          <a:solidFill>
            <a:srgbClr val="F3EAFF"/>
          </a:solidFill>
          <a:ln w="0">
            <a:solidFill>
              <a:srgbClr val="F3E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CuadroTexto 2">
            <a:extLst>
              <a:ext uri="{FF2B5EF4-FFF2-40B4-BE49-F238E27FC236}">
                <a16:creationId xmlns:a16="http://schemas.microsoft.com/office/drawing/2014/main" id="{2756CC80-6E7A-7773-EF97-5FAD9DE49593}"/>
              </a:ext>
            </a:extLst>
          </p:cNvPr>
          <p:cNvSpPr txBox="1"/>
          <p:nvPr/>
        </p:nvSpPr>
        <p:spPr>
          <a:xfrm>
            <a:off x="484632" y="228600"/>
            <a:ext cx="347472" cy="369332"/>
          </a:xfrm>
          <a:prstGeom prst="rect">
            <a:avLst/>
          </a:prstGeom>
          <a:noFill/>
        </p:spPr>
        <p:txBody>
          <a:bodyPr vert="horz" wrap="square" lIns="36576" tIns="36576" rIns="36576" bIns="36576" rtlCol="0" anchor="t">
            <a:noAutofit/>
          </a:bodyPr>
          <a:lstStyle/>
          <a:p>
            <a:pPr algn="ctr"/>
            <a:r>
              <a:rPr lang="es-MX" b="1" dirty="0">
                <a:solidFill>
                  <a:srgbClr val="7C35E8"/>
                </a:solidFill>
                <a:latin typeface="Aptos" panose="020B0004020202020204" pitchFamily="34" charset="0"/>
              </a:rPr>
              <a:t>↗</a:t>
            </a:r>
          </a:p>
        </p:txBody>
      </p:sp>
      <p:sp>
        <p:nvSpPr>
          <p:cNvPr id="4" name="CuadroTexto 3">
            <a:extLst>
              <a:ext uri="{FF2B5EF4-FFF2-40B4-BE49-F238E27FC236}">
                <a16:creationId xmlns:a16="http://schemas.microsoft.com/office/drawing/2014/main" id="{EF5ADA3D-3D89-0993-8D93-76E1E8139ACB}"/>
              </a:ext>
            </a:extLst>
          </p:cNvPr>
          <p:cNvSpPr txBox="1"/>
          <p:nvPr/>
        </p:nvSpPr>
        <p:spPr>
          <a:xfrm>
            <a:off x="987552" y="228600"/>
            <a:ext cx="8138160" cy="369332"/>
          </a:xfrm>
          <a:prstGeom prst="rect">
            <a:avLst/>
          </a:prstGeom>
          <a:noFill/>
        </p:spPr>
        <p:txBody>
          <a:bodyPr vert="horz" wrap="square" lIns="36576" tIns="36576" rIns="36576" bIns="36576" rtlCol="0" anchor="t">
            <a:noAutofit/>
          </a:bodyPr>
          <a:lstStyle/>
          <a:p>
            <a:r>
              <a:rPr lang="es-MX" sz="2350" b="1">
                <a:solidFill>
                  <a:srgbClr val="172033"/>
                </a:solidFill>
                <a:latin typeface="Aptos" panose="020B0004020202020204" pitchFamily="34" charset="0"/>
              </a:rPr>
              <a:t>Propuesta 2: Predicción mensual de demanda</a:t>
            </a:r>
          </a:p>
        </p:txBody>
      </p:sp>
      <p:sp>
        <p:nvSpPr>
          <p:cNvPr id="5" name="Rectángulo: esquinas redondeadas 4">
            <a:extLst>
              <a:ext uri="{FF2B5EF4-FFF2-40B4-BE49-F238E27FC236}">
                <a16:creationId xmlns:a16="http://schemas.microsoft.com/office/drawing/2014/main" id="{5D8D65D5-998A-0811-379A-FF662A36735E}"/>
              </a:ext>
            </a:extLst>
          </p:cNvPr>
          <p:cNvSpPr/>
          <p:nvPr/>
        </p:nvSpPr>
        <p:spPr>
          <a:xfrm>
            <a:off x="9537192" y="265176"/>
            <a:ext cx="2176272" cy="329184"/>
          </a:xfrm>
          <a:prstGeom prst="roundRect">
            <a:avLst/>
          </a:prstGeom>
          <a:solidFill>
            <a:srgbClr val="F3EAFF"/>
          </a:solidFill>
          <a:ln w="8890">
            <a:solidFill>
              <a:srgbClr val="F3E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903E1B0B-B8DF-6A62-744F-F3F982D2F8EF}"/>
              </a:ext>
            </a:extLst>
          </p:cNvPr>
          <p:cNvSpPr txBox="1"/>
          <p:nvPr/>
        </p:nvSpPr>
        <p:spPr>
          <a:xfrm>
            <a:off x="9573768" y="265176"/>
            <a:ext cx="2103120" cy="646331"/>
          </a:xfrm>
          <a:prstGeom prst="rect">
            <a:avLst/>
          </a:prstGeom>
          <a:noFill/>
        </p:spPr>
        <p:txBody>
          <a:bodyPr vert="horz" wrap="square" lIns="36576" tIns="36576" rIns="36576" bIns="36576" rtlCol="0" anchor="t">
            <a:noAutofit/>
          </a:bodyPr>
          <a:lstStyle/>
          <a:p>
            <a:pPr algn="ctr"/>
            <a:r>
              <a:rPr lang="es-MX" sz="940" b="1" dirty="0">
                <a:solidFill>
                  <a:srgbClr val="7C35E8"/>
                </a:solidFill>
                <a:latin typeface="Aptos" panose="020B0004020202020204" pitchFamily="34" charset="0"/>
              </a:rPr>
              <a:t>REGRESIÓN NUMÉRICA</a:t>
            </a:r>
          </a:p>
        </p:txBody>
      </p:sp>
      <p:sp>
        <p:nvSpPr>
          <p:cNvPr id="7" name="Rectángulo 6">
            <a:extLst>
              <a:ext uri="{FF2B5EF4-FFF2-40B4-BE49-F238E27FC236}">
                <a16:creationId xmlns:a16="http://schemas.microsoft.com/office/drawing/2014/main" id="{EA72BBCD-894B-4E9B-850D-F54446169409}"/>
              </a:ext>
            </a:extLst>
          </p:cNvPr>
          <p:cNvSpPr/>
          <p:nvPr/>
        </p:nvSpPr>
        <p:spPr>
          <a:xfrm>
            <a:off x="438912" y="841248"/>
            <a:ext cx="11292840" cy="16459"/>
          </a:xfrm>
          <a:prstGeom prst="rect">
            <a:avLst/>
          </a:prstGeom>
          <a:solidFill>
            <a:srgbClr val="DDE4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esquinas redondeadas 7">
            <a:extLst>
              <a:ext uri="{FF2B5EF4-FFF2-40B4-BE49-F238E27FC236}">
                <a16:creationId xmlns:a16="http://schemas.microsoft.com/office/drawing/2014/main" id="{68BEC4C0-FF1C-593C-5F07-470829E46CC0}"/>
              </a:ext>
            </a:extLst>
          </p:cNvPr>
          <p:cNvSpPr/>
          <p:nvPr/>
        </p:nvSpPr>
        <p:spPr>
          <a:xfrm>
            <a:off x="438912" y="1078992"/>
            <a:ext cx="3858768" cy="5394960"/>
          </a:xfrm>
          <a:prstGeom prst="roundRect">
            <a:avLst/>
          </a:prstGeom>
          <a:solidFill>
            <a:srgbClr val="F7F9FC"/>
          </a:solidFill>
          <a:ln w="1143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ADBCD696-9B3D-E3C3-EB31-4BD18F4CE4DD}"/>
              </a:ext>
            </a:extLst>
          </p:cNvPr>
          <p:cNvSpPr txBox="1"/>
          <p:nvPr/>
        </p:nvSpPr>
        <p:spPr>
          <a:xfrm>
            <a:off x="670629" y="1213611"/>
            <a:ext cx="3456432" cy="369332"/>
          </a:xfrm>
          <a:prstGeom prst="rect">
            <a:avLst/>
          </a:prstGeom>
          <a:noFill/>
        </p:spPr>
        <p:txBody>
          <a:bodyPr vert="horz" wrap="square" lIns="36576" tIns="36576" rIns="36576" bIns="36576" rtlCol="0" anchor="t">
            <a:noAutofit/>
          </a:bodyPr>
          <a:lstStyle/>
          <a:p>
            <a:r>
              <a:rPr lang="es-MX" sz="1120" b="1">
                <a:solidFill>
                  <a:srgbClr val="5D6878"/>
                </a:solidFill>
                <a:latin typeface="Aptos" panose="020B0004020202020204" pitchFamily="34" charset="0"/>
              </a:rPr>
              <a:t>▰  Colecciones MongoDB</a:t>
            </a:r>
          </a:p>
        </p:txBody>
      </p:sp>
      <p:sp>
        <p:nvSpPr>
          <p:cNvPr id="10" name="Rectángulo: esquinas redondeadas 9">
            <a:extLst>
              <a:ext uri="{FF2B5EF4-FFF2-40B4-BE49-F238E27FC236}">
                <a16:creationId xmlns:a16="http://schemas.microsoft.com/office/drawing/2014/main" id="{2565D4C0-18C4-AA2B-4D0F-ABE953146F08}"/>
              </a:ext>
            </a:extLst>
          </p:cNvPr>
          <p:cNvSpPr/>
          <p:nvPr/>
        </p:nvSpPr>
        <p:spPr>
          <a:xfrm>
            <a:off x="713232" y="1627632"/>
            <a:ext cx="3310128" cy="1737360"/>
          </a:xfrm>
          <a:prstGeom prst="roundRect">
            <a:avLst/>
          </a:prstGeom>
          <a:solidFill>
            <a:srgbClr val="FFFFFF"/>
          </a:solidFill>
          <a:ln w="12700">
            <a:solidFill>
              <a:srgbClr val="2F5D88"/>
            </a:solidFill>
          </a:ln>
          <a:effectLst>
            <a:outerShdw blurRad="88900" dist="28398" dir="3806086"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80977D78-BDCA-8C18-02AE-5A1DD6D05286}"/>
              </a:ext>
            </a:extLst>
          </p:cNvPr>
          <p:cNvSpPr/>
          <p:nvPr/>
        </p:nvSpPr>
        <p:spPr>
          <a:xfrm>
            <a:off x="1038259" y="1637807"/>
            <a:ext cx="2632641" cy="310896"/>
          </a:xfrm>
          <a:prstGeom prst="round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CuadroTexto 11">
            <a:extLst>
              <a:ext uri="{FF2B5EF4-FFF2-40B4-BE49-F238E27FC236}">
                <a16:creationId xmlns:a16="http://schemas.microsoft.com/office/drawing/2014/main" id="{F82672B2-290C-B741-1A0B-AE05A1EBEE38}"/>
              </a:ext>
            </a:extLst>
          </p:cNvPr>
          <p:cNvSpPr txBox="1"/>
          <p:nvPr/>
        </p:nvSpPr>
        <p:spPr>
          <a:xfrm>
            <a:off x="1400799" y="1641348"/>
            <a:ext cx="1907563" cy="297180"/>
          </a:xfrm>
          <a:prstGeom prst="rect">
            <a:avLst/>
          </a:prstGeom>
          <a:noFill/>
        </p:spPr>
        <p:txBody>
          <a:bodyPr vert="horz" wrap="square" lIns="36576" tIns="36576" rIns="36576" bIns="36576" rtlCol="0" anchor="t">
            <a:noAutofit/>
          </a:bodyPr>
          <a:lstStyle/>
          <a:p>
            <a:pPr algn="ctr"/>
            <a:r>
              <a:rPr lang="es-MX" sz="1150" b="1">
                <a:solidFill>
                  <a:srgbClr val="FFFFFF"/>
                </a:solidFill>
                <a:latin typeface="Aptos" panose="020B0004020202020204" pitchFamily="34" charset="0"/>
              </a:rPr>
              <a:t>pedidos</a:t>
            </a:r>
          </a:p>
        </p:txBody>
      </p:sp>
      <p:sp>
        <p:nvSpPr>
          <p:cNvPr id="13" name="CuadroTexto 12">
            <a:extLst>
              <a:ext uri="{FF2B5EF4-FFF2-40B4-BE49-F238E27FC236}">
                <a16:creationId xmlns:a16="http://schemas.microsoft.com/office/drawing/2014/main" id="{796BF505-7C8D-EEC8-6F56-446F824C3BEC}"/>
              </a:ext>
            </a:extLst>
          </p:cNvPr>
          <p:cNvSpPr txBox="1"/>
          <p:nvPr/>
        </p:nvSpPr>
        <p:spPr>
          <a:xfrm>
            <a:off x="1011450" y="2099427"/>
            <a:ext cx="2296911" cy="871376"/>
          </a:xfrm>
          <a:prstGeom prst="rect">
            <a:avLst/>
          </a:prstGeom>
          <a:noFill/>
        </p:spPr>
        <p:txBody>
          <a:bodyPr vert="horz" wrap="square" lIns="36576" tIns="36576" rIns="36576" bIns="36576" rtlCol="0" anchor="t">
            <a:noAutofit/>
          </a:bodyPr>
          <a:lstStyle/>
          <a:p>
            <a:r>
              <a:rPr lang="en-US" sz="1200" dirty="0">
                <a:solidFill>
                  <a:srgbClr val="172033"/>
                </a:solidFill>
                <a:latin typeface="Aptos" panose="020B0004020202020204" pitchFamily="34" charset="0"/>
              </a:rPr>
              <a:t>• status
• </a:t>
            </a:r>
            <a:r>
              <a:rPr lang="en-US" sz="1200" dirty="0" err="1">
                <a:solidFill>
                  <a:srgbClr val="172033"/>
                </a:solidFill>
                <a:latin typeface="Aptos" panose="020B0004020202020204" pitchFamily="34" charset="0"/>
              </a:rPr>
              <a:t>createdAt</a:t>
            </a:r>
            <a:r>
              <a:rPr lang="en-US" sz="1200" dirty="0">
                <a:solidFill>
                  <a:srgbClr val="172033"/>
                </a:solidFill>
                <a:latin typeface="Aptos" panose="020B0004020202020204" pitchFamily="34" charset="0"/>
              </a:rPr>
              <a:t>
• items[].</a:t>
            </a:r>
            <a:r>
              <a:rPr lang="en-US" sz="1200" dirty="0" err="1">
                <a:solidFill>
                  <a:srgbClr val="172033"/>
                </a:solidFill>
                <a:latin typeface="Aptos" panose="020B0004020202020204" pitchFamily="34" charset="0"/>
              </a:rPr>
              <a:t>productId</a:t>
            </a:r>
            <a:r>
              <a:rPr lang="en-US" sz="1200" dirty="0">
                <a:solidFill>
                  <a:srgbClr val="172033"/>
                </a:solidFill>
                <a:latin typeface="Aptos" panose="020B0004020202020204" pitchFamily="34" charset="0"/>
              </a:rPr>
              <a:t>
• items[].</a:t>
            </a:r>
            <a:r>
              <a:rPr lang="en-US" sz="1200" dirty="0" err="1">
                <a:solidFill>
                  <a:srgbClr val="172033"/>
                </a:solidFill>
                <a:latin typeface="Aptos" panose="020B0004020202020204" pitchFamily="34" charset="0"/>
              </a:rPr>
              <a:t>requestedQuantity</a:t>
            </a:r>
            <a:endParaRPr lang="es-MX" sz="1200" dirty="0">
              <a:solidFill>
                <a:srgbClr val="172033"/>
              </a:solidFill>
              <a:latin typeface="Aptos" panose="020B0004020202020204" pitchFamily="34" charset="0"/>
            </a:endParaRPr>
          </a:p>
        </p:txBody>
      </p:sp>
      <p:sp>
        <p:nvSpPr>
          <p:cNvPr id="14" name="Rectángulo: esquinas redondeadas 13">
            <a:extLst>
              <a:ext uri="{FF2B5EF4-FFF2-40B4-BE49-F238E27FC236}">
                <a16:creationId xmlns:a16="http://schemas.microsoft.com/office/drawing/2014/main" id="{AC66A631-F836-AC2C-001C-0B610A94A46C}"/>
              </a:ext>
            </a:extLst>
          </p:cNvPr>
          <p:cNvSpPr/>
          <p:nvPr/>
        </p:nvSpPr>
        <p:spPr>
          <a:xfrm>
            <a:off x="713232" y="3584448"/>
            <a:ext cx="3310128" cy="1078992"/>
          </a:xfrm>
          <a:prstGeom prst="roundRect">
            <a:avLst/>
          </a:prstGeom>
          <a:solidFill>
            <a:srgbClr val="FFFFFF"/>
          </a:solidFill>
          <a:ln w="12700">
            <a:solidFill>
              <a:srgbClr val="0A8A63"/>
            </a:solidFill>
          </a:ln>
          <a:effectLst>
            <a:outerShdw blurRad="88900" dist="28398" dir="3806086"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esquinas redondeadas 14">
            <a:extLst>
              <a:ext uri="{FF2B5EF4-FFF2-40B4-BE49-F238E27FC236}">
                <a16:creationId xmlns:a16="http://schemas.microsoft.com/office/drawing/2014/main" id="{7816650E-D297-24DD-39E6-97F6AFC5E196}"/>
              </a:ext>
            </a:extLst>
          </p:cNvPr>
          <p:cNvSpPr/>
          <p:nvPr/>
        </p:nvSpPr>
        <p:spPr>
          <a:xfrm>
            <a:off x="1011451" y="3598164"/>
            <a:ext cx="2679400" cy="310896"/>
          </a:xfrm>
          <a:prstGeom prst="round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CuadroTexto 15">
            <a:extLst>
              <a:ext uri="{FF2B5EF4-FFF2-40B4-BE49-F238E27FC236}">
                <a16:creationId xmlns:a16="http://schemas.microsoft.com/office/drawing/2014/main" id="{05D5B6E1-0AD1-F072-0D08-BB9EC9EBDF2D}"/>
              </a:ext>
            </a:extLst>
          </p:cNvPr>
          <p:cNvSpPr txBox="1"/>
          <p:nvPr/>
        </p:nvSpPr>
        <p:spPr>
          <a:xfrm>
            <a:off x="1501590" y="3611880"/>
            <a:ext cx="1741309" cy="297180"/>
          </a:xfrm>
          <a:prstGeom prst="rect">
            <a:avLst/>
          </a:prstGeom>
          <a:noFill/>
        </p:spPr>
        <p:txBody>
          <a:bodyPr vert="horz" wrap="square" lIns="36576" tIns="36576" rIns="36576" bIns="36576" rtlCol="0" anchor="t">
            <a:noAutofit/>
          </a:bodyPr>
          <a:lstStyle/>
          <a:p>
            <a:pPr algn="ctr"/>
            <a:r>
              <a:rPr lang="es-MX" sz="1150" b="1" dirty="0">
                <a:solidFill>
                  <a:srgbClr val="FFFFFF"/>
                </a:solidFill>
                <a:latin typeface="Aptos" panose="020B0004020202020204" pitchFamily="34" charset="0"/>
              </a:rPr>
              <a:t>productos</a:t>
            </a:r>
          </a:p>
        </p:txBody>
      </p:sp>
      <p:sp>
        <p:nvSpPr>
          <p:cNvPr id="17" name="CuadroTexto 16">
            <a:extLst>
              <a:ext uri="{FF2B5EF4-FFF2-40B4-BE49-F238E27FC236}">
                <a16:creationId xmlns:a16="http://schemas.microsoft.com/office/drawing/2014/main" id="{DB015F56-F679-B6F4-36F3-702B9BDA3F7A}"/>
              </a:ext>
            </a:extLst>
          </p:cNvPr>
          <p:cNvSpPr txBox="1"/>
          <p:nvPr/>
        </p:nvSpPr>
        <p:spPr>
          <a:xfrm>
            <a:off x="859536" y="3977641"/>
            <a:ext cx="1577132" cy="493776"/>
          </a:xfrm>
          <a:prstGeom prst="rect">
            <a:avLst/>
          </a:prstGeom>
          <a:noFill/>
        </p:spPr>
        <p:txBody>
          <a:bodyPr vert="horz" wrap="square" lIns="36576" tIns="36576" rIns="36576" bIns="36576" rtlCol="0" anchor="t">
            <a:noAutofit/>
          </a:bodyPr>
          <a:lstStyle/>
          <a:p>
            <a:r>
              <a:rPr lang="es-MX" sz="1200" dirty="0">
                <a:solidFill>
                  <a:srgbClr val="172033"/>
                </a:solidFill>
                <a:latin typeface="Aptos" panose="020B0004020202020204" pitchFamily="34" charset="0"/>
              </a:rPr>
              <a:t>• _id
• </a:t>
            </a:r>
            <a:r>
              <a:rPr lang="es-MX" sz="1200" dirty="0" err="1">
                <a:solidFill>
                  <a:srgbClr val="172033"/>
                </a:solidFill>
                <a:latin typeface="Aptos" panose="020B0004020202020204" pitchFamily="34" charset="0"/>
              </a:rPr>
              <a:t>name</a:t>
            </a:r>
            <a:endParaRPr lang="es-MX" sz="1200" dirty="0">
              <a:solidFill>
                <a:srgbClr val="172033"/>
              </a:solidFill>
              <a:latin typeface="Aptos" panose="020B0004020202020204" pitchFamily="34" charset="0"/>
            </a:endParaRPr>
          </a:p>
        </p:txBody>
      </p:sp>
      <p:sp>
        <p:nvSpPr>
          <p:cNvPr id="18" name="Rectángulo: esquinas redondeadas 17">
            <a:extLst>
              <a:ext uri="{FF2B5EF4-FFF2-40B4-BE49-F238E27FC236}">
                <a16:creationId xmlns:a16="http://schemas.microsoft.com/office/drawing/2014/main" id="{6A8F8704-DD36-082F-38A2-C066EA5BB5B3}"/>
              </a:ext>
            </a:extLst>
          </p:cNvPr>
          <p:cNvSpPr/>
          <p:nvPr/>
        </p:nvSpPr>
        <p:spPr>
          <a:xfrm>
            <a:off x="713232" y="4937760"/>
            <a:ext cx="3310128" cy="1069848"/>
          </a:xfrm>
          <a:prstGeom prst="roundRect">
            <a:avLst/>
          </a:prstGeom>
          <a:solidFill>
            <a:srgbClr val="FFF5DE"/>
          </a:solidFill>
          <a:ln w="10160">
            <a:solidFill>
              <a:srgbClr val="D97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CuadroTexto 18">
            <a:extLst>
              <a:ext uri="{FF2B5EF4-FFF2-40B4-BE49-F238E27FC236}">
                <a16:creationId xmlns:a16="http://schemas.microsoft.com/office/drawing/2014/main" id="{D055E2B7-3449-CAC4-2944-807E787AA2FD}"/>
              </a:ext>
            </a:extLst>
          </p:cNvPr>
          <p:cNvSpPr txBox="1"/>
          <p:nvPr/>
        </p:nvSpPr>
        <p:spPr>
          <a:xfrm>
            <a:off x="877824" y="5047488"/>
            <a:ext cx="2962656" cy="369332"/>
          </a:xfrm>
          <a:prstGeom prst="rect">
            <a:avLst/>
          </a:prstGeom>
          <a:noFill/>
        </p:spPr>
        <p:txBody>
          <a:bodyPr vert="horz" wrap="square" lIns="36576" tIns="36576" rIns="36576" bIns="36576" rtlCol="0" anchor="t">
            <a:noAutofit/>
          </a:bodyPr>
          <a:lstStyle/>
          <a:p>
            <a:pPr algn="ctr"/>
            <a:r>
              <a:rPr lang="es-MX" sz="840" b="1">
                <a:solidFill>
                  <a:srgbClr val="D97A00"/>
                </a:solidFill>
                <a:latin typeface="Aptos" panose="020B0004020202020204" pitchFamily="34" charset="0"/>
              </a:rPr>
              <a:t>ADAPTACIÓN A MONGODB</a:t>
            </a:r>
          </a:p>
        </p:txBody>
      </p:sp>
      <p:sp>
        <p:nvSpPr>
          <p:cNvPr id="20" name="CuadroTexto 19">
            <a:extLst>
              <a:ext uri="{FF2B5EF4-FFF2-40B4-BE49-F238E27FC236}">
                <a16:creationId xmlns:a16="http://schemas.microsoft.com/office/drawing/2014/main" id="{0A6C35AA-0A6F-CD57-29F6-F8F6C9E2FD1F}"/>
              </a:ext>
            </a:extLst>
          </p:cNvPr>
          <p:cNvSpPr txBox="1"/>
          <p:nvPr/>
        </p:nvSpPr>
        <p:spPr>
          <a:xfrm>
            <a:off x="896112" y="5340096"/>
            <a:ext cx="2926080" cy="1477328"/>
          </a:xfrm>
          <a:prstGeom prst="rect">
            <a:avLst/>
          </a:prstGeom>
          <a:noFill/>
        </p:spPr>
        <p:txBody>
          <a:bodyPr vert="horz" wrap="square" lIns="36576" tIns="36576" rIns="36576" bIns="36576" rtlCol="0" anchor="t">
            <a:noAutofit/>
          </a:bodyPr>
          <a:lstStyle/>
          <a:p>
            <a:pPr algn="ctr"/>
            <a:r>
              <a:rPr lang="es-MX" sz="820">
                <a:solidFill>
                  <a:srgbClr val="172033"/>
                </a:solidFill>
                <a:latin typeface="Aptos" panose="020B0004020202020204" pitchFamily="34" charset="0"/>
              </a:rPr>
              <a:t>No existe detallepedidos: items[] está anidado en pedidos.
Relación: items[].productId = String(productos._id).</a:t>
            </a:r>
          </a:p>
        </p:txBody>
      </p:sp>
      <p:sp>
        <p:nvSpPr>
          <p:cNvPr id="21" name="CuadroTexto 20">
            <a:extLst>
              <a:ext uri="{FF2B5EF4-FFF2-40B4-BE49-F238E27FC236}">
                <a16:creationId xmlns:a16="http://schemas.microsoft.com/office/drawing/2014/main" id="{161C14E5-F7E7-B37C-140B-F01915DCFEA7}"/>
              </a:ext>
            </a:extLst>
          </p:cNvPr>
          <p:cNvSpPr txBox="1"/>
          <p:nvPr/>
        </p:nvSpPr>
        <p:spPr>
          <a:xfrm>
            <a:off x="4270248" y="1901952"/>
            <a:ext cx="1572768" cy="3970318"/>
          </a:xfrm>
          <a:prstGeom prst="rect">
            <a:avLst/>
          </a:prstGeom>
          <a:noFill/>
        </p:spPr>
        <p:txBody>
          <a:bodyPr vert="horz" wrap="square" lIns="36576" tIns="36576" rIns="36576" bIns="36576" rtlCol="0" anchor="t">
            <a:noAutofit/>
          </a:bodyPr>
          <a:lstStyle/>
          <a:p>
            <a:pPr algn="ctr"/>
            <a:r>
              <a:rPr lang="es-MX" sz="715" b="1">
                <a:solidFill>
                  <a:srgbClr val="172033"/>
                </a:solidFill>
                <a:latin typeface="Aptos" panose="020B0004020202020204" pitchFamily="34" charset="0"/>
              </a:rPr>
              <a:t>TRANSFORMACIÓN
1. Filtrar pedidos válidos
2. Desanidar items[]
3. Agrupar producto-mes
4. Completar ceros + rezagos</a:t>
            </a:r>
          </a:p>
        </p:txBody>
      </p:sp>
      <p:sp>
        <p:nvSpPr>
          <p:cNvPr id="22" name="Flecha: a la derecha 21">
            <a:extLst>
              <a:ext uri="{FF2B5EF4-FFF2-40B4-BE49-F238E27FC236}">
                <a16:creationId xmlns:a16="http://schemas.microsoft.com/office/drawing/2014/main" id="{082EE9F1-6BA8-7468-806E-E411E284FCA7}"/>
              </a:ext>
            </a:extLst>
          </p:cNvPr>
          <p:cNvSpPr/>
          <p:nvPr/>
        </p:nvSpPr>
        <p:spPr>
          <a:xfrm>
            <a:off x="4471416" y="3538728"/>
            <a:ext cx="1170432" cy="576072"/>
          </a:xfrm>
          <a:prstGeom prst="rightArrow">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544143D1-D0AB-80AD-5CE9-55A4D436408E}"/>
              </a:ext>
            </a:extLst>
          </p:cNvPr>
          <p:cNvSpPr txBox="1"/>
          <p:nvPr/>
        </p:nvSpPr>
        <p:spPr>
          <a:xfrm>
            <a:off x="4361688" y="4425696"/>
            <a:ext cx="1389888" cy="1754326"/>
          </a:xfrm>
          <a:prstGeom prst="rect">
            <a:avLst/>
          </a:prstGeom>
          <a:noFill/>
        </p:spPr>
        <p:txBody>
          <a:bodyPr vert="horz" wrap="square" lIns="36576" tIns="36576" rIns="36576" bIns="36576" rtlCol="0" anchor="t">
            <a:noAutofit/>
          </a:bodyPr>
          <a:lstStyle/>
          <a:p>
            <a:pPr algn="ctr"/>
            <a:r>
              <a:rPr lang="es-MX" sz="710" b="1">
                <a:solidFill>
                  <a:srgbClr val="5D6878"/>
                </a:solidFill>
                <a:latin typeface="Aptos" panose="020B0004020202020204" pitchFamily="34" charset="0"/>
              </a:rPr>
              <a:t>Estados válidos:
pending_review
confirmed
completed</a:t>
            </a:r>
          </a:p>
        </p:txBody>
      </p:sp>
      <p:sp>
        <p:nvSpPr>
          <p:cNvPr id="24" name="Rectángulo: esquinas redondeadas 23">
            <a:extLst>
              <a:ext uri="{FF2B5EF4-FFF2-40B4-BE49-F238E27FC236}">
                <a16:creationId xmlns:a16="http://schemas.microsoft.com/office/drawing/2014/main" id="{A2768311-54AB-0D90-FD23-880C111B7767}"/>
              </a:ext>
            </a:extLst>
          </p:cNvPr>
          <p:cNvSpPr/>
          <p:nvPr/>
        </p:nvSpPr>
        <p:spPr>
          <a:xfrm>
            <a:off x="5806440" y="1078992"/>
            <a:ext cx="5925312" cy="5394960"/>
          </a:xfrm>
          <a:prstGeom prst="roundRect">
            <a:avLst/>
          </a:prstGeom>
          <a:solidFill>
            <a:srgbClr val="F7F9FC"/>
          </a:solidFill>
          <a:ln w="1143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CuadroTexto 24">
            <a:extLst>
              <a:ext uri="{FF2B5EF4-FFF2-40B4-BE49-F238E27FC236}">
                <a16:creationId xmlns:a16="http://schemas.microsoft.com/office/drawing/2014/main" id="{CC419404-93BF-B929-43E8-4FC75E61D86E}"/>
              </a:ext>
            </a:extLst>
          </p:cNvPr>
          <p:cNvSpPr txBox="1"/>
          <p:nvPr/>
        </p:nvSpPr>
        <p:spPr>
          <a:xfrm>
            <a:off x="6436712" y="1185825"/>
            <a:ext cx="3897541" cy="274320"/>
          </a:xfrm>
          <a:prstGeom prst="rect">
            <a:avLst/>
          </a:prstGeom>
          <a:noFill/>
        </p:spPr>
        <p:txBody>
          <a:bodyPr vert="horz" wrap="square" lIns="36576" tIns="36576" rIns="36576" bIns="36576" rtlCol="0" anchor="t">
            <a:noAutofit/>
          </a:bodyPr>
          <a:lstStyle/>
          <a:p>
            <a:r>
              <a:rPr lang="es-MX" sz="1120" b="1" dirty="0">
                <a:solidFill>
                  <a:srgbClr val="5D6878"/>
                </a:solidFill>
                <a:latin typeface="Aptos" panose="020B0004020202020204" pitchFamily="34" charset="0"/>
              </a:rPr>
              <a:t>▦  </a:t>
            </a:r>
            <a:r>
              <a:rPr lang="es-MX" sz="1120" b="1" dirty="0" err="1">
                <a:solidFill>
                  <a:srgbClr val="5D6878"/>
                </a:solidFill>
                <a:latin typeface="Aptos" panose="020B0004020202020204" pitchFamily="34" charset="0"/>
              </a:rPr>
              <a:t>Dataset</a:t>
            </a:r>
            <a:r>
              <a:rPr lang="es-MX" sz="1120" b="1" dirty="0">
                <a:solidFill>
                  <a:srgbClr val="5D6878"/>
                </a:solidFill>
                <a:latin typeface="Aptos" panose="020B0004020202020204" pitchFamily="34" charset="0"/>
              </a:rPr>
              <a:t> / </a:t>
            </a:r>
            <a:r>
              <a:rPr lang="es-MX" sz="1120" b="1" dirty="0" err="1">
                <a:solidFill>
                  <a:srgbClr val="5D6878"/>
                </a:solidFill>
                <a:latin typeface="Aptos" panose="020B0004020202020204" pitchFamily="34" charset="0"/>
              </a:rPr>
              <a:t>DataFrame</a:t>
            </a:r>
            <a:r>
              <a:rPr lang="es-MX" sz="1120" b="1" dirty="0">
                <a:solidFill>
                  <a:srgbClr val="5D6878"/>
                </a:solidFill>
                <a:latin typeface="Aptos" panose="020B0004020202020204" pitchFamily="34" charset="0"/>
              </a:rPr>
              <a:t> resultante</a:t>
            </a:r>
          </a:p>
        </p:txBody>
      </p:sp>
      <p:sp>
        <p:nvSpPr>
          <p:cNvPr id="26" name="Rectángulo: esquinas redondeadas 25">
            <a:extLst>
              <a:ext uri="{FF2B5EF4-FFF2-40B4-BE49-F238E27FC236}">
                <a16:creationId xmlns:a16="http://schemas.microsoft.com/office/drawing/2014/main" id="{36415CED-3F8B-FF98-17FF-3FF5196ECDA5}"/>
              </a:ext>
            </a:extLst>
          </p:cNvPr>
          <p:cNvSpPr/>
          <p:nvPr/>
        </p:nvSpPr>
        <p:spPr>
          <a:xfrm>
            <a:off x="6108192" y="1490472"/>
            <a:ext cx="2880360" cy="265176"/>
          </a:xfrm>
          <a:prstGeom prst="roundRect">
            <a:avLst/>
          </a:prstGeom>
          <a:solidFill>
            <a:srgbClr val="EAF1F8"/>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978B7641-6BE5-A15D-CDE7-8E6EB6393107}"/>
              </a:ext>
            </a:extLst>
          </p:cNvPr>
          <p:cNvSpPr txBox="1"/>
          <p:nvPr/>
        </p:nvSpPr>
        <p:spPr>
          <a:xfrm>
            <a:off x="6144768" y="1490472"/>
            <a:ext cx="2807208" cy="646331"/>
          </a:xfrm>
          <a:prstGeom prst="rect">
            <a:avLst/>
          </a:prstGeom>
          <a:noFill/>
        </p:spPr>
        <p:txBody>
          <a:bodyPr vert="horz" wrap="square" lIns="36576" tIns="36576" rIns="36576" bIns="36576" rtlCol="0" anchor="t">
            <a:noAutofit/>
          </a:bodyPr>
          <a:lstStyle/>
          <a:p>
            <a:pPr algn="ctr"/>
            <a:r>
              <a:rPr lang="es-MX" sz="770" b="1">
                <a:solidFill>
                  <a:srgbClr val="2F5D88"/>
                </a:solidFill>
                <a:latin typeface="Aptos" panose="020B0004020202020204" pitchFamily="34" charset="0"/>
              </a:rPr>
              <a:t>Histórico: una fila = producto-mes</a:t>
            </a:r>
          </a:p>
        </p:txBody>
      </p:sp>
      <p:sp>
        <p:nvSpPr>
          <p:cNvPr id="28" name="Rectángulo: esquinas redondeadas 27">
            <a:extLst>
              <a:ext uri="{FF2B5EF4-FFF2-40B4-BE49-F238E27FC236}">
                <a16:creationId xmlns:a16="http://schemas.microsoft.com/office/drawing/2014/main" id="{E0CA2FEC-B537-4527-BCA5-702218638467}"/>
              </a:ext>
            </a:extLst>
          </p:cNvPr>
          <p:cNvSpPr/>
          <p:nvPr/>
        </p:nvSpPr>
        <p:spPr>
          <a:xfrm>
            <a:off x="9162288" y="1490472"/>
            <a:ext cx="2258568" cy="265176"/>
          </a:xfrm>
          <a:prstGeom prst="roundRect">
            <a:avLst/>
          </a:prstGeom>
          <a:solidFill>
            <a:srgbClr val="F3EAFF"/>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CuadroTexto 28">
            <a:extLst>
              <a:ext uri="{FF2B5EF4-FFF2-40B4-BE49-F238E27FC236}">
                <a16:creationId xmlns:a16="http://schemas.microsoft.com/office/drawing/2014/main" id="{C8276B32-D8C5-0F89-9FEA-80EBA91DCB9A}"/>
              </a:ext>
            </a:extLst>
          </p:cNvPr>
          <p:cNvSpPr txBox="1"/>
          <p:nvPr/>
        </p:nvSpPr>
        <p:spPr>
          <a:xfrm>
            <a:off x="9198864" y="1490472"/>
            <a:ext cx="2185416" cy="646331"/>
          </a:xfrm>
          <a:prstGeom prst="rect">
            <a:avLst/>
          </a:prstGeom>
          <a:noFill/>
        </p:spPr>
        <p:txBody>
          <a:bodyPr vert="horz" wrap="square" lIns="36576" tIns="36576" rIns="36576" bIns="36576" rtlCol="0" anchor="t">
            <a:noAutofit/>
          </a:bodyPr>
          <a:lstStyle/>
          <a:p>
            <a:pPr algn="ctr"/>
            <a:r>
              <a:rPr lang="es-MX" sz="770" b="1">
                <a:solidFill>
                  <a:srgbClr val="7C35E8"/>
                </a:solidFill>
                <a:latin typeface="Aptos" panose="020B0004020202020204" pitchFamily="34" charset="0"/>
              </a:rPr>
              <a:t>288 filas sintéticas · 240 entrenables</a:t>
            </a:r>
          </a:p>
        </p:txBody>
      </p:sp>
      <p:sp>
        <p:nvSpPr>
          <p:cNvPr id="30" name="Rectángulo: esquinas redondeadas 29">
            <a:extLst>
              <a:ext uri="{FF2B5EF4-FFF2-40B4-BE49-F238E27FC236}">
                <a16:creationId xmlns:a16="http://schemas.microsoft.com/office/drawing/2014/main" id="{41FE0E06-CF6D-B85F-1571-E98733C0D60A}"/>
              </a:ext>
            </a:extLst>
          </p:cNvPr>
          <p:cNvSpPr/>
          <p:nvPr/>
        </p:nvSpPr>
        <p:spPr>
          <a:xfrm>
            <a:off x="6108192" y="1856232"/>
            <a:ext cx="2468880" cy="201168"/>
          </a:xfrm>
          <a:prstGeom prst="roundRect">
            <a:avLst/>
          </a:prstGeom>
          <a:solidFill>
            <a:srgbClr val="EAF1F8"/>
          </a:solidFill>
          <a:ln w="0">
            <a:solidFill>
              <a:srgbClr val="EAF1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CuadroTexto 30">
            <a:extLst>
              <a:ext uri="{FF2B5EF4-FFF2-40B4-BE49-F238E27FC236}">
                <a16:creationId xmlns:a16="http://schemas.microsoft.com/office/drawing/2014/main" id="{D3131A0B-962A-B4F3-F874-55E511288067}"/>
              </a:ext>
            </a:extLst>
          </p:cNvPr>
          <p:cNvSpPr txBox="1"/>
          <p:nvPr/>
        </p:nvSpPr>
        <p:spPr>
          <a:xfrm>
            <a:off x="6126480" y="1856232"/>
            <a:ext cx="2432304" cy="646331"/>
          </a:xfrm>
          <a:prstGeom prst="rect">
            <a:avLst/>
          </a:prstGeom>
          <a:noFill/>
        </p:spPr>
        <p:txBody>
          <a:bodyPr vert="horz" wrap="square" lIns="36576" tIns="36576" rIns="36576" bIns="36576" rtlCol="0" anchor="t">
            <a:noAutofit/>
          </a:bodyPr>
          <a:lstStyle/>
          <a:p>
            <a:pPr algn="ctr"/>
            <a:r>
              <a:rPr lang="es-MX" sz="690" b="1">
                <a:solidFill>
                  <a:srgbClr val="2F5D88"/>
                </a:solidFill>
                <a:latin typeface="Aptos" panose="020B0004020202020204" pitchFamily="34" charset="0"/>
              </a:rPr>
              <a:t>IDENTIFICACIÓN / CONTROL</a:t>
            </a:r>
          </a:p>
        </p:txBody>
      </p:sp>
      <p:sp>
        <p:nvSpPr>
          <p:cNvPr id="32" name="Rectángulo: esquinas redondeadas 31">
            <a:extLst>
              <a:ext uri="{FF2B5EF4-FFF2-40B4-BE49-F238E27FC236}">
                <a16:creationId xmlns:a16="http://schemas.microsoft.com/office/drawing/2014/main" id="{97C9A783-5EC8-BEFA-CAE0-0179765617AC}"/>
              </a:ext>
            </a:extLst>
          </p:cNvPr>
          <p:cNvSpPr/>
          <p:nvPr/>
        </p:nvSpPr>
        <p:spPr>
          <a:xfrm>
            <a:off x="8577072" y="1856232"/>
            <a:ext cx="2084832" cy="201168"/>
          </a:xfrm>
          <a:prstGeom prst="roundRect">
            <a:avLst/>
          </a:prstGeom>
          <a:solidFill>
            <a:srgbClr val="E7F7F0"/>
          </a:solidFill>
          <a:ln w="0">
            <a:solidFill>
              <a:srgbClr val="E7F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CuadroTexto 32">
            <a:extLst>
              <a:ext uri="{FF2B5EF4-FFF2-40B4-BE49-F238E27FC236}">
                <a16:creationId xmlns:a16="http://schemas.microsoft.com/office/drawing/2014/main" id="{153BC5B6-046A-94D2-F2C7-019E0BE0CDA0}"/>
              </a:ext>
            </a:extLst>
          </p:cNvPr>
          <p:cNvSpPr txBox="1"/>
          <p:nvPr/>
        </p:nvSpPr>
        <p:spPr>
          <a:xfrm>
            <a:off x="8595360" y="1856232"/>
            <a:ext cx="2048256" cy="646331"/>
          </a:xfrm>
          <a:prstGeom prst="rect">
            <a:avLst/>
          </a:prstGeom>
          <a:noFill/>
        </p:spPr>
        <p:txBody>
          <a:bodyPr vert="horz" wrap="square" lIns="36576" tIns="36576" rIns="36576" bIns="36576" rtlCol="0" anchor="t">
            <a:noAutofit/>
          </a:bodyPr>
          <a:lstStyle/>
          <a:p>
            <a:pPr algn="ctr"/>
            <a:r>
              <a:rPr lang="es-MX" sz="690" b="1">
                <a:solidFill>
                  <a:srgbClr val="0A8A63"/>
                </a:solidFill>
                <a:latin typeface="Aptos" panose="020B0004020202020204" pitchFamily="34" charset="0"/>
              </a:rPr>
              <a:t>VARIABLES PREDICTORAS (X)</a:t>
            </a:r>
          </a:p>
        </p:txBody>
      </p:sp>
      <p:sp>
        <p:nvSpPr>
          <p:cNvPr id="34" name="Rectángulo: esquinas redondeadas 33">
            <a:extLst>
              <a:ext uri="{FF2B5EF4-FFF2-40B4-BE49-F238E27FC236}">
                <a16:creationId xmlns:a16="http://schemas.microsoft.com/office/drawing/2014/main" id="{8E6F50A9-06DF-F66E-DADA-66E2F28554A9}"/>
              </a:ext>
            </a:extLst>
          </p:cNvPr>
          <p:cNvSpPr/>
          <p:nvPr/>
        </p:nvSpPr>
        <p:spPr>
          <a:xfrm>
            <a:off x="10661904" y="1856232"/>
            <a:ext cx="768096" cy="201168"/>
          </a:xfrm>
          <a:prstGeom prst="roundRect">
            <a:avLst/>
          </a:prstGeom>
          <a:solidFill>
            <a:srgbClr val="F3EAFF"/>
          </a:solidFill>
          <a:ln w="0">
            <a:solidFill>
              <a:srgbClr val="F3E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5" name="CuadroTexto 34">
            <a:extLst>
              <a:ext uri="{FF2B5EF4-FFF2-40B4-BE49-F238E27FC236}">
                <a16:creationId xmlns:a16="http://schemas.microsoft.com/office/drawing/2014/main" id="{F7F29C89-0D6E-8667-6F3B-C506C327D6E2}"/>
              </a:ext>
            </a:extLst>
          </p:cNvPr>
          <p:cNvSpPr txBox="1"/>
          <p:nvPr/>
        </p:nvSpPr>
        <p:spPr>
          <a:xfrm>
            <a:off x="10680192" y="1856232"/>
            <a:ext cx="731520" cy="646331"/>
          </a:xfrm>
          <a:prstGeom prst="rect">
            <a:avLst/>
          </a:prstGeom>
          <a:noFill/>
        </p:spPr>
        <p:txBody>
          <a:bodyPr vert="horz" wrap="square" lIns="36576" tIns="36576" rIns="36576" bIns="36576" rtlCol="0" anchor="t">
            <a:noAutofit/>
          </a:bodyPr>
          <a:lstStyle/>
          <a:p>
            <a:pPr algn="ctr"/>
            <a:r>
              <a:rPr lang="es-MX" sz="690" b="1">
                <a:solidFill>
                  <a:srgbClr val="7C35E8"/>
                </a:solidFill>
                <a:latin typeface="Aptos" panose="020B0004020202020204" pitchFamily="34" charset="0"/>
              </a:rPr>
              <a:t>META (Y)</a:t>
            </a:r>
          </a:p>
        </p:txBody>
      </p:sp>
      <p:graphicFrame>
        <p:nvGraphicFramePr>
          <p:cNvPr id="36" name="Tabla 35">
            <a:extLst>
              <a:ext uri="{FF2B5EF4-FFF2-40B4-BE49-F238E27FC236}">
                <a16:creationId xmlns:a16="http://schemas.microsoft.com/office/drawing/2014/main" id="{C047ECEA-3222-CD43-1625-56FE97268DC7}"/>
              </a:ext>
            </a:extLst>
          </p:cNvPr>
          <p:cNvGraphicFramePr>
            <a:graphicFrameLocks noGrp="1"/>
          </p:cNvGraphicFramePr>
          <p:nvPr>
            <p:extLst>
              <p:ext uri="{D42A27DB-BD31-4B8C-83A1-F6EECF244321}">
                <p14:modId xmlns:p14="http://schemas.microsoft.com/office/powerpoint/2010/main" val="2470179947"/>
              </p:ext>
            </p:extLst>
          </p:nvPr>
        </p:nvGraphicFramePr>
        <p:xfrm>
          <a:off x="6108192" y="2084832"/>
          <a:ext cx="5321808" cy="1618490"/>
        </p:xfrm>
        <a:graphic>
          <a:graphicData uri="http://schemas.openxmlformats.org/drawingml/2006/table">
            <a:tbl>
              <a:tblPr firstRow="1" bandRow="1">
                <a:tableStyleId>{5C22544A-7EE6-4342-B048-85BDC9FD1C3A}</a:tableStyleId>
              </a:tblPr>
              <a:tblGrid>
                <a:gridCol w="932688">
                  <a:extLst>
                    <a:ext uri="{9D8B030D-6E8A-4147-A177-3AD203B41FA5}">
                      <a16:colId xmlns:a16="http://schemas.microsoft.com/office/drawing/2014/main" val="3366674166"/>
                    </a:ext>
                  </a:extLst>
                </a:gridCol>
                <a:gridCol w="804672">
                  <a:extLst>
                    <a:ext uri="{9D8B030D-6E8A-4147-A177-3AD203B41FA5}">
                      <a16:colId xmlns:a16="http://schemas.microsoft.com/office/drawing/2014/main" val="2695860656"/>
                    </a:ext>
                  </a:extLst>
                </a:gridCol>
                <a:gridCol w="731520">
                  <a:extLst>
                    <a:ext uri="{9D8B030D-6E8A-4147-A177-3AD203B41FA5}">
                      <a16:colId xmlns:a16="http://schemas.microsoft.com/office/drawing/2014/main" val="1485341987"/>
                    </a:ext>
                  </a:extLst>
                </a:gridCol>
                <a:gridCol w="694944">
                  <a:extLst>
                    <a:ext uri="{9D8B030D-6E8A-4147-A177-3AD203B41FA5}">
                      <a16:colId xmlns:a16="http://schemas.microsoft.com/office/drawing/2014/main" val="2296635340"/>
                    </a:ext>
                  </a:extLst>
                </a:gridCol>
                <a:gridCol w="694944">
                  <a:extLst>
                    <a:ext uri="{9D8B030D-6E8A-4147-A177-3AD203B41FA5}">
                      <a16:colId xmlns:a16="http://schemas.microsoft.com/office/drawing/2014/main" val="1871903107"/>
                    </a:ext>
                  </a:extLst>
                </a:gridCol>
                <a:gridCol w="694944">
                  <a:extLst>
                    <a:ext uri="{9D8B030D-6E8A-4147-A177-3AD203B41FA5}">
                      <a16:colId xmlns:a16="http://schemas.microsoft.com/office/drawing/2014/main" val="3618404649"/>
                    </a:ext>
                  </a:extLst>
                </a:gridCol>
                <a:gridCol w="768096">
                  <a:extLst>
                    <a:ext uri="{9D8B030D-6E8A-4147-A177-3AD203B41FA5}">
                      <a16:colId xmlns:a16="http://schemas.microsoft.com/office/drawing/2014/main" val="569313341"/>
                    </a:ext>
                  </a:extLst>
                </a:gridCol>
              </a:tblGrid>
              <a:tr h="296266">
                <a:tc>
                  <a:txBody>
                    <a:bodyPr/>
                    <a:lstStyle/>
                    <a:p>
                      <a:pPr algn="ctr"/>
                      <a:r>
                        <a:rPr lang="es-MX" sz="900" b="1">
                          <a:solidFill>
                            <a:srgbClr val="FFFFFF"/>
                          </a:solidFill>
                          <a:latin typeface="Aptos" panose="020B0004020202020204" pitchFamily="34" charset="0"/>
                        </a:rPr>
                        <a:t>product_id</a:t>
                      </a:r>
                    </a:p>
                  </a:txBody>
                  <a:tcPr marL="18288" marR="18288" marT="10973" marB="10973" anchor="ctr">
                    <a:solidFill>
                      <a:srgbClr val="126347"/>
                    </a:solidFill>
                  </a:tcPr>
                </a:tc>
                <a:tc>
                  <a:txBody>
                    <a:bodyPr/>
                    <a:lstStyle/>
                    <a:p>
                      <a:pPr algn="ctr"/>
                      <a:r>
                        <a:rPr lang="es-MX" sz="900" b="1">
                          <a:solidFill>
                            <a:srgbClr val="FFFFFF"/>
                          </a:solidFill>
                          <a:latin typeface="Aptos" panose="020B0004020202020204" pitchFamily="34" charset="0"/>
                        </a:rPr>
                        <a:t>producto</a:t>
                      </a:r>
                    </a:p>
                  </a:txBody>
                  <a:tcPr marL="18288" marR="18288" marT="10973" marB="10973" anchor="ctr">
                    <a:solidFill>
                      <a:srgbClr val="126347"/>
                    </a:solidFill>
                  </a:tcPr>
                </a:tc>
                <a:tc>
                  <a:txBody>
                    <a:bodyPr/>
                    <a:lstStyle/>
                    <a:p>
                      <a:pPr algn="ctr"/>
                      <a:r>
                        <a:rPr lang="es-MX" sz="900" b="1">
                          <a:solidFill>
                            <a:srgbClr val="FFFFFF"/>
                          </a:solidFill>
                          <a:latin typeface="Aptos" panose="020B0004020202020204" pitchFamily="34" charset="0"/>
                        </a:rPr>
                        <a:t>mes_objetivo</a:t>
                      </a:r>
                    </a:p>
                  </a:txBody>
                  <a:tcPr marL="18288" marR="18288" marT="10973" marB="10973" anchor="ctr">
                    <a:solidFill>
                      <a:srgbClr val="126347"/>
                    </a:solidFill>
                  </a:tcPr>
                </a:tc>
                <a:tc>
                  <a:txBody>
                    <a:bodyPr/>
                    <a:lstStyle/>
                    <a:p>
                      <a:pPr algn="ctr"/>
                      <a:r>
                        <a:rPr lang="es-MX" sz="900" b="1">
                          <a:solidFill>
                            <a:srgbClr val="FFFFFF"/>
                          </a:solidFill>
                          <a:latin typeface="Aptos" panose="020B0004020202020204" pitchFamily="34" charset="0"/>
                        </a:rPr>
                        <a:t>demanda_
lag_1m</a:t>
                      </a:r>
                    </a:p>
                  </a:txBody>
                  <a:tcPr marL="18288" marR="18288" marT="10973" marB="10973" anchor="ctr">
                    <a:solidFill>
                      <a:srgbClr val="126347"/>
                    </a:solidFill>
                  </a:tcPr>
                </a:tc>
                <a:tc>
                  <a:txBody>
                    <a:bodyPr/>
                    <a:lstStyle/>
                    <a:p>
                      <a:pPr algn="ctr"/>
                      <a:r>
                        <a:rPr lang="es-MX" sz="900" b="1">
                          <a:solidFill>
                            <a:srgbClr val="FFFFFF"/>
                          </a:solidFill>
                          <a:latin typeface="Aptos" panose="020B0004020202020204" pitchFamily="34" charset="0"/>
                        </a:rPr>
                        <a:t>demanda_
lag_2m</a:t>
                      </a:r>
                    </a:p>
                  </a:txBody>
                  <a:tcPr marL="18288" marR="18288" marT="10973" marB="10973" anchor="ctr">
                    <a:solidFill>
                      <a:srgbClr val="126347"/>
                    </a:solidFill>
                  </a:tcPr>
                </a:tc>
                <a:tc>
                  <a:txBody>
                    <a:bodyPr/>
                    <a:lstStyle/>
                    <a:p>
                      <a:pPr algn="ctr"/>
                      <a:r>
                        <a:rPr lang="es-MX" sz="900" b="1">
                          <a:solidFill>
                            <a:srgbClr val="FFFFFF"/>
                          </a:solidFill>
                          <a:latin typeface="Aptos" panose="020B0004020202020204" pitchFamily="34" charset="0"/>
                        </a:rPr>
                        <a:t>demanda_
lag_3m</a:t>
                      </a:r>
                    </a:p>
                  </a:txBody>
                  <a:tcPr marL="18288" marR="18288" marT="10973" marB="10973" anchor="ctr">
                    <a:solidFill>
                      <a:srgbClr val="126347"/>
                    </a:solidFill>
                  </a:tcPr>
                </a:tc>
                <a:tc>
                  <a:txBody>
                    <a:bodyPr/>
                    <a:lstStyle/>
                    <a:p>
                      <a:pPr algn="ctr"/>
                      <a:r>
                        <a:rPr lang="es-MX" sz="900" b="1">
                          <a:solidFill>
                            <a:srgbClr val="FFFFFF"/>
                          </a:solidFill>
                          <a:latin typeface="Aptos" panose="020B0004020202020204" pitchFamily="34" charset="0"/>
                        </a:rPr>
                        <a:t>Y_unidades_
solicitadas_mes</a:t>
                      </a:r>
                    </a:p>
                  </a:txBody>
                  <a:tcPr marL="18288" marR="18288" marT="10973" marB="10973" anchor="ctr">
                    <a:solidFill>
                      <a:srgbClr val="7C35E8"/>
                    </a:solidFill>
                  </a:tcPr>
                </a:tc>
                <a:extLst>
                  <a:ext uri="{0D108BD9-81ED-4DB2-BD59-A6C34878D82A}">
                    <a16:rowId xmlns:a16="http://schemas.microsoft.com/office/drawing/2014/main" val="4071506727"/>
                  </a:ext>
                </a:extLst>
              </a:tr>
              <a:tr h="296266">
                <a:tc>
                  <a:txBody>
                    <a:bodyPr/>
                    <a:lstStyle/>
                    <a:p>
                      <a:pPr algn="ctr"/>
                      <a:r>
                        <a:rPr lang="es-MX" sz="900">
                          <a:solidFill>
                            <a:srgbClr val="172033"/>
                          </a:solidFill>
                          <a:latin typeface="Aptos" panose="020B0004020202020204" pitchFamily="34" charset="0"/>
                        </a:rPr>
                        <a:t>SYN-PROD-006</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Lavanda</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2026-04</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55</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20</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13</a:t>
                      </a:r>
                    </a:p>
                  </a:txBody>
                  <a:tcPr marL="18288" marR="18288" marT="10973" marB="10973" anchor="ctr">
                    <a:solidFill>
                      <a:srgbClr val="FFFFFF"/>
                    </a:solidFill>
                  </a:tcPr>
                </a:tc>
                <a:tc>
                  <a:txBody>
                    <a:bodyPr/>
                    <a:lstStyle/>
                    <a:p>
                      <a:pPr algn="ctr"/>
                      <a:r>
                        <a:rPr lang="es-MX" sz="900" b="1">
                          <a:solidFill>
                            <a:srgbClr val="172033"/>
                          </a:solidFill>
                          <a:latin typeface="Aptos" panose="020B0004020202020204" pitchFamily="34" charset="0"/>
                        </a:rPr>
                        <a:t>51</a:t>
                      </a:r>
                    </a:p>
                  </a:txBody>
                  <a:tcPr marL="18288" marR="18288" marT="10973" marB="10973" anchor="ctr">
                    <a:solidFill>
                      <a:srgbClr val="F3EAFF"/>
                    </a:solidFill>
                  </a:tcPr>
                </a:tc>
                <a:extLst>
                  <a:ext uri="{0D108BD9-81ED-4DB2-BD59-A6C34878D82A}">
                    <a16:rowId xmlns:a16="http://schemas.microsoft.com/office/drawing/2014/main" val="1643886332"/>
                  </a:ext>
                </a:extLst>
              </a:tr>
              <a:tr h="296266">
                <a:tc>
                  <a:txBody>
                    <a:bodyPr/>
                    <a:lstStyle/>
                    <a:p>
                      <a:pPr algn="ctr"/>
                      <a:r>
                        <a:rPr lang="es-MX" sz="900">
                          <a:solidFill>
                            <a:srgbClr val="172033"/>
                          </a:solidFill>
                          <a:latin typeface="Aptos" panose="020B0004020202020204" pitchFamily="34" charset="0"/>
                        </a:rPr>
                        <a:t>SYN-PROD-006</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Lavanda</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2026-05</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51</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55</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20</a:t>
                      </a:r>
                    </a:p>
                  </a:txBody>
                  <a:tcPr marL="18288" marR="18288" marT="10973" marB="10973" anchor="ctr">
                    <a:solidFill>
                      <a:srgbClr val="EAF1F8"/>
                    </a:solidFill>
                  </a:tcPr>
                </a:tc>
                <a:tc>
                  <a:txBody>
                    <a:bodyPr/>
                    <a:lstStyle/>
                    <a:p>
                      <a:pPr algn="ctr"/>
                      <a:r>
                        <a:rPr lang="es-MX" sz="900" b="1">
                          <a:solidFill>
                            <a:srgbClr val="172033"/>
                          </a:solidFill>
                          <a:latin typeface="Aptos" panose="020B0004020202020204" pitchFamily="34" charset="0"/>
                        </a:rPr>
                        <a:t>46</a:t>
                      </a:r>
                    </a:p>
                  </a:txBody>
                  <a:tcPr marL="18288" marR="18288" marT="10973" marB="10973" anchor="ctr">
                    <a:solidFill>
                      <a:srgbClr val="F3EAFF"/>
                    </a:solidFill>
                  </a:tcPr>
                </a:tc>
                <a:extLst>
                  <a:ext uri="{0D108BD9-81ED-4DB2-BD59-A6C34878D82A}">
                    <a16:rowId xmlns:a16="http://schemas.microsoft.com/office/drawing/2014/main" val="3948364279"/>
                  </a:ext>
                </a:extLst>
              </a:tr>
              <a:tr h="296266">
                <a:tc>
                  <a:txBody>
                    <a:bodyPr/>
                    <a:lstStyle/>
                    <a:p>
                      <a:pPr algn="ctr"/>
                      <a:r>
                        <a:rPr lang="es-MX" sz="900">
                          <a:solidFill>
                            <a:srgbClr val="172033"/>
                          </a:solidFill>
                          <a:latin typeface="Aptos" panose="020B0004020202020204" pitchFamily="34" charset="0"/>
                        </a:rPr>
                        <a:t>SYN-PROD-005</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Eucalipto</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2026-06</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50</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26</a:t>
                      </a:r>
                    </a:p>
                  </a:txBody>
                  <a:tcPr marL="18288" marR="18288" marT="10973" marB="10973" anchor="ctr">
                    <a:solidFill>
                      <a:srgbClr val="FFFFFF"/>
                    </a:solidFill>
                  </a:tcPr>
                </a:tc>
                <a:tc>
                  <a:txBody>
                    <a:bodyPr/>
                    <a:lstStyle/>
                    <a:p>
                      <a:pPr algn="ctr"/>
                      <a:r>
                        <a:rPr lang="es-MX" sz="900">
                          <a:solidFill>
                            <a:srgbClr val="172033"/>
                          </a:solidFill>
                          <a:latin typeface="Aptos" panose="020B0004020202020204" pitchFamily="34" charset="0"/>
                        </a:rPr>
                        <a:t>29</a:t>
                      </a:r>
                    </a:p>
                  </a:txBody>
                  <a:tcPr marL="18288" marR="18288" marT="10973" marB="10973" anchor="ctr">
                    <a:solidFill>
                      <a:srgbClr val="FFFFFF"/>
                    </a:solidFill>
                  </a:tcPr>
                </a:tc>
                <a:tc>
                  <a:txBody>
                    <a:bodyPr/>
                    <a:lstStyle/>
                    <a:p>
                      <a:pPr algn="ctr"/>
                      <a:r>
                        <a:rPr lang="es-MX" sz="900" b="1">
                          <a:solidFill>
                            <a:srgbClr val="172033"/>
                          </a:solidFill>
                          <a:latin typeface="Aptos" panose="020B0004020202020204" pitchFamily="34" charset="0"/>
                        </a:rPr>
                        <a:t>34</a:t>
                      </a:r>
                    </a:p>
                  </a:txBody>
                  <a:tcPr marL="18288" marR="18288" marT="10973" marB="10973" anchor="ctr">
                    <a:solidFill>
                      <a:srgbClr val="F3EAFF"/>
                    </a:solidFill>
                  </a:tcPr>
                </a:tc>
                <a:extLst>
                  <a:ext uri="{0D108BD9-81ED-4DB2-BD59-A6C34878D82A}">
                    <a16:rowId xmlns:a16="http://schemas.microsoft.com/office/drawing/2014/main" val="1229262559"/>
                  </a:ext>
                </a:extLst>
              </a:tr>
              <a:tr h="296266">
                <a:tc>
                  <a:txBody>
                    <a:bodyPr/>
                    <a:lstStyle/>
                    <a:p>
                      <a:pPr algn="ctr"/>
                      <a:r>
                        <a:rPr lang="es-MX" sz="900">
                          <a:solidFill>
                            <a:srgbClr val="172033"/>
                          </a:solidFill>
                          <a:latin typeface="Aptos" panose="020B0004020202020204" pitchFamily="34" charset="0"/>
                        </a:rPr>
                        <a:t>SYN-PROD-006</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Lavanda</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2026-06</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46</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51</a:t>
                      </a:r>
                    </a:p>
                  </a:txBody>
                  <a:tcPr marL="18288" marR="18288" marT="10973" marB="10973" anchor="ctr">
                    <a:solidFill>
                      <a:srgbClr val="EAF1F8"/>
                    </a:solidFill>
                  </a:tcPr>
                </a:tc>
                <a:tc>
                  <a:txBody>
                    <a:bodyPr/>
                    <a:lstStyle/>
                    <a:p>
                      <a:pPr algn="ctr"/>
                      <a:r>
                        <a:rPr lang="es-MX" sz="900">
                          <a:solidFill>
                            <a:srgbClr val="172033"/>
                          </a:solidFill>
                          <a:latin typeface="Aptos" panose="020B0004020202020204" pitchFamily="34" charset="0"/>
                        </a:rPr>
                        <a:t>55</a:t>
                      </a:r>
                    </a:p>
                  </a:txBody>
                  <a:tcPr marL="18288" marR="18288" marT="10973" marB="10973" anchor="ctr">
                    <a:solidFill>
                      <a:srgbClr val="EAF1F8"/>
                    </a:solidFill>
                  </a:tcPr>
                </a:tc>
                <a:tc>
                  <a:txBody>
                    <a:bodyPr/>
                    <a:lstStyle/>
                    <a:p>
                      <a:pPr algn="ctr"/>
                      <a:r>
                        <a:rPr lang="es-MX" sz="900" b="1" dirty="0">
                          <a:solidFill>
                            <a:srgbClr val="172033"/>
                          </a:solidFill>
                          <a:latin typeface="Aptos" panose="020B0004020202020204" pitchFamily="34" charset="0"/>
                        </a:rPr>
                        <a:t>55</a:t>
                      </a:r>
                    </a:p>
                  </a:txBody>
                  <a:tcPr marL="18288" marR="18288" marT="10973" marB="10973" anchor="ctr">
                    <a:solidFill>
                      <a:srgbClr val="F3EAFF"/>
                    </a:solidFill>
                  </a:tcPr>
                </a:tc>
                <a:extLst>
                  <a:ext uri="{0D108BD9-81ED-4DB2-BD59-A6C34878D82A}">
                    <a16:rowId xmlns:a16="http://schemas.microsoft.com/office/drawing/2014/main" val="2795535777"/>
                  </a:ext>
                </a:extLst>
              </a:tr>
            </a:tbl>
          </a:graphicData>
        </a:graphic>
      </p:graphicFrame>
      <p:sp>
        <p:nvSpPr>
          <p:cNvPr id="37" name="Rectángulo: esquinas redondeadas 36">
            <a:extLst>
              <a:ext uri="{FF2B5EF4-FFF2-40B4-BE49-F238E27FC236}">
                <a16:creationId xmlns:a16="http://schemas.microsoft.com/office/drawing/2014/main" id="{9B5658BF-04DA-9C76-5FEF-F3DCD720A6E3}"/>
              </a:ext>
            </a:extLst>
          </p:cNvPr>
          <p:cNvSpPr/>
          <p:nvPr/>
        </p:nvSpPr>
        <p:spPr>
          <a:xfrm>
            <a:off x="6108192" y="3840480"/>
            <a:ext cx="5321808" cy="1298448"/>
          </a:xfrm>
          <a:prstGeom prst="roundRect">
            <a:avLst/>
          </a:prstGeom>
          <a:solidFill>
            <a:srgbClr val="FFF5DE"/>
          </a:solidFill>
          <a:ln w="12700">
            <a:solidFill>
              <a:srgbClr val="D97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8" name="CuadroTexto 37">
            <a:extLst>
              <a:ext uri="{FF2B5EF4-FFF2-40B4-BE49-F238E27FC236}">
                <a16:creationId xmlns:a16="http://schemas.microsoft.com/office/drawing/2014/main" id="{4E272E89-8EB7-2F9C-FDCD-80BEB439E66B}"/>
              </a:ext>
            </a:extLst>
          </p:cNvPr>
          <p:cNvSpPr txBox="1"/>
          <p:nvPr/>
        </p:nvSpPr>
        <p:spPr>
          <a:xfrm>
            <a:off x="6364224" y="3968496"/>
            <a:ext cx="4800600" cy="646331"/>
          </a:xfrm>
          <a:prstGeom prst="rect">
            <a:avLst/>
          </a:prstGeom>
          <a:noFill/>
        </p:spPr>
        <p:txBody>
          <a:bodyPr vert="horz" wrap="square" lIns="36576" tIns="36576" rIns="36576" bIns="36576" rtlCol="0" anchor="t">
            <a:noAutofit/>
          </a:bodyPr>
          <a:lstStyle/>
          <a:p>
            <a:r>
              <a:rPr lang="es-MX" sz="920" b="1">
                <a:solidFill>
                  <a:srgbClr val="D97A00"/>
                </a:solidFill>
                <a:latin typeface="Aptos" panose="020B0004020202020204" pitchFamily="34" charset="0"/>
              </a:rPr>
              <a:t>¿QUÉ SE VA A PREDECIR? — VARIABLE CONTINUA (Y)</a:t>
            </a:r>
          </a:p>
        </p:txBody>
      </p:sp>
      <p:sp>
        <p:nvSpPr>
          <p:cNvPr id="39" name="CuadroTexto 38">
            <a:extLst>
              <a:ext uri="{FF2B5EF4-FFF2-40B4-BE49-F238E27FC236}">
                <a16:creationId xmlns:a16="http://schemas.microsoft.com/office/drawing/2014/main" id="{AA465742-8289-0B02-D6E2-422307964202}"/>
              </a:ext>
            </a:extLst>
          </p:cNvPr>
          <p:cNvSpPr txBox="1"/>
          <p:nvPr/>
        </p:nvSpPr>
        <p:spPr>
          <a:xfrm>
            <a:off x="6364224" y="4325112"/>
            <a:ext cx="4773168" cy="1200329"/>
          </a:xfrm>
          <a:prstGeom prst="rect">
            <a:avLst/>
          </a:prstGeom>
          <a:noFill/>
        </p:spPr>
        <p:txBody>
          <a:bodyPr vert="horz" wrap="square" lIns="36576" tIns="36576" rIns="36576" bIns="36576" rtlCol="0" anchor="t">
            <a:noAutofit/>
          </a:bodyPr>
          <a:lstStyle/>
          <a:p>
            <a:r>
              <a:rPr lang="es-MX" sz="1000" b="1">
                <a:solidFill>
                  <a:srgbClr val="172033"/>
                </a:solidFill>
                <a:latin typeface="Aptos" panose="020B0004020202020204" pitchFamily="34" charset="0"/>
              </a:rPr>
              <a:t>Y_unidades_solicitadas_mes: total de unidades solicitadas en pedidos válidos de cada producto durante el siguiente mes calendario.</a:t>
            </a:r>
          </a:p>
        </p:txBody>
      </p:sp>
      <p:sp>
        <p:nvSpPr>
          <p:cNvPr id="40" name="CuadroTexto 39">
            <a:extLst>
              <a:ext uri="{FF2B5EF4-FFF2-40B4-BE49-F238E27FC236}">
                <a16:creationId xmlns:a16="http://schemas.microsoft.com/office/drawing/2014/main" id="{25BAA88E-9C0E-FA3C-E19F-5987117B1EBA}"/>
              </a:ext>
            </a:extLst>
          </p:cNvPr>
          <p:cNvSpPr txBox="1"/>
          <p:nvPr/>
        </p:nvSpPr>
        <p:spPr>
          <a:xfrm>
            <a:off x="6135624" y="5376672"/>
            <a:ext cx="5230368" cy="923330"/>
          </a:xfrm>
          <a:prstGeom prst="rect">
            <a:avLst/>
          </a:prstGeom>
          <a:noFill/>
        </p:spPr>
        <p:txBody>
          <a:bodyPr vert="horz" wrap="square" lIns="36576" tIns="36576" rIns="36576" bIns="36576" rtlCol="0" anchor="t">
            <a:noAutofit/>
          </a:bodyPr>
          <a:lstStyle/>
          <a:p>
            <a:pPr algn="ctr"/>
            <a:r>
              <a:rPr lang="es-MX" sz="825">
                <a:solidFill>
                  <a:srgbClr val="5D6878"/>
                </a:solidFill>
                <a:latin typeface="Aptos" panose="020B0004020202020204" pitchFamily="34" charset="0"/>
              </a:rPr>
              <a:t>Ejemplos históricos del CSV sintético: Y es observada, no una predicción. El modelo base usa M−1, M−2 y M−3.</a:t>
            </a:r>
          </a:p>
        </p:txBody>
      </p:sp>
      <p:sp>
        <p:nvSpPr>
          <p:cNvPr id="41" name="CuadroTexto 40">
            <a:extLst>
              <a:ext uri="{FF2B5EF4-FFF2-40B4-BE49-F238E27FC236}">
                <a16:creationId xmlns:a16="http://schemas.microsoft.com/office/drawing/2014/main" id="{B99370D0-7A31-9CB3-4F37-46D4AD4B11D1}"/>
              </a:ext>
            </a:extLst>
          </p:cNvPr>
          <p:cNvSpPr txBox="1"/>
          <p:nvPr/>
        </p:nvSpPr>
        <p:spPr>
          <a:xfrm>
            <a:off x="6135624" y="5943600"/>
            <a:ext cx="5230368" cy="646331"/>
          </a:xfrm>
          <a:prstGeom prst="rect">
            <a:avLst/>
          </a:prstGeom>
          <a:noFill/>
        </p:spPr>
        <p:txBody>
          <a:bodyPr vert="horz" wrap="square" lIns="36576" tIns="36576" rIns="36576" bIns="36576" rtlCol="0" anchor="t">
            <a:noAutofit/>
          </a:bodyPr>
          <a:lstStyle/>
          <a:p>
            <a:pPr algn="ctr"/>
            <a:r>
              <a:rPr lang="es-MX" sz="890" b="1">
                <a:solidFill>
                  <a:srgbClr val="7C35E8"/>
                </a:solidFill>
                <a:latin typeface="Aptos" panose="020B0004020202020204" pitchFamily="34" charset="0"/>
              </a:rPr>
              <a:t>UTILIDAD · planear el reabastecimiento y reducir faltantes o exceso de inventario.</a:t>
            </a:r>
          </a:p>
        </p:txBody>
      </p:sp>
    </p:spTree>
    <p:extLst>
      <p:ext uri="{BB962C8B-B14F-4D97-AF65-F5344CB8AC3E}">
        <p14:creationId xmlns:p14="http://schemas.microsoft.com/office/powerpoint/2010/main" val="2365802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78561442-2684-C2D7-6F8B-18E01DF63C91}"/>
              </a:ext>
            </a:extLst>
          </p:cNvPr>
          <p:cNvSpPr/>
          <p:nvPr/>
        </p:nvSpPr>
        <p:spPr>
          <a:xfrm>
            <a:off x="438912" y="201168"/>
            <a:ext cx="438912" cy="438912"/>
          </a:xfrm>
          <a:prstGeom prst="roundRect">
            <a:avLst/>
          </a:prstGeom>
          <a:solidFill>
            <a:srgbClr val="E7F7F0"/>
          </a:solidFill>
          <a:ln w="0">
            <a:solidFill>
              <a:srgbClr val="E7F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CuadroTexto 2">
            <a:extLst>
              <a:ext uri="{FF2B5EF4-FFF2-40B4-BE49-F238E27FC236}">
                <a16:creationId xmlns:a16="http://schemas.microsoft.com/office/drawing/2014/main" id="{19DA8208-7528-9B69-B625-6175AE5FA5F2}"/>
              </a:ext>
            </a:extLst>
          </p:cNvPr>
          <p:cNvSpPr txBox="1"/>
          <p:nvPr/>
        </p:nvSpPr>
        <p:spPr>
          <a:xfrm>
            <a:off x="484632" y="228600"/>
            <a:ext cx="347472" cy="369332"/>
          </a:xfrm>
          <a:prstGeom prst="rect">
            <a:avLst/>
          </a:prstGeom>
          <a:noFill/>
        </p:spPr>
        <p:txBody>
          <a:bodyPr vert="horz" wrap="square" lIns="36576" tIns="36576" rIns="36576" bIns="36576" rtlCol="0" anchor="t">
            <a:noAutofit/>
          </a:bodyPr>
          <a:lstStyle/>
          <a:p>
            <a:pPr algn="ctr"/>
            <a:r>
              <a:rPr lang="es-MX" b="1" dirty="0">
                <a:solidFill>
                  <a:srgbClr val="0A8A63"/>
                </a:solidFill>
                <a:latin typeface="Aptos" panose="020B0004020202020204" pitchFamily="34" charset="0"/>
              </a:rPr>
              <a:t>≋</a:t>
            </a:r>
          </a:p>
        </p:txBody>
      </p:sp>
      <p:sp>
        <p:nvSpPr>
          <p:cNvPr id="4" name="CuadroTexto 3">
            <a:extLst>
              <a:ext uri="{FF2B5EF4-FFF2-40B4-BE49-F238E27FC236}">
                <a16:creationId xmlns:a16="http://schemas.microsoft.com/office/drawing/2014/main" id="{2BCA768A-E762-FD39-2DDC-A4C8715D1255}"/>
              </a:ext>
            </a:extLst>
          </p:cNvPr>
          <p:cNvSpPr txBox="1"/>
          <p:nvPr/>
        </p:nvSpPr>
        <p:spPr>
          <a:xfrm>
            <a:off x="987552" y="228600"/>
            <a:ext cx="8138160" cy="369332"/>
          </a:xfrm>
          <a:prstGeom prst="rect">
            <a:avLst/>
          </a:prstGeom>
          <a:noFill/>
        </p:spPr>
        <p:txBody>
          <a:bodyPr vert="horz" wrap="square" lIns="36576" tIns="36576" rIns="36576" bIns="36576" rtlCol="0" anchor="t">
            <a:noAutofit/>
          </a:bodyPr>
          <a:lstStyle/>
          <a:p>
            <a:r>
              <a:rPr lang="es-MX" sz="2350" b="1">
                <a:solidFill>
                  <a:srgbClr val="172033"/>
                </a:solidFill>
                <a:latin typeface="Aptos" panose="020B0004020202020204" pitchFamily="34" charset="0"/>
              </a:rPr>
              <a:t>Propuesta 3: Segmentación de clientes</a:t>
            </a:r>
          </a:p>
        </p:txBody>
      </p:sp>
      <p:sp>
        <p:nvSpPr>
          <p:cNvPr id="5" name="Rectángulo: esquinas redondeadas 4">
            <a:extLst>
              <a:ext uri="{FF2B5EF4-FFF2-40B4-BE49-F238E27FC236}">
                <a16:creationId xmlns:a16="http://schemas.microsoft.com/office/drawing/2014/main" id="{E2955355-466B-4926-212E-309E982B4F3E}"/>
              </a:ext>
            </a:extLst>
          </p:cNvPr>
          <p:cNvSpPr/>
          <p:nvPr/>
        </p:nvSpPr>
        <p:spPr>
          <a:xfrm>
            <a:off x="9537192" y="265176"/>
            <a:ext cx="2176272" cy="329184"/>
          </a:xfrm>
          <a:prstGeom prst="roundRect">
            <a:avLst/>
          </a:prstGeom>
          <a:solidFill>
            <a:srgbClr val="E7F7F0"/>
          </a:solidFill>
          <a:ln w="8890">
            <a:solidFill>
              <a:srgbClr val="E7F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CuadroTexto 5">
            <a:extLst>
              <a:ext uri="{FF2B5EF4-FFF2-40B4-BE49-F238E27FC236}">
                <a16:creationId xmlns:a16="http://schemas.microsoft.com/office/drawing/2014/main" id="{0D534080-BB08-68D3-DF74-90C1655FAAB5}"/>
              </a:ext>
            </a:extLst>
          </p:cNvPr>
          <p:cNvSpPr txBox="1"/>
          <p:nvPr/>
        </p:nvSpPr>
        <p:spPr>
          <a:xfrm>
            <a:off x="9573768" y="265176"/>
            <a:ext cx="2103120" cy="646331"/>
          </a:xfrm>
          <a:prstGeom prst="rect">
            <a:avLst/>
          </a:prstGeom>
          <a:noFill/>
        </p:spPr>
        <p:txBody>
          <a:bodyPr vert="horz" wrap="square" lIns="36576" tIns="36576" rIns="36576" bIns="36576" rtlCol="0" anchor="t">
            <a:noAutofit/>
          </a:bodyPr>
          <a:lstStyle/>
          <a:p>
            <a:pPr algn="ctr"/>
            <a:r>
              <a:rPr lang="es-MX" sz="940" b="1">
                <a:solidFill>
                  <a:srgbClr val="0A8A63"/>
                </a:solidFill>
                <a:latin typeface="Aptos" panose="020B0004020202020204" pitchFamily="34" charset="0"/>
              </a:rPr>
              <a:t>CLUSTERING NO SUPERVISADO</a:t>
            </a:r>
          </a:p>
        </p:txBody>
      </p:sp>
      <p:sp>
        <p:nvSpPr>
          <p:cNvPr id="7" name="Rectángulo 6">
            <a:extLst>
              <a:ext uri="{FF2B5EF4-FFF2-40B4-BE49-F238E27FC236}">
                <a16:creationId xmlns:a16="http://schemas.microsoft.com/office/drawing/2014/main" id="{0CDE9EE5-B98D-E078-C8FB-7DAB20854D72}"/>
              </a:ext>
            </a:extLst>
          </p:cNvPr>
          <p:cNvSpPr/>
          <p:nvPr/>
        </p:nvSpPr>
        <p:spPr>
          <a:xfrm>
            <a:off x="438912" y="841248"/>
            <a:ext cx="11292840" cy="16459"/>
          </a:xfrm>
          <a:prstGeom prst="rect">
            <a:avLst/>
          </a:prstGeom>
          <a:solidFill>
            <a:srgbClr val="DDE4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esquinas redondeadas 7">
            <a:extLst>
              <a:ext uri="{FF2B5EF4-FFF2-40B4-BE49-F238E27FC236}">
                <a16:creationId xmlns:a16="http://schemas.microsoft.com/office/drawing/2014/main" id="{498B98B8-3876-F4B7-438B-1AD7C3D1697A}"/>
              </a:ext>
            </a:extLst>
          </p:cNvPr>
          <p:cNvSpPr/>
          <p:nvPr/>
        </p:nvSpPr>
        <p:spPr>
          <a:xfrm>
            <a:off x="438912" y="1078992"/>
            <a:ext cx="3858768" cy="5394960"/>
          </a:xfrm>
          <a:prstGeom prst="roundRect">
            <a:avLst/>
          </a:prstGeom>
          <a:solidFill>
            <a:srgbClr val="F7F9FC"/>
          </a:solidFill>
          <a:ln w="1143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38C1FAF0-AD2D-66BE-8BBB-2027A6056D01}"/>
              </a:ext>
            </a:extLst>
          </p:cNvPr>
          <p:cNvSpPr txBox="1"/>
          <p:nvPr/>
        </p:nvSpPr>
        <p:spPr>
          <a:xfrm>
            <a:off x="640080" y="1216152"/>
            <a:ext cx="3456432" cy="369332"/>
          </a:xfrm>
          <a:prstGeom prst="rect">
            <a:avLst/>
          </a:prstGeom>
          <a:noFill/>
        </p:spPr>
        <p:txBody>
          <a:bodyPr vert="horz" wrap="square" lIns="36576" tIns="36576" rIns="36576" bIns="36576" rtlCol="0" anchor="t">
            <a:noAutofit/>
          </a:bodyPr>
          <a:lstStyle/>
          <a:p>
            <a:r>
              <a:rPr lang="es-MX" sz="1120" b="1">
                <a:solidFill>
                  <a:srgbClr val="5D6878"/>
                </a:solidFill>
                <a:latin typeface="Aptos" panose="020B0004020202020204" pitchFamily="34" charset="0"/>
              </a:rPr>
              <a:t>▰  Colecciones MongoDB</a:t>
            </a:r>
          </a:p>
        </p:txBody>
      </p:sp>
      <p:sp>
        <p:nvSpPr>
          <p:cNvPr id="10" name="Rectángulo: esquinas redondeadas 9">
            <a:extLst>
              <a:ext uri="{FF2B5EF4-FFF2-40B4-BE49-F238E27FC236}">
                <a16:creationId xmlns:a16="http://schemas.microsoft.com/office/drawing/2014/main" id="{131B8383-A400-FF4C-2D09-4587EA48F7B3}"/>
              </a:ext>
            </a:extLst>
          </p:cNvPr>
          <p:cNvSpPr/>
          <p:nvPr/>
        </p:nvSpPr>
        <p:spPr>
          <a:xfrm>
            <a:off x="713232" y="1673352"/>
            <a:ext cx="3310128" cy="868680"/>
          </a:xfrm>
          <a:prstGeom prst="roundRect">
            <a:avLst/>
          </a:prstGeom>
          <a:solidFill>
            <a:srgbClr val="FFFFFF"/>
          </a:solidFill>
          <a:ln w="12700">
            <a:solidFill>
              <a:srgbClr val="2F5D88"/>
            </a:solidFill>
          </a:ln>
          <a:effectLst>
            <a:outerShdw blurRad="88900" dist="28398" dir="3806086"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989EA5DA-198D-2200-0718-AF995411FFD8}"/>
              </a:ext>
            </a:extLst>
          </p:cNvPr>
          <p:cNvSpPr/>
          <p:nvPr/>
        </p:nvSpPr>
        <p:spPr>
          <a:xfrm>
            <a:off x="1092951" y="1667780"/>
            <a:ext cx="2526773" cy="310896"/>
          </a:xfrm>
          <a:prstGeom prst="round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CuadroTexto 11">
            <a:extLst>
              <a:ext uri="{FF2B5EF4-FFF2-40B4-BE49-F238E27FC236}">
                <a16:creationId xmlns:a16="http://schemas.microsoft.com/office/drawing/2014/main" id="{02645DDA-55EA-8268-2D06-18B4F8A50065}"/>
              </a:ext>
            </a:extLst>
          </p:cNvPr>
          <p:cNvSpPr txBox="1"/>
          <p:nvPr/>
        </p:nvSpPr>
        <p:spPr>
          <a:xfrm>
            <a:off x="1425572" y="1676977"/>
            <a:ext cx="1801963" cy="273320"/>
          </a:xfrm>
          <a:prstGeom prst="rect">
            <a:avLst/>
          </a:prstGeom>
          <a:noFill/>
        </p:spPr>
        <p:txBody>
          <a:bodyPr vert="horz" wrap="square" lIns="36576" tIns="36576" rIns="36576" bIns="36576" rtlCol="0" anchor="t">
            <a:noAutofit/>
          </a:bodyPr>
          <a:lstStyle/>
          <a:p>
            <a:pPr algn="ctr"/>
            <a:r>
              <a:rPr lang="es-MX" sz="1150" b="1" dirty="0">
                <a:solidFill>
                  <a:srgbClr val="FFFFFF"/>
                </a:solidFill>
                <a:latin typeface="Aptos" panose="020B0004020202020204" pitchFamily="34" charset="0"/>
              </a:rPr>
              <a:t>usuarios</a:t>
            </a:r>
          </a:p>
        </p:txBody>
      </p:sp>
      <p:sp>
        <p:nvSpPr>
          <p:cNvPr id="13" name="CuadroTexto 12">
            <a:extLst>
              <a:ext uri="{FF2B5EF4-FFF2-40B4-BE49-F238E27FC236}">
                <a16:creationId xmlns:a16="http://schemas.microsoft.com/office/drawing/2014/main" id="{0C0B5EC1-CF95-8D36-6F18-4809B4CAD47D}"/>
              </a:ext>
            </a:extLst>
          </p:cNvPr>
          <p:cNvSpPr txBox="1"/>
          <p:nvPr/>
        </p:nvSpPr>
        <p:spPr>
          <a:xfrm>
            <a:off x="859536" y="2066544"/>
            <a:ext cx="3017520" cy="369332"/>
          </a:xfrm>
          <a:prstGeom prst="rect">
            <a:avLst/>
          </a:prstGeom>
          <a:noFill/>
        </p:spPr>
        <p:txBody>
          <a:bodyPr vert="horz" wrap="square" lIns="36576" tIns="36576" rIns="36576" bIns="36576" rtlCol="0" anchor="t">
            <a:noAutofit/>
          </a:bodyPr>
          <a:lstStyle/>
          <a:p>
            <a:r>
              <a:rPr lang="es-MX" sz="910" dirty="0">
                <a:solidFill>
                  <a:srgbClr val="172033"/>
                </a:solidFill>
                <a:latin typeface="Aptos" panose="020B0004020202020204" pitchFamily="34" charset="0"/>
              </a:rPr>
              <a:t>• _</a:t>
            </a:r>
            <a:r>
              <a:rPr lang="es-MX" sz="1200" dirty="0">
                <a:solidFill>
                  <a:srgbClr val="172033"/>
                </a:solidFill>
                <a:latin typeface="Aptos" panose="020B0004020202020204" pitchFamily="34" charset="0"/>
              </a:rPr>
              <a:t>id</a:t>
            </a:r>
            <a:endParaRPr lang="es-MX" sz="910" dirty="0">
              <a:solidFill>
                <a:srgbClr val="172033"/>
              </a:solidFill>
              <a:latin typeface="Aptos" panose="020B0004020202020204" pitchFamily="34" charset="0"/>
            </a:endParaRPr>
          </a:p>
        </p:txBody>
      </p:sp>
      <p:sp>
        <p:nvSpPr>
          <p:cNvPr id="14" name="Rectángulo: esquinas redondeadas 13">
            <a:extLst>
              <a:ext uri="{FF2B5EF4-FFF2-40B4-BE49-F238E27FC236}">
                <a16:creationId xmlns:a16="http://schemas.microsoft.com/office/drawing/2014/main" id="{EBC87413-9054-2016-9AC3-A81656959C7D}"/>
              </a:ext>
            </a:extLst>
          </p:cNvPr>
          <p:cNvSpPr/>
          <p:nvPr/>
        </p:nvSpPr>
        <p:spPr>
          <a:xfrm>
            <a:off x="713232" y="2770632"/>
            <a:ext cx="3310128" cy="1691640"/>
          </a:xfrm>
          <a:prstGeom prst="roundRect">
            <a:avLst/>
          </a:prstGeom>
          <a:solidFill>
            <a:srgbClr val="FFFFFF"/>
          </a:solidFill>
          <a:ln w="12700">
            <a:solidFill>
              <a:srgbClr val="0A8A63"/>
            </a:solidFill>
          </a:ln>
          <a:effectLst>
            <a:outerShdw blurRad="88900" dist="28398" dir="3806086"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esquinas redondeadas 14">
            <a:extLst>
              <a:ext uri="{FF2B5EF4-FFF2-40B4-BE49-F238E27FC236}">
                <a16:creationId xmlns:a16="http://schemas.microsoft.com/office/drawing/2014/main" id="{0CD0CD7F-396C-10E8-9E4B-E01264AF4ADD}"/>
              </a:ext>
            </a:extLst>
          </p:cNvPr>
          <p:cNvSpPr/>
          <p:nvPr/>
        </p:nvSpPr>
        <p:spPr>
          <a:xfrm>
            <a:off x="985199" y="2802636"/>
            <a:ext cx="2738763" cy="310896"/>
          </a:xfrm>
          <a:prstGeom prst="round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CuadroTexto 15">
            <a:extLst>
              <a:ext uri="{FF2B5EF4-FFF2-40B4-BE49-F238E27FC236}">
                <a16:creationId xmlns:a16="http://schemas.microsoft.com/office/drawing/2014/main" id="{124188E5-986D-ED92-F64C-57CA7A328DD7}"/>
              </a:ext>
            </a:extLst>
          </p:cNvPr>
          <p:cNvSpPr txBox="1"/>
          <p:nvPr/>
        </p:nvSpPr>
        <p:spPr>
          <a:xfrm>
            <a:off x="1306457" y="2802636"/>
            <a:ext cx="1920997" cy="310896"/>
          </a:xfrm>
          <a:prstGeom prst="rect">
            <a:avLst/>
          </a:prstGeom>
          <a:noFill/>
        </p:spPr>
        <p:txBody>
          <a:bodyPr vert="horz" wrap="square" lIns="36576" tIns="36576" rIns="36576" bIns="36576" rtlCol="0" anchor="t">
            <a:noAutofit/>
          </a:bodyPr>
          <a:lstStyle/>
          <a:p>
            <a:pPr algn="ctr"/>
            <a:r>
              <a:rPr lang="es-MX" sz="1150" b="1" dirty="0">
                <a:solidFill>
                  <a:srgbClr val="FFFFFF"/>
                </a:solidFill>
                <a:latin typeface="Aptos" panose="020B0004020202020204" pitchFamily="34" charset="0"/>
              </a:rPr>
              <a:t>pedidos</a:t>
            </a:r>
          </a:p>
        </p:txBody>
      </p:sp>
      <p:sp>
        <p:nvSpPr>
          <p:cNvPr id="17" name="CuadroTexto 16">
            <a:extLst>
              <a:ext uri="{FF2B5EF4-FFF2-40B4-BE49-F238E27FC236}">
                <a16:creationId xmlns:a16="http://schemas.microsoft.com/office/drawing/2014/main" id="{64CFFD3A-C4D2-25C3-A034-EBAAC7165AD5}"/>
              </a:ext>
            </a:extLst>
          </p:cNvPr>
          <p:cNvSpPr txBox="1"/>
          <p:nvPr/>
        </p:nvSpPr>
        <p:spPr>
          <a:xfrm>
            <a:off x="859535" y="3163824"/>
            <a:ext cx="2738763" cy="950976"/>
          </a:xfrm>
          <a:prstGeom prst="rect">
            <a:avLst/>
          </a:prstGeom>
          <a:noFill/>
        </p:spPr>
        <p:txBody>
          <a:bodyPr vert="horz" wrap="square" lIns="36576" tIns="36576" rIns="36576" bIns="36576" rtlCol="0" anchor="t">
            <a:noAutofit/>
          </a:bodyPr>
          <a:lstStyle/>
          <a:p>
            <a:r>
              <a:rPr lang="es-MX" sz="1200" dirty="0">
                <a:solidFill>
                  <a:srgbClr val="172033"/>
                </a:solidFill>
                <a:latin typeface="Aptos" panose="020B0004020202020204" pitchFamily="34" charset="0"/>
              </a:rPr>
              <a:t>• </a:t>
            </a:r>
            <a:r>
              <a:rPr lang="es-MX" sz="1200" dirty="0" err="1">
                <a:solidFill>
                  <a:srgbClr val="172033"/>
                </a:solidFill>
                <a:latin typeface="Aptos" panose="020B0004020202020204" pitchFamily="34" charset="0"/>
              </a:rPr>
              <a:t>customerUserId</a:t>
            </a:r>
            <a:r>
              <a:rPr lang="es-MX" sz="1200" dirty="0">
                <a:solidFill>
                  <a:srgbClr val="172033"/>
                </a:solidFill>
                <a:latin typeface="Aptos" panose="020B0004020202020204" pitchFamily="34" charset="0"/>
              </a:rPr>
              <a:t>
• status
• </a:t>
            </a:r>
            <a:r>
              <a:rPr lang="es-MX" sz="1200" dirty="0" err="1">
                <a:solidFill>
                  <a:srgbClr val="172033"/>
                </a:solidFill>
                <a:latin typeface="Aptos" panose="020B0004020202020204" pitchFamily="34" charset="0"/>
              </a:rPr>
              <a:t>createdAt</a:t>
            </a:r>
            <a:r>
              <a:rPr lang="es-MX" sz="1200" dirty="0">
                <a:solidFill>
                  <a:srgbClr val="172033"/>
                </a:solidFill>
                <a:latin typeface="Aptos" panose="020B0004020202020204" pitchFamily="34" charset="0"/>
              </a:rPr>
              <a:t>
• subtotal</a:t>
            </a:r>
          </a:p>
        </p:txBody>
      </p:sp>
      <p:sp>
        <p:nvSpPr>
          <p:cNvPr id="18" name="Rectángulo: esquinas redondeadas 17">
            <a:extLst>
              <a:ext uri="{FF2B5EF4-FFF2-40B4-BE49-F238E27FC236}">
                <a16:creationId xmlns:a16="http://schemas.microsoft.com/office/drawing/2014/main" id="{1BFE6DF4-29E2-6F12-79FA-A93027506CF2}"/>
              </a:ext>
            </a:extLst>
          </p:cNvPr>
          <p:cNvSpPr/>
          <p:nvPr/>
        </p:nvSpPr>
        <p:spPr>
          <a:xfrm>
            <a:off x="713232" y="4736592"/>
            <a:ext cx="3310128" cy="1143000"/>
          </a:xfrm>
          <a:prstGeom prst="roundRect">
            <a:avLst/>
          </a:prstGeom>
          <a:solidFill>
            <a:srgbClr val="EAF1F8"/>
          </a:solidFill>
          <a:ln w="10160">
            <a:solidFill>
              <a:srgbClr val="2F5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CuadroTexto 18">
            <a:extLst>
              <a:ext uri="{FF2B5EF4-FFF2-40B4-BE49-F238E27FC236}">
                <a16:creationId xmlns:a16="http://schemas.microsoft.com/office/drawing/2014/main" id="{323E26D0-39C1-F756-2F83-8450A2E93A53}"/>
              </a:ext>
            </a:extLst>
          </p:cNvPr>
          <p:cNvSpPr txBox="1"/>
          <p:nvPr/>
        </p:nvSpPr>
        <p:spPr>
          <a:xfrm>
            <a:off x="877824" y="4855464"/>
            <a:ext cx="2944368" cy="646331"/>
          </a:xfrm>
          <a:prstGeom prst="rect">
            <a:avLst/>
          </a:prstGeom>
          <a:noFill/>
        </p:spPr>
        <p:txBody>
          <a:bodyPr vert="horz" wrap="square" lIns="36576" tIns="36576" rIns="36576" bIns="36576" rtlCol="0" anchor="t">
            <a:noAutofit/>
          </a:bodyPr>
          <a:lstStyle/>
          <a:p>
            <a:pPr algn="ctr"/>
            <a:r>
              <a:rPr lang="es-MX" sz="820" b="1">
                <a:solidFill>
                  <a:srgbClr val="2F5D88"/>
                </a:solidFill>
                <a:latin typeface="Aptos" panose="020B0004020202020204" pitchFamily="34" charset="0"/>
              </a:rPr>
              <a:t>RELACIÓN LÓGICA POR IDENTIFICADOR</a:t>
            </a:r>
          </a:p>
        </p:txBody>
      </p:sp>
      <p:sp>
        <p:nvSpPr>
          <p:cNvPr id="20" name="CuadroTexto 19">
            <a:extLst>
              <a:ext uri="{FF2B5EF4-FFF2-40B4-BE49-F238E27FC236}">
                <a16:creationId xmlns:a16="http://schemas.microsoft.com/office/drawing/2014/main" id="{977123BC-807E-0DE6-5EAC-BC0707CB3663}"/>
              </a:ext>
            </a:extLst>
          </p:cNvPr>
          <p:cNvSpPr txBox="1"/>
          <p:nvPr/>
        </p:nvSpPr>
        <p:spPr>
          <a:xfrm>
            <a:off x="932688" y="5157216"/>
            <a:ext cx="2834640" cy="923330"/>
          </a:xfrm>
          <a:prstGeom prst="rect">
            <a:avLst/>
          </a:prstGeom>
          <a:noFill/>
        </p:spPr>
        <p:txBody>
          <a:bodyPr vert="horz" wrap="square" lIns="36576" tIns="36576" rIns="36576" bIns="36576" rtlCol="0" anchor="t">
            <a:noAutofit/>
          </a:bodyPr>
          <a:lstStyle/>
          <a:p>
            <a:pPr algn="ctr"/>
            <a:r>
              <a:rPr lang="es-MX" sz="920" b="1">
                <a:solidFill>
                  <a:srgbClr val="172033"/>
                </a:solidFill>
                <a:latin typeface="Aptos" panose="020B0004020202020204" pitchFamily="34" charset="0"/>
              </a:rPr>
              <a:t>usuarios._id.toString()
↕
pedidos.customerUserId</a:t>
            </a:r>
          </a:p>
        </p:txBody>
      </p:sp>
      <p:sp>
        <p:nvSpPr>
          <p:cNvPr id="21" name="CuadroTexto 20">
            <a:extLst>
              <a:ext uri="{FF2B5EF4-FFF2-40B4-BE49-F238E27FC236}">
                <a16:creationId xmlns:a16="http://schemas.microsoft.com/office/drawing/2014/main" id="{36BFE5DA-FCDA-6BC3-D407-4AC499902260}"/>
              </a:ext>
            </a:extLst>
          </p:cNvPr>
          <p:cNvSpPr txBox="1"/>
          <p:nvPr/>
        </p:nvSpPr>
        <p:spPr>
          <a:xfrm>
            <a:off x="4270248" y="1901952"/>
            <a:ext cx="1572768" cy="3416320"/>
          </a:xfrm>
          <a:prstGeom prst="rect">
            <a:avLst/>
          </a:prstGeom>
          <a:noFill/>
        </p:spPr>
        <p:txBody>
          <a:bodyPr vert="horz" wrap="square" lIns="36576" tIns="36576" rIns="36576" bIns="36576" rtlCol="0" anchor="t">
            <a:noAutofit/>
          </a:bodyPr>
          <a:lstStyle/>
          <a:p>
            <a:pPr algn="ctr"/>
            <a:r>
              <a:rPr lang="es-MX" sz="715" b="1">
                <a:solidFill>
                  <a:srgbClr val="172033"/>
                </a:solidFill>
                <a:latin typeface="Aptos" panose="020B0004020202020204" pitchFamily="34" charset="0"/>
              </a:rPr>
              <a:t>TRANSFORMACIÓN
1. Filtrar completed + usuario
2. Agrupar por cliente
3. Calcular RFM
4. Estandarizar</a:t>
            </a:r>
          </a:p>
        </p:txBody>
      </p:sp>
      <p:sp>
        <p:nvSpPr>
          <p:cNvPr id="22" name="Flecha: a la derecha 21">
            <a:extLst>
              <a:ext uri="{FF2B5EF4-FFF2-40B4-BE49-F238E27FC236}">
                <a16:creationId xmlns:a16="http://schemas.microsoft.com/office/drawing/2014/main" id="{415B0DB1-174B-B1E4-DFD7-52E90DEA420B}"/>
              </a:ext>
            </a:extLst>
          </p:cNvPr>
          <p:cNvSpPr/>
          <p:nvPr/>
        </p:nvSpPr>
        <p:spPr>
          <a:xfrm>
            <a:off x="4471416" y="3538728"/>
            <a:ext cx="1170432" cy="576072"/>
          </a:xfrm>
          <a:prstGeom prst="rightArrow">
            <a:avLst/>
          </a:prstGeom>
          <a:solidFill>
            <a:srgbClr val="0A8A6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7751A2BC-5E3F-83E8-367F-AA3ADB5EC034}"/>
              </a:ext>
            </a:extLst>
          </p:cNvPr>
          <p:cNvSpPr txBox="1"/>
          <p:nvPr/>
        </p:nvSpPr>
        <p:spPr>
          <a:xfrm>
            <a:off x="4407408" y="4489704"/>
            <a:ext cx="1298448" cy="1200329"/>
          </a:xfrm>
          <a:prstGeom prst="rect">
            <a:avLst/>
          </a:prstGeom>
          <a:noFill/>
        </p:spPr>
        <p:txBody>
          <a:bodyPr vert="horz" wrap="square" lIns="36576" tIns="36576" rIns="36576" bIns="36576" rtlCol="0" anchor="t">
            <a:noAutofit/>
          </a:bodyPr>
          <a:lstStyle/>
          <a:p>
            <a:pPr algn="ctr"/>
            <a:r>
              <a:rPr lang="es-MX" sz="770" b="1">
                <a:solidFill>
                  <a:srgbClr val="5D6878"/>
                </a:solidFill>
                <a:latin typeface="Aptos" panose="020B0004020202020204" pitchFamily="34" charset="0"/>
              </a:rPr>
              <a:t>Fecha de corte:
30/06/2026</a:t>
            </a:r>
          </a:p>
        </p:txBody>
      </p:sp>
      <p:sp>
        <p:nvSpPr>
          <p:cNvPr id="24" name="Rectángulo: esquinas redondeadas 23">
            <a:extLst>
              <a:ext uri="{FF2B5EF4-FFF2-40B4-BE49-F238E27FC236}">
                <a16:creationId xmlns:a16="http://schemas.microsoft.com/office/drawing/2014/main" id="{D952A088-7D54-21A5-10DA-D359622B7E01}"/>
              </a:ext>
            </a:extLst>
          </p:cNvPr>
          <p:cNvSpPr/>
          <p:nvPr/>
        </p:nvSpPr>
        <p:spPr>
          <a:xfrm>
            <a:off x="5806440" y="1078992"/>
            <a:ext cx="5925312" cy="5394960"/>
          </a:xfrm>
          <a:prstGeom prst="roundRect">
            <a:avLst/>
          </a:prstGeom>
          <a:solidFill>
            <a:srgbClr val="F7F9FC"/>
          </a:solidFill>
          <a:ln w="1143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CuadroTexto 24">
            <a:extLst>
              <a:ext uri="{FF2B5EF4-FFF2-40B4-BE49-F238E27FC236}">
                <a16:creationId xmlns:a16="http://schemas.microsoft.com/office/drawing/2014/main" id="{B97D787A-494A-E50B-A1B4-213FF846A172}"/>
              </a:ext>
            </a:extLst>
          </p:cNvPr>
          <p:cNvSpPr txBox="1"/>
          <p:nvPr/>
        </p:nvSpPr>
        <p:spPr>
          <a:xfrm>
            <a:off x="6376614" y="1150358"/>
            <a:ext cx="2876681" cy="369332"/>
          </a:xfrm>
          <a:prstGeom prst="rect">
            <a:avLst/>
          </a:prstGeom>
          <a:noFill/>
        </p:spPr>
        <p:txBody>
          <a:bodyPr vert="horz" wrap="square" lIns="36576" tIns="36576" rIns="36576" bIns="36576" rtlCol="0" anchor="t">
            <a:noAutofit/>
          </a:bodyPr>
          <a:lstStyle/>
          <a:p>
            <a:r>
              <a:rPr lang="es-MX" sz="1120" b="1">
                <a:solidFill>
                  <a:srgbClr val="5D6878"/>
                </a:solidFill>
                <a:latin typeface="Aptos" panose="020B0004020202020204" pitchFamily="34" charset="0"/>
              </a:rPr>
              <a:t>▦  Dataset / DataFrame resultante</a:t>
            </a:r>
          </a:p>
        </p:txBody>
      </p:sp>
      <p:sp>
        <p:nvSpPr>
          <p:cNvPr id="26" name="Rectángulo: esquinas redondeadas 25">
            <a:extLst>
              <a:ext uri="{FF2B5EF4-FFF2-40B4-BE49-F238E27FC236}">
                <a16:creationId xmlns:a16="http://schemas.microsoft.com/office/drawing/2014/main" id="{AD270AEB-C18C-CFA5-0BC1-C360F87212CC}"/>
              </a:ext>
            </a:extLst>
          </p:cNvPr>
          <p:cNvSpPr/>
          <p:nvPr/>
        </p:nvSpPr>
        <p:spPr>
          <a:xfrm>
            <a:off x="6108192" y="1490472"/>
            <a:ext cx="2450592" cy="265176"/>
          </a:xfrm>
          <a:prstGeom prst="roundRect">
            <a:avLst/>
          </a:prstGeom>
          <a:solidFill>
            <a:srgbClr val="EAF1F8"/>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6C0BEFB9-288E-99D9-CE58-7702415A8AB8}"/>
              </a:ext>
            </a:extLst>
          </p:cNvPr>
          <p:cNvSpPr txBox="1"/>
          <p:nvPr/>
        </p:nvSpPr>
        <p:spPr>
          <a:xfrm>
            <a:off x="6144768" y="1490472"/>
            <a:ext cx="2377440" cy="646331"/>
          </a:xfrm>
          <a:prstGeom prst="rect">
            <a:avLst/>
          </a:prstGeom>
          <a:noFill/>
        </p:spPr>
        <p:txBody>
          <a:bodyPr vert="horz" wrap="square" lIns="36576" tIns="36576" rIns="36576" bIns="36576" rtlCol="0" anchor="t">
            <a:noAutofit/>
          </a:bodyPr>
          <a:lstStyle/>
          <a:p>
            <a:pPr algn="ctr"/>
            <a:r>
              <a:rPr lang="es-MX" sz="770" b="1">
                <a:solidFill>
                  <a:srgbClr val="2F5D88"/>
                </a:solidFill>
                <a:latin typeface="Aptos" panose="020B0004020202020204" pitchFamily="34" charset="0"/>
              </a:rPr>
              <a:t>Vista RFM: una fila por cliente</a:t>
            </a:r>
          </a:p>
        </p:txBody>
      </p:sp>
      <p:sp>
        <p:nvSpPr>
          <p:cNvPr id="28" name="Rectángulo: esquinas redondeadas 27">
            <a:extLst>
              <a:ext uri="{FF2B5EF4-FFF2-40B4-BE49-F238E27FC236}">
                <a16:creationId xmlns:a16="http://schemas.microsoft.com/office/drawing/2014/main" id="{A5BE081C-7D43-B06C-1C63-073D30381018}"/>
              </a:ext>
            </a:extLst>
          </p:cNvPr>
          <p:cNvSpPr/>
          <p:nvPr/>
        </p:nvSpPr>
        <p:spPr>
          <a:xfrm>
            <a:off x="8759952" y="1490472"/>
            <a:ext cx="2670048" cy="265176"/>
          </a:xfrm>
          <a:prstGeom prst="roundRect">
            <a:avLst/>
          </a:prstGeom>
          <a:solidFill>
            <a:srgbClr val="E7F7F0"/>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CuadroTexto 28">
            <a:extLst>
              <a:ext uri="{FF2B5EF4-FFF2-40B4-BE49-F238E27FC236}">
                <a16:creationId xmlns:a16="http://schemas.microsoft.com/office/drawing/2014/main" id="{75584EEE-E342-5432-0175-DDFA1BC1D366}"/>
              </a:ext>
            </a:extLst>
          </p:cNvPr>
          <p:cNvSpPr txBox="1"/>
          <p:nvPr/>
        </p:nvSpPr>
        <p:spPr>
          <a:xfrm>
            <a:off x="8796528" y="1490472"/>
            <a:ext cx="2596896" cy="646331"/>
          </a:xfrm>
          <a:prstGeom prst="rect">
            <a:avLst/>
          </a:prstGeom>
          <a:noFill/>
        </p:spPr>
        <p:txBody>
          <a:bodyPr vert="horz" wrap="square" lIns="36576" tIns="36576" rIns="36576" bIns="36576" rtlCol="0" anchor="t">
            <a:noAutofit/>
          </a:bodyPr>
          <a:lstStyle/>
          <a:p>
            <a:pPr algn="ctr"/>
            <a:r>
              <a:rPr lang="es-MX" sz="770" b="1">
                <a:solidFill>
                  <a:srgbClr val="0A8A63"/>
                </a:solidFill>
                <a:latin typeface="Aptos" panose="020B0004020202020204" pitchFamily="34" charset="0"/>
              </a:rPr>
              <a:t>300 clientes sintéticos · 3 RFM · sin Y</a:t>
            </a:r>
          </a:p>
        </p:txBody>
      </p:sp>
      <p:sp>
        <p:nvSpPr>
          <p:cNvPr id="30" name="Rectángulo: esquinas redondeadas 29">
            <a:extLst>
              <a:ext uri="{FF2B5EF4-FFF2-40B4-BE49-F238E27FC236}">
                <a16:creationId xmlns:a16="http://schemas.microsoft.com/office/drawing/2014/main" id="{0B84705F-1A2B-CE08-1979-1DDADA8CE9AD}"/>
              </a:ext>
            </a:extLst>
          </p:cNvPr>
          <p:cNvSpPr/>
          <p:nvPr/>
        </p:nvSpPr>
        <p:spPr>
          <a:xfrm>
            <a:off x="6108192" y="1856232"/>
            <a:ext cx="1325880" cy="201168"/>
          </a:xfrm>
          <a:prstGeom prst="roundRect">
            <a:avLst/>
          </a:prstGeom>
          <a:solidFill>
            <a:srgbClr val="EAF1F8"/>
          </a:solidFill>
          <a:ln w="0">
            <a:solidFill>
              <a:srgbClr val="EAF1F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CuadroTexto 30">
            <a:extLst>
              <a:ext uri="{FF2B5EF4-FFF2-40B4-BE49-F238E27FC236}">
                <a16:creationId xmlns:a16="http://schemas.microsoft.com/office/drawing/2014/main" id="{6B241715-129F-5CF0-ACB1-20213409BB99}"/>
              </a:ext>
            </a:extLst>
          </p:cNvPr>
          <p:cNvSpPr txBox="1"/>
          <p:nvPr/>
        </p:nvSpPr>
        <p:spPr>
          <a:xfrm>
            <a:off x="6126480" y="1856232"/>
            <a:ext cx="1289304" cy="369332"/>
          </a:xfrm>
          <a:prstGeom prst="rect">
            <a:avLst/>
          </a:prstGeom>
          <a:noFill/>
        </p:spPr>
        <p:txBody>
          <a:bodyPr vert="horz" wrap="square" lIns="36576" tIns="36576" rIns="36576" bIns="36576" rtlCol="0" anchor="t">
            <a:noAutofit/>
          </a:bodyPr>
          <a:lstStyle/>
          <a:p>
            <a:pPr algn="ctr"/>
            <a:r>
              <a:rPr lang="es-MX" sz="690" b="1">
                <a:solidFill>
                  <a:srgbClr val="2F5D88"/>
                </a:solidFill>
                <a:latin typeface="Aptos" panose="020B0004020202020204" pitchFamily="34" charset="0"/>
              </a:rPr>
              <a:t>CONTROL</a:t>
            </a:r>
          </a:p>
        </p:txBody>
      </p:sp>
      <p:sp>
        <p:nvSpPr>
          <p:cNvPr id="32" name="Rectángulo: esquinas redondeadas 31">
            <a:extLst>
              <a:ext uri="{FF2B5EF4-FFF2-40B4-BE49-F238E27FC236}">
                <a16:creationId xmlns:a16="http://schemas.microsoft.com/office/drawing/2014/main" id="{5942D9C1-3181-1F54-DD61-86F6ECBDA6C4}"/>
              </a:ext>
            </a:extLst>
          </p:cNvPr>
          <p:cNvSpPr/>
          <p:nvPr/>
        </p:nvSpPr>
        <p:spPr>
          <a:xfrm>
            <a:off x="7434072" y="1856232"/>
            <a:ext cx="3995928" cy="201168"/>
          </a:xfrm>
          <a:prstGeom prst="roundRect">
            <a:avLst/>
          </a:prstGeom>
          <a:solidFill>
            <a:srgbClr val="E7F7F0"/>
          </a:solidFill>
          <a:ln w="0">
            <a:solidFill>
              <a:srgbClr val="E7F7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CuadroTexto 32">
            <a:extLst>
              <a:ext uri="{FF2B5EF4-FFF2-40B4-BE49-F238E27FC236}">
                <a16:creationId xmlns:a16="http://schemas.microsoft.com/office/drawing/2014/main" id="{CC6A3298-8F4D-D7F9-B347-4945D9128A79}"/>
              </a:ext>
            </a:extLst>
          </p:cNvPr>
          <p:cNvSpPr txBox="1"/>
          <p:nvPr/>
        </p:nvSpPr>
        <p:spPr>
          <a:xfrm>
            <a:off x="7452360" y="1856232"/>
            <a:ext cx="3959352" cy="369332"/>
          </a:xfrm>
          <a:prstGeom prst="rect">
            <a:avLst/>
          </a:prstGeom>
          <a:noFill/>
        </p:spPr>
        <p:txBody>
          <a:bodyPr vert="horz" wrap="square" lIns="36576" tIns="36576" rIns="36576" bIns="36576" rtlCol="0" anchor="t">
            <a:noAutofit/>
          </a:bodyPr>
          <a:lstStyle/>
          <a:p>
            <a:pPr algn="ctr"/>
            <a:r>
              <a:rPr lang="es-MX" sz="690" b="1">
                <a:solidFill>
                  <a:srgbClr val="0A8A63"/>
                </a:solidFill>
                <a:latin typeface="Aptos" panose="020B0004020202020204" pitchFamily="34" charset="0"/>
              </a:rPr>
              <a:t>VARIABLES PARA AGRUPAMIENTO (X)</a:t>
            </a:r>
          </a:p>
        </p:txBody>
      </p:sp>
      <p:graphicFrame>
        <p:nvGraphicFramePr>
          <p:cNvPr id="34" name="Tabla 33">
            <a:extLst>
              <a:ext uri="{FF2B5EF4-FFF2-40B4-BE49-F238E27FC236}">
                <a16:creationId xmlns:a16="http://schemas.microsoft.com/office/drawing/2014/main" id="{79DA3034-48A5-4250-00B4-2D564C0E7D3B}"/>
              </a:ext>
            </a:extLst>
          </p:cNvPr>
          <p:cNvGraphicFramePr>
            <a:graphicFrameLocks noGrp="1"/>
          </p:cNvGraphicFramePr>
          <p:nvPr>
            <p:extLst>
              <p:ext uri="{D42A27DB-BD31-4B8C-83A1-F6EECF244321}">
                <p14:modId xmlns:p14="http://schemas.microsoft.com/office/powerpoint/2010/main" val="2518840928"/>
              </p:ext>
            </p:extLst>
          </p:nvPr>
        </p:nvGraphicFramePr>
        <p:xfrm>
          <a:off x="6108192" y="2084832"/>
          <a:ext cx="5321808" cy="148133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946612948"/>
                    </a:ext>
                  </a:extLst>
                </a:gridCol>
                <a:gridCol w="1234440">
                  <a:extLst>
                    <a:ext uri="{9D8B030D-6E8A-4147-A177-3AD203B41FA5}">
                      <a16:colId xmlns:a16="http://schemas.microsoft.com/office/drawing/2014/main" val="2134515497"/>
                    </a:ext>
                  </a:extLst>
                </a:gridCol>
                <a:gridCol w="1325880">
                  <a:extLst>
                    <a:ext uri="{9D8B030D-6E8A-4147-A177-3AD203B41FA5}">
                      <a16:colId xmlns:a16="http://schemas.microsoft.com/office/drawing/2014/main" val="1725729951"/>
                    </a:ext>
                  </a:extLst>
                </a:gridCol>
                <a:gridCol w="1435608">
                  <a:extLst>
                    <a:ext uri="{9D8B030D-6E8A-4147-A177-3AD203B41FA5}">
                      <a16:colId xmlns:a16="http://schemas.microsoft.com/office/drawing/2014/main" val="2326221509"/>
                    </a:ext>
                  </a:extLst>
                </a:gridCol>
              </a:tblGrid>
              <a:tr h="296266">
                <a:tc>
                  <a:txBody>
                    <a:bodyPr/>
                    <a:lstStyle/>
                    <a:p>
                      <a:pPr algn="ctr"/>
                      <a:r>
                        <a:rPr lang="es-MX" sz="1050" b="1" dirty="0" err="1">
                          <a:solidFill>
                            <a:srgbClr val="FFFFFF"/>
                          </a:solidFill>
                          <a:latin typeface="Aptos" panose="020B0004020202020204" pitchFamily="34" charset="0"/>
                        </a:rPr>
                        <a:t>Client_id</a:t>
                      </a:r>
                      <a:endParaRPr lang="es-MX" sz="1050" b="1" dirty="0">
                        <a:solidFill>
                          <a:srgbClr val="FFFFFF"/>
                        </a:solidFill>
                        <a:latin typeface="Aptos" panose="020B0004020202020204" pitchFamily="34" charset="0"/>
                      </a:endParaRPr>
                    </a:p>
                  </a:txBody>
                  <a:tcPr marL="18288" marR="18288" marT="10973" marB="10973" anchor="ctr">
                    <a:solidFill>
                      <a:srgbClr val="126347"/>
                    </a:solidFill>
                  </a:tcPr>
                </a:tc>
                <a:tc>
                  <a:txBody>
                    <a:bodyPr/>
                    <a:lstStyle/>
                    <a:p>
                      <a:pPr algn="ctr"/>
                      <a:r>
                        <a:rPr lang="es-MX" sz="1050" b="1" dirty="0" err="1">
                          <a:solidFill>
                            <a:srgbClr val="FFFFFF"/>
                          </a:solidFill>
                          <a:latin typeface="Aptos" panose="020B0004020202020204" pitchFamily="34" charset="0"/>
                        </a:rPr>
                        <a:t>recency_days</a:t>
                      </a:r>
                      <a:endParaRPr lang="es-MX" sz="1050" b="1" dirty="0">
                        <a:solidFill>
                          <a:srgbClr val="FFFFFF"/>
                        </a:solidFill>
                        <a:latin typeface="Aptos" panose="020B0004020202020204" pitchFamily="34" charset="0"/>
                      </a:endParaRPr>
                    </a:p>
                  </a:txBody>
                  <a:tcPr marL="18288" marR="18288" marT="10973" marB="10973" anchor="ctr">
                    <a:solidFill>
                      <a:srgbClr val="126347"/>
                    </a:solidFill>
                  </a:tcPr>
                </a:tc>
                <a:tc>
                  <a:txBody>
                    <a:bodyPr/>
                    <a:lstStyle/>
                    <a:p>
                      <a:pPr algn="ctr"/>
                      <a:r>
                        <a:rPr lang="es-MX" sz="1050" b="1">
                          <a:solidFill>
                            <a:srgbClr val="FFFFFF"/>
                          </a:solidFill>
                          <a:latin typeface="Aptos" panose="020B0004020202020204" pitchFamily="34" charset="0"/>
                        </a:rPr>
                        <a:t>frequency_orders</a:t>
                      </a:r>
                    </a:p>
                  </a:txBody>
                  <a:tcPr marL="18288" marR="18288" marT="10973" marB="10973" anchor="ctr">
                    <a:solidFill>
                      <a:srgbClr val="126347"/>
                    </a:solidFill>
                  </a:tcPr>
                </a:tc>
                <a:tc>
                  <a:txBody>
                    <a:bodyPr/>
                    <a:lstStyle/>
                    <a:p>
                      <a:pPr algn="ctr"/>
                      <a:r>
                        <a:rPr lang="es-MX" sz="1050" b="1">
                          <a:solidFill>
                            <a:srgbClr val="FFFFFF"/>
                          </a:solidFill>
                          <a:latin typeface="Aptos" panose="020B0004020202020204" pitchFamily="34" charset="0"/>
                        </a:rPr>
                        <a:t>monetary_value</a:t>
                      </a:r>
                    </a:p>
                  </a:txBody>
                  <a:tcPr marL="18288" marR="18288" marT="10973" marB="10973" anchor="ctr">
                    <a:solidFill>
                      <a:srgbClr val="126347"/>
                    </a:solidFill>
                  </a:tcPr>
                </a:tc>
                <a:extLst>
                  <a:ext uri="{0D108BD9-81ED-4DB2-BD59-A6C34878D82A}">
                    <a16:rowId xmlns:a16="http://schemas.microsoft.com/office/drawing/2014/main" val="885313854"/>
                  </a:ext>
                </a:extLst>
              </a:tr>
              <a:tr h="296266">
                <a:tc>
                  <a:txBody>
                    <a:bodyPr/>
                    <a:lstStyle/>
                    <a:p>
                      <a:pPr algn="ctr"/>
                      <a:r>
                        <a:rPr lang="es-MX" sz="1050">
                          <a:solidFill>
                            <a:srgbClr val="172033"/>
                          </a:solidFill>
                          <a:latin typeface="Aptos" panose="020B0004020202020204" pitchFamily="34" charset="0"/>
                        </a:rPr>
                        <a:t>SYN-CUST-0001</a:t>
                      </a:r>
                    </a:p>
                  </a:txBody>
                  <a:tcPr marL="18288" marR="18288" marT="10973" marB="10973" anchor="ctr">
                    <a:solidFill>
                      <a:srgbClr val="FFFFFF"/>
                    </a:solidFill>
                  </a:tcPr>
                </a:tc>
                <a:tc>
                  <a:txBody>
                    <a:bodyPr/>
                    <a:lstStyle/>
                    <a:p>
                      <a:pPr algn="ctr"/>
                      <a:r>
                        <a:rPr lang="es-MX" sz="1050">
                          <a:solidFill>
                            <a:srgbClr val="172033"/>
                          </a:solidFill>
                          <a:latin typeface="Aptos" panose="020B0004020202020204" pitchFamily="34" charset="0"/>
                        </a:rPr>
                        <a:t>381</a:t>
                      </a:r>
                    </a:p>
                  </a:txBody>
                  <a:tcPr marL="18288" marR="18288" marT="10973" marB="10973" anchor="ctr">
                    <a:solidFill>
                      <a:srgbClr val="FFFFFF"/>
                    </a:solidFill>
                  </a:tcPr>
                </a:tc>
                <a:tc>
                  <a:txBody>
                    <a:bodyPr/>
                    <a:lstStyle/>
                    <a:p>
                      <a:pPr algn="ctr"/>
                      <a:r>
                        <a:rPr lang="es-MX" sz="1050">
                          <a:solidFill>
                            <a:srgbClr val="172033"/>
                          </a:solidFill>
                          <a:latin typeface="Aptos" panose="020B0004020202020204" pitchFamily="34" charset="0"/>
                        </a:rPr>
                        <a:t>2</a:t>
                      </a:r>
                    </a:p>
                  </a:txBody>
                  <a:tcPr marL="18288" marR="18288" marT="10973" marB="10973" anchor="ctr">
                    <a:solidFill>
                      <a:srgbClr val="FFFFFF"/>
                    </a:solidFill>
                  </a:tcPr>
                </a:tc>
                <a:tc>
                  <a:txBody>
                    <a:bodyPr/>
                    <a:lstStyle/>
                    <a:p>
                      <a:pPr algn="ctr"/>
                      <a:r>
                        <a:rPr lang="es-MX" sz="1050">
                          <a:solidFill>
                            <a:srgbClr val="172033"/>
                          </a:solidFill>
                          <a:latin typeface="Aptos" panose="020B0004020202020204" pitchFamily="34" charset="0"/>
                        </a:rPr>
                        <a:t>180.0</a:t>
                      </a:r>
                    </a:p>
                  </a:txBody>
                  <a:tcPr marL="18288" marR="18288" marT="10973" marB="10973" anchor="ctr">
                    <a:solidFill>
                      <a:srgbClr val="FFFFFF"/>
                    </a:solidFill>
                  </a:tcPr>
                </a:tc>
                <a:extLst>
                  <a:ext uri="{0D108BD9-81ED-4DB2-BD59-A6C34878D82A}">
                    <a16:rowId xmlns:a16="http://schemas.microsoft.com/office/drawing/2014/main" val="3917268125"/>
                  </a:ext>
                </a:extLst>
              </a:tr>
              <a:tr h="296266">
                <a:tc>
                  <a:txBody>
                    <a:bodyPr/>
                    <a:lstStyle/>
                    <a:p>
                      <a:pPr algn="ctr"/>
                      <a:r>
                        <a:rPr lang="es-MX" sz="1050">
                          <a:solidFill>
                            <a:srgbClr val="172033"/>
                          </a:solidFill>
                          <a:latin typeface="Aptos" panose="020B0004020202020204" pitchFamily="34" charset="0"/>
                        </a:rPr>
                        <a:t>SYN-CUST-0003</a:t>
                      </a:r>
                    </a:p>
                  </a:txBody>
                  <a:tcPr marL="18288" marR="18288" marT="10973" marB="10973" anchor="ctr">
                    <a:solidFill>
                      <a:srgbClr val="EAF1F8"/>
                    </a:solidFill>
                  </a:tcPr>
                </a:tc>
                <a:tc>
                  <a:txBody>
                    <a:bodyPr/>
                    <a:lstStyle/>
                    <a:p>
                      <a:pPr algn="ctr"/>
                      <a:r>
                        <a:rPr lang="es-MX" sz="1050">
                          <a:solidFill>
                            <a:srgbClr val="172033"/>
                          </a:solidFill>
                          <a:latin typeface="Aptos" panose="020B0004020202020204" pitchFamily="34" charset="0"/>
                        </a:rPr>
                        <a:t>10</a:t>
                      </a:r>
                    </a:p>
                  </a:txBody>
                  <a:tcPr marL="18288" marR="18288" marT="10973" marB="10973" anchor="ctr">
                    <a:solidFill>
                      <a:srgbClr val="EAF1F8"/>
                    </a:solidFill>
                  </a:tcPr>
                </a:tc>
                <a:tc>
                  <a:txBody>
                    <a:bodyPr/>
                    <a:lstStyle/>
                    <a:p>
                      <a:pPr algn="ctr"/>
                      <a:r>
                        <a:rPr lang="es-MX" sz="1050">
                          <a:solidFill>
                            <a:srgbClr val="172033"/>
                          </a:solidFill>
                          <a:latin typeface="Aptos" panose="020B0004020202020204" pitchFamily="34" charset="0"/>
                        </a:rPr>
                        <a:t>1</a:t>
                      </a:r>
                    </a:p>
                  </a:txBody>
                  <a:tcPr marL="18288" marR="18288" marT="10973" marB="10973" anchor="ctr">
                    <a:solidFill>
                      <a:srgbClr val="EAF1F8"/>
                    </a:solidFill>
                  </a:tcPr>
                </a:tc>
                <a:tc>
                  <a:txBody>
                    <a:bodyPr/>
                    <a:lstStyle/>
                    <a:p>
                      <a:pPr algn="ctr"/>
                      <a:r>
                        <a:rPr lang="es-MX" sz="1050">
                          <a:solidFill>
                            <a:srgbClr val="172033"/>
                          </a:solidFill>
                          <a:latin typeface="Aptos" panose="020B0004020202020204" pitchFamily="34" charset="0"/>
                        </a:rPr>
                        <a:t>180.0</a:t>
                      </a:r>
                    </a:p>
                  </a:txBody>
                  <a:tcPr marL="18288" marR="18288" marT="10973" marB="10973" anchor="ctr">
                    <a:solidFill>
                      <a:srgbClr val="EAF1F8"/>
                    </a:solidFill>
                  </a:tcPr>
                </a:tc>
                <a:extLst>
                  <a:ext uri="{0D108BD9-81ED-4DB2-BD59-A6C34878D82A}">
                    <a16:rowId xmlns:a16="http://schemas.microsoft.com/office/drawing/2014/main" val="2486494622"/>
                  </a:ext>
                </a:extLst>
              </a:tr>
              <a:tr h="296266">
                <a:tc>
                  <a:txBody>
                    <a:bodyPr/>
                    <a:lstStyle/>
                    <a:p>
                      <a:pPr algn="ctr"/>
                      <a:r>
                        <a:rPr lang="es-MX" sz="1050">
                          <a:solidFill>
                            <a:srgbClr val="172033"/>
                          </a:solidFill>
                          <a:latin typeface="Aptos" panose="020B0004020202020204" pitchFamily="34" charset="0"/>
                        </a:rPr>
                        <a:t>SYN-CUST-0005</a:t>
                      </a:r>
                    </a:p>
                  </a:txBody>
                  <a:tcPr marL="18288" marR="18288" marT="10973" marB="10973" anchor="ctr">
                    <a:solidFill>
                      <a:srgbClr val="FFFFFF"/>
                    </a:solidFill>
                  </a:tcPr>
                </a:tc>
                <a:tc>
                  <a:txBody>
                    <a:bodyPr/>
                    <a:lstStyle/>
                    <a:p>
                      <a:pPr algn="ctr"/>
                      <a:r>
                        <a:rPr lang="es-MX" sz="1050">
                          <a:solidFill>
                            <a:srgbClr val="172033"/>
                          </a:solidFill>
                          <a:latin typeface="Aptos" panose="020B0004020202020204" pitchFamily="34" charset="0"/>
                        </a:rPr>
                        <a:t>32</a:t>
                      </a:r>
                    </a:p>
                  </a:txBody>
                  <a:tcPr marL="18288" marR="18288" marT="10973" marB="10973" anchor="ctr">
                    <a:solidFill>
                      <a:srgbClr val="FFFFFF"/>
                    </a:solidFill>
                  </a:tcPr>
                </a:tc>
                <a:tc>
                  <a:txBody>
                    <a:bodyPr/>
                    <a:lstStyle/>
                    <a:p>
                      <a:pPr algn="ctr"/>
                      <a:r>
                        <a:rPr lang="es-MX" sz="1050">
                          <a:solidFill>
                            <a:srgbClr val="172033"/>
                          </a:solidFill>
                          <a:latin typeface="Aptos" panose="020B0004020202020204" pitchFamily="34" charset="0"/>
                        </a:rPr>
                        <a:t>10</a:t>
                      </a:r>
                    </a:p>
                  </a:txBody>
                  <a:tcPr marL="18288" marR="18288" marT="10973" marB="10973" anchor="ctr">
                    <a:solidFill>
                      <a:srgbClr val="FFFFFF"/>
                    </a:solidFill>
                  </a:tcPr>
                </a:tc>
                <a:tc>
                  <a:txBody>
                    <a:bodyPr/>
                    <a:lstStyle/>
                    <a:p>
                      <a:pPr algn="ctr"/>
                      <a:r>
                        <a:rPr lang="es-MX" sz="1050">
                          <a:solidFill>
                            <a:srgbClr val="172033"/>
                          </a:solidFill>
                          <a:latin typeface="Aptos" panose="020B0004020202020204" pitchFamily="34" charset="0"/>
                        </a:rPr>
                        <a:t>1002.0</a:t>
                      </a:r>
                    </a:p>
                  </a:txBody>
                  <a:tcPr marL="18288" marR="18288" marT="10973" marB="10973" anchor="ctr">
                    <a:solidFill>
                      <a:srgbClr val="FFFFFF"/>
                    </a:solidFill>
                  </a:tcPr>
                </a:tc>
                <a:extLst>
                  <a:ext uri="{0D108BD9-81ED-4DB2-BD59-A6C34878D82A}">
                    <a16:rowId xmlns:a16="http://schemas.microsoft.com/office/drawing/2014/main" val="2204568177"/>
                  </a:ext>
                </a:extLst>
              </a:tr>
              <a:tr h="296266">
                <a:tc>
                  <a:txBody>
                    <a:bodyPr/>
                    <a:lstStyle/>
                    <a:p>
                      <a:pPr algn="ctr"/>
                      <a:r>
                        <a:rPr lang="es-MX" sz="1050">
                          <a:solidFill>
                            <a:srgbClr val="172033"/>
                          </a:solidFill>
                          <a:latin typeface="Aptos" panose="020B0004020202020204" pitchFamily="34" charset="0"/>
                        </a:rPr>
                        <a:t>SYN-CUST-0008</a:t>
                      </a:r>
                    </a:p>
                  </a:txBody>
                  <a:tcPr marL="18288" marR="18288" marT="10973" marB="10973" anchor="ctr">
                    <a:solidFill>
                      <a:srgbClr val="EAF1F8"/>
                    </a:solidFill>
                  </a:tcPr>
                </a:tc>
                <a:tc>
                  <a:txBody>
                    <a:bodyPr/>
                    <a:lstStyle/>
                    <a:p>
                      <a:pPr algn="ctr"/>
                      <a:r>
                        <a:rPr lang="es-MX" sz="1050">
                          <a:solidFill>
                            <a:srgbClr val="172033"/>
                          </a:solidFill>
                          <a:latin typeface="Aptos" panose="020B0004020202020204" pitchFamily="34" charset="0"/>
                        </a:rPr>
                        <a:t>14</a:t>
                      </a:r>
                    </a:p>
                  </a:txBody>
                  <a:tcPr marL="18288" marR="18288" marT="10973" marB="10973" anchor="ctr">
                    <a:solidFill>
                      <a:srgbClr val="EAF1F8"/>
                    </a:solidFill>
                  </a:tcPr>
                </a:tc>
                <a:tc>
                  <a:txBody>
                    <a:bodyPr/>
                    <a:lstStyle/>
                    <a:p>
                      <a:pPr algn="ctr"/>
                      <a:r>
                        <a:rPr lang="es-MX" sz="1050">
                          <a:solidFill>
                            <a:srgbClr val="172033"/>
                          </a:solidFill>
                          <a:latin typeface="Aptos" panose="020B0004020202020204" pitchFamily="34" charset="0"/>
                        </a:rPr>
                        <a:t>12</a:t>
                      </a:r>
                    </a:p>
                  </a:txBody>
                  <a:tcPr marL="18288" marR="18288" marT="10973" marB="10973" anchor="ctr">
                    <a:solidFill>
                      <a:srgbClr val="EAF1F8"/>
                    </a:solidFill>
                  </a:tcPr>
                </a:tc>
                <a:tc>
                  <a:txBody>
                    <a:bodyPr/>
                    <a:lstStyle/>
                    <a:p>
                      <a:pPr algn="ctr"/>
                      <a:r>
                        <a:rPr lang="es-MX" sz="1050" dirty="0">
                          <a:solidFill>
                            <a:srgbClr val="172033"/>
                          </a:solidFill>
                          <a:latin typeface="Aptos" panose="020B0004020202020204" pitchFamily="34" charset="0"/>
                        </a:rPr>
                        <a:t>1188.0</a:t>
                      </a:r>
                    </a:p>
                  </a:txBody>
                  <a:tcPr marL="18288" marR="18288" marT="10973" marB="10973" anchor="ctr">
                    <a:solidFill>
                      <a:srgbClr val="EAF1F8"/>
                    </a:solidFill>
                  </a:tcPr>
                </a:tc>
                <a:extLst>
                  <a:ext uri="{0D108BD9-81ED-4DB2-BD59-A6C34878D82A}">
                    <a16:rowId xmlns:a16="http://schemas.microsoft.com/office/drawing/2014/main" val="3598758047"/>
                  </a:ext>
                </a:extLst>
              </a:tr>
            </a:tbl>
          </a:graphicData>
        </a:graphic>
      </p:graphicFrame>
      <p:sp>
        <p:nvSpPr>
          <p:cNvPr id="35" name="Rectángulo: esquinas redondeadas 34">
            <a:extLst>
              <a:ext uri="{FF2B5EF4-FFF2-40B4-BE49-F238E27FC236}">
                <a16:creationId xmlns:a16="http://schemas.microsoft.com/office/drawing/2014/main" id="{D565B424-6E2A-F8D9-057B-6AD65F8DC0BE}"/>
              </a:ext>
            </a:extLst>
          </p:cNvPr>
          <p:cNvSpPr/>
          <p:nvPr/>
        </p:nvSpPr>
        <p:spPr>
          <a:xfrm>
            <a:off x="6108192" y="3803904"/>
            <a:ext cx="5321808" cy="1719072"/>
          </a:xfrm>
          <a:prstGeom prst="roundRect">
            <a:avLst/>
          </a:prstGeom>
          <a:solidFill>
            <a:srgbClr val="FFF5DE"/>
          </a:solidFill>
          <a:ln w="12700">
            <a:solidFill>
              <a:srgbClr val="D97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6" name="CuadroTexto 35">
            <a:extLst>
              <a:ext uri="{FF2B5EF4-FFF2-40B4-BE49-F238E27FC236}">
                <a16:creationId xmlns:a16="http://schemas.microsoft.com/office/drawing/2014/main" id="{787143DC-FCC6-CFBB-9242-52C4214A4510}"/>
              </a:ext>
            </a:extLst>
          </p:cNvPr>
          <p:cNvSpPr txBox="1"/>
          <p:nvPr/>
        </p:nvSpPr>
        <p:spPr>
          <a:xfrm>
            <a:off x="6364224" y="3913632"/>
            <a:ext cx="4800600" cy="646331"/>
          </a:xfrm>
          <a:prstGeom prst="rect">
            <a:avLst/>
          </a:prstGeom>
          <a:noFill/>
        </p:spPr>
        <p:txBody>
          <a:bodyPr vert="horz" wrap="square" lIns="36576" tIns="36576" rIns="36576" bIns="36576" rtlCol="0" anchor="t">
            <a:noAutofit/>
          </a:bodyPr>
          <a:lstStyle/>
          <a:p>
            <a:r>
              <a:rPr lang="es-MX" sz="920" b="1">
                <a:solidFill>
                  <a:srgbClr val="D97A00"/>
                </a:solidFill>
                <a:latin typeface="Aptos" panose="020B0004020202020204" pitchFamily="34" charset="0"/>
              </a:rPr>
              <a:t>¿QUÉ SE ANALIZARÁ? — NO EXISTE VARIABLE Y</a:t>
            </a:r>
          </a:p>
        </p:txBody>
      </p:sp>
      <p:sp>
        <p:nvSpPr>
          <p:cNvPr id="37" name="CuadroTexto 36">
            <a:extLst>
              <a:ext uri="{FF2B5EF4-FFF2-40B4-BE49-F238E27FC236}">
                <a16:creationId xmlns:a16="http://schemas.microsoft.com/office/drawing/2014/main" id="{053B961C-674B-EC97-3D27-1D0C9E099FB7}"/>
              </a:ext>
            </a:extLst>
          </p:cNvPr>
          <p:cNvSpPr txBox="1"/>
          <p:nvPr/>
        </p:nvSpPr>
        <p:spPr>
          <a:xfrm>
            <a:off x="6364224" y="4242816"/>
            <a:ext cx="4782312" cy="923330"/>
          </a:xfrm>
          <a:prstGeom prst="rect">
            <a:avLst/>
          </a:prstGeom>
          <a:noFill/>
        </p:spPr>
        <p:txBody>
          <a:bodyPr vert="horz" wrap="square" lIns="36576" tIns="36576" rIns="36576" bIns="36576" rtlCol="0" anchor="t">
            <a:noAutofit/>
          </a:bodyPr>
          <a:lstStyle/>
          <a:p>
            <a:r>
              <a:rPr lang="es-MX" sz="980" b="1">
                <a:solidFill>
                  <a:srgbClr val="172033"/>
                </a:solidFill>
                <a:latin typeface="Aptos" panose="020B0004020202020204" pitchFamily="34" charset="0"/>
              </a:rPr>
              <a:t>K-Means agrupará clientes con comportamientos similares según recencia, frecuencia y monto.</a:t>
            </a:r>
          </a:p>
        </p:txBody>
      </p:sp>
      <p:sp>
        <p:nvSpPr>
          <p:cNvPr id="38" name="Rectángulo: esquinas redondeadas 37">
            <a:extLst>
              <a:ext uri="{FF2B5EF4-FFF2-40B4-BE49-F238E27FC236}">
                <a16:creationId xmlns:a16="http://schemas.microsoft.com/office/drawing/2014/main" id="{2C6F3C00-8FA2-BDBE-4292-B9AFB6D49CE4}"/>
              </a:ext>
            </a:extLst>
          </p:cNvPr>
          <p:cNvSpPr/>
          <p:nvPr/>
        </p:nvSpPr>
        <p:spPr>
          <a:xfrm>
            <a:off x="6364224" y="4754880"/>
            <a:ext cx="1225296" cy="274320"/>
          </a:xfrm>
          <a:prstGeom prst="roundRect">
            <a:avLst/>
          </a:prstGeom>
          <a:solidFill>
            <a:srgbClr val="E7F7F0"/>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 name="CuadroTexto 38">
            <a:extLst>
              <a:ext uri="{FF2B5EF4-FFF2-40B4-BE49-F238E27FC236}">
                <a16:creationId xmlns:a16="http://schemas.microsoft.com/office/drawing/2014/main" id="{726283E3-0EF0-8ACB-9258-8175604E39A9}"/>
              </a:ext>
            </a:extLst>
          </p:cNvPr>
          <p:cNvSpPr txBox="1"/>
          <p:nvPr/>
        </p:nvSpPr>
        <p:spPr>
          <a:xfrm>
            <a:off x="6400800" y="4754880"/>
            <a:ext cx="1152144" cy="646331"/>
          </a:xfrm>
          <a:prstGeom prst="rect">
            <a:avLst/>
          </a:prstGeom>
          <a:noFill/>
        </p:spPr>
        <p:txBody>
          <a:bodyPr vert="horz" wrap="square" lIns="36576" tIns="36576" rIns="36576" bIns="36576" rtlCol="0" anchor="t">
            <a:noAutofit/>
          </a:bodyPr>
          <a:lstStyle/>
          <a:p>
            <a:pPr algn="ctr"/>
            <a:r>
              <a:rPr lang="es-MX" sz="710" b="1">
                <a:solidFill>
                  <a:srgbClr val="0A8A63"/>
                </a:solidFill>
                <a:latin typeface="Aptos" panose="020B0004020202020204" pitchFamily="34" charset="0"/>
              </a:rPr>
              <a:t>Leales / alto valor</a:t>
            </a:r>
          </a:p>
        </p:txBody>
      </p:sp>
      <p:sp>
        <p:nvSpPr>
          <p:cNvPr id="40" name="Rectángulo: esquinas redondeadas 39">
            <a:extLst>
              <a:ext uri="{FF2B5EF4-FFF2-40B4-BE49-F238E27FC236}">
                <a16:creationId xmlns:a16="http://schemas.microsoft.com/office/drawing/2014/main" id="{11D82754-2022-F590-AEBA-FC98FEF9ECC7}"/>
              </a:ext>
            </a:extLst>
          </p:cNvPr>
          <p:cNvSpPr/>
          <p:nvPr/>
        </p:nvSpPr>
        <p:spPr>
          <a:xfrm>
            <a:off x="7699248" y="4754880"/>
            <a:ext cx="804672" cy="274320"/>
          </a:xfrm>
          <a:prstGeom prst="roundRect">
            <a:avLst/>
          </a:prstGeom>
          <a:solidFill>
            <a:srgbClr val="EAF1F8"/>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1" name="CuadroTexto 40">
            <a:extLst>
              <a:ext uri="{FF2B5EF4-FFF2-40B4-BE49-F238E27FC236}">
                <a16:creationId xmlns:a16="http://schemas.microsoft.com/office/drawing/2014/main" id="{4499BC1E-9507-2FE7-6EFF-D3C6FF95A583}"/>
              </a:ext>
            </a:extLst>
          </p:cNvPr>
          <p:cNvSpPr txBox="1"/>
          <p:nvPr/>
        </p:nvSpPr>
        <p:spPr>
          <a:xfrm>
            <a:off x="7735824" y="4754880"/>
            <a:ext cx="731520" cy="646331"/>
          </a:xfrm>
          <a:prstGeom prst="rect">
            <a:avLst/>
          </a:prstGeom>
          <a:noFill/>
        </p:spPr>
        <p:txBody>
          <a:bodyPr vert="horz" wrap="square" lIns="36576" tIns="36576" rIns="36576" bIns="36576" rtlCol="0" anchor="t">
            <a:noAutofit/>
          </a:bodyPr>
          <a:lstStyle/>
          <a:p>
            <a:pPr algn="ctr"/>
            <a:r>
              <a:rPr lang="es-MX" sz="710" b="1">
                <a:solidFill>
                  <a:srgbClr val="2F5D88"/>
                </a:solidFill>
                <a:latin typeface="Aptos" panose="020B0004020202020204" pitchFamily="34" charset="0"/>
              </a:rPr>
              <a:t>Nuevos</a:t>
            </a:r>
          </a:p>
        </p:txBody>
      </p:sp>
      <p:sp>
        <p:nvSpPr>
          <p:cNvPr id="42" name="Rectángulo: esquinas redondeadas 41">
            <a:extLst>
              <a:ext uri="{FF2B5EF4-FFF2-40B4-BE49-F238E27FC236}">
                <a16:creationId xmlns:a16="http://schemas.microsoft.com/office/drawing/2014/main" id="{F58EE443-71F0-FEAF-D684-CC9222129D29}"/>
              </a:ext>
            </a:extLst>
          </p:cNvPr>
          <p:cNvSpPr/>
          <p:nvPr/>
        </p:nvSpPr>
        <p:spPr>
          <a:xfrm>
            <a:off x="8613648" y="4754880"/>
            <a:ext cx="969264" cy="274320"/>
          </a:xfrm>
          <a:prstGeom prst="roundRect">
            <a:avLst/>
          </a:prstGeom>
          <a:solidFill>
            <a:srgbClr val="F3EAFF"/>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CuadroTexto 42">
            <a:extLst>
              <a:ext uri="{FF2B5EF4-FFF2-40B4-BE49-F238E27FC236}">
                <a16:creationId xmlns:a16="http://schemas.microsoft.com/office/drawing/2014/main" id="{A2CD207B-4F18-B435-11A2-FD2DED1C90FF}"/>
              </a:ext>
            </a:extLst>
          </p:cNvPr>
          <p:cNvSpPr txBox="1"/>
          <p:nvPr/>
        </p:nvSpPr>
        <p:spPr>
          <a:xfrm>
            <a:off x="8650224" y="4754880"/>
            <a:ext cx="896112" cy="646331"/>
          </a:xfrm>
          <a:prstGeom prst="rect">
            <a:avLst/>
          </a:prstGeom>
          <a:noFill/>
        </p:spPr>
        <p:txBody>
          <a:bodyPr vert="horz" wrap="square" lIns="36576" tIns="36576" rIns="36576" bIns="36576" rtlCol="0" anchor="t">
            <a:noAutofit/>
          </a:bodyPr>
          <a:lstStyle/>
          <a:p>
            <a:pPr algn="ctr"/>
            <a:r>
              <a:rPr lang="es-MX" sz="710" b="1">
                <a:solidFill>
                  <a:srgbClr val="7C35E8"/>
                </a:solidFill>
                <a:latin typeface="Aptos" panose="020B0004020202020204" pitchFamily="34" charset="0"/>
              </a:rPr>
              <a:t>Ocasionales</a:t>
            </a:r>
          </a:p>
        </p:txBody>
      </p:sp>
      <p:sp>
        <p:nvSpPr>
          <p:cNvPr id="44" name="Rectángulo: esquinas redondeadas 43">
            <a:extLst>
              <a:ext uri="{FF2B5EF4-FFF2-40B4-BE49-F238E27FC236}">
                <a16:creationId xmlns:a16="http://schemas.microsoft.com/office/drawing/2014/main" id="{0B4F9EEE-4AA3-ECE0-1817-5C3E46DFDCB1}"/>
              </a:ext>
            </a:extLst>
          </p:cNvPr>
          <p:cNvSpPr/>
          <p:nvPr/>
        </p:nvSpPr>
        <p:spPr>
          <a:xfrm>
            <a:off x="9692640" y="4754880"/>
            <a:ext cx="832104" cy="274320"/>
          </a:xfrm>
          <a:prstGeom prst="roundRect">
            <a:avLst/>
          </a:prstGeom>
          <a:solidFill>
            <a:srgbClr val="FBEAEA"/>
          </a:solidFill>
          <a:ln w="8890">
            <a:solidFill>
              <a:srgbClr val="DDE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5" name="CuadroTexto 44">
            <a:extLst>
              <a:ext uri="{FF2B5EF4-FFF2-40B4-BE49-F238E27FC236}">
                <a16:creationId xmlns:a16="http://schemas.microsoft.com/office/drawing/2014/main" id="{90028B78-DDD5-8284-4119-40577D8255D4}"/>
              </a:ext>
            </a:extLst>
          </p:cNvPr>
          <p:cNvSpPr txBox="1"/>
          <p:nvPr/>
        </p:nvSpPr>
        <p:spPr>
          <a:xfrm>
            <a:off x="9729216" y="4754880"/>
            <a:ext cx="758952" cy="923330"/>
          </a:xfrm>
          <a:prstGeom prst="rect">
            <a:avLst/>
          </a:prstGeom>
          <a:noFill/>
        </p:spPr>
        <p:txBody>
          <a:bodyPr vert="horz" wrap="square" lIns="36576" tIns="36576" rIns="36576" bIns="36576" rtlCol="0" anchor="t">
            <a:noAutofit/>
          </a:bodyPr>
          <a:lstStyle/>
          <a:p>
            <a:pPr algn="ctr"/>
            <a:r>
              <a:rPr lang="es-MX" sz="710" b="1">
                <a:solidFill>
                  <a:srgbClr val="C75050"/>
                </a:solidFill>
                <a:latin typeface="Aptos" panose="020B0004020202020204" pitchFamily="34" charset="0"/>
              </a:rPr>
              <a:t>En riesgo</a:t>
            </a:r>
          </a:p>
        </p:txBody>
      </p:sp>
      <p:sp>
        <p:nvSpPr>
          <p:cNvPr id="46" name="CuadroTexto 45">
            <a:extLst>
              <a:ext uri="{FF2B5EF4-FFF2-40B4-BE49-F238E27FC236}">
                <a16:creationId xmlns:a16="http://schemas.microsoft.com/office/drawing/2014/main" id="{D1603B4C-DBA1-2F17-9CAA-4DD3A3F96B2F}"/>
              </a:ext>
            </a:extLst>
          </p:cNvPr>
          <p:cNvSpPr txBox="1"/>
          <p:nvPr/>
        </p:nvSpPr>
        <p:spPr>
          <a:xfrm>
            <a:off x="6345936" y="5129784"/>
            <a:ext cx="4791456" cy="923330"/>
          </a:xfrm>
          <a:prstGeom prst="rect">
            <a:avLst/>
          </a:prstGeom>
          <a:noFill/>
        </p:spPr>
        <p:txBody>
          <a:bodyPr vert="horz" wrap="square" lIns="36576" tIns="36576" rIns="36576" bIns="36576" rtlCol="0" anchor="t">
            <a:noAutofit/>
          </a:bodyPr>
          <a:lstStyle/>
          <a:p>
            <a:pPr algn="ctr"/>
            <a:r>
              <a:rPr lang="es-MX" sz="765">
                <a:solidFill>
                  <a:srgbClr val="5D6878"/>
                </a:solidFill>
                <a:latin typeface="Aptos" panose="020B0004020202020204" pitchFamily="34" charset="0"/>
              </a:rPr>
              <a:t>Perfiles esperados; k por validar. Los nombres se asignan después; no son clases predefinidas.</a:t>
            </a:r>
          </a:p>
        </p:txBody>
      </p:sp>
      <p:sp>
        <p:nvSpPr>
          <p:cNvPr id="47" name="CuadroTexto 46">
            <a:extLst>
              <a:ext uri="{FF2B5EF4-FFF2-40B4-BE49-F238E27FC236}">
                <a16:creationId xmlns:a16="http://schemas.microsoft.com/office/drawing/2014/main" id="{935AFC22-CFEA-2722-46C8-104DD3F943E9}"/>
              </a:ext>
            </a:extLst>
          </p:cNvPr>
          <p:cNvSpPr txBox="1"/>
          <p:nvPr/>
        </p:nvSpPr>
        <p:spPr>
          <a:xfrm>
            <a:off x="6135624" y="5797296"/>
            <a:ext cx="5230368" cy="923330"/>
          </a:xfrm>
          <a:prstGeom prst="rect">
            <a:avLst/>
          </a:prstGeom>
          <a:noFill/>
        </p:spPr>
        <p:txBody>
          <a:bodyPr vert="horz" wrap="square" lIns="36576" tIns="36576" rIns="36576" bIns="36576" rtlCol="0" anchor="t">
            <a:noAutofit/>
          </a:bodyPr>
          <a:lstStyle/>
          <a:p>
            <a:pPr algn="ctr"/>
            <a:r>
              <a:rPr lang="es-MX" sz="880" b="1">
                <a:solidFill>
                  <a:srgbClr val="0A8A63"/>
                </a:solidFill>
                <a:latin typeface="Aptos" panose="020B0004020202020204" pitchFamily="34" charset="0"/>
              </a:rPr>
              <a:t>UTILIDAD · promociones, recompensas y campañas de recuperación diferentes para cada grupo.</a:t>
            </a:r>
          </a:p>
        </p:txBody>
      </p:sp>
    </p:spTree>
    <p:extLst>
      <p:ext uri="{BB962C8B-B14F-4D97-AF65-F5344CB8AC3E}">
        <p14:creationId xmlns:p14="http://schemas.microsoft.com/office/powerpoint/2010/main" val="21557746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TotalTime>
  <Words>806</Words>
  <Application>Microsoft Office PowerPoint</Application>
  <PresentationFormat>Panorámica</PresentationFormat>
  <Paragraphs>106</Paragraphs>
  <Slides>2</Slides>
  <Notes>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vt:i4>
      </vt:variant>
    </vt:vector>
  </HeadingPairs>
  <TitlesOfParts>
    <vt:vector size="6" baseType="lpstr">
      <vt:lpstr>Aptos</vt:lpstr>
      <vt:lpstr>Aptos Display</vt:lpstr>
      <vt:lpstr>Arial</vt:lpstr>
      <vt:lpstr>Tema de Office</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Cristhian David Resendez Sierra</dc:creator>
  <cp:lastModifiedBy>Cristhian David Resendez Sierra</cp:lastModifiedBy>
  <cp:revision>2</cp:revision>
  <dcterms:created xsi:type="dcterms:W3CDTF">2026-07-20T20:28:08Z</dcterms:created>
  <dcterms:modified xsi:type="dcterms:W3CDTF">2026-07-21T01:03:15Z</dcterms:modified>
</cp:coreProperties>
</file>